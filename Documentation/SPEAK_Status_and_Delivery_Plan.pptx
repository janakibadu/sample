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3" d="100"/>
          <a:sy n="113" d="100"/>
        </p:scale>
        <p:origin x="47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Build hours</c:v>
                </c:pt>
              </c:strCache>
            </c:strRef>
          </c:tx>
          <c:spPr>
            <a:solidFill>
              <a:srgbClr val="50808E"/>
            </a:solidFill>
            <a:effectLst/>
          </c:spPr>
          <c:invertIfNegative val="0"/>
          <c:dPt>
            <c:idx val="0"/>
            <c:invertIfNegative val="0"/>
            <c:bubble3D val="0"/>
            <c:spPr>
              <a:solidFill>
                <a:srgbClr val="50808E"/>
              </a:solidFill>
              <a:effectLst/>
            </c:spPr>
            <c:extLst>
              <c:ext xmlns:c16="http://schemas.microsoft.com/office/drawing/2014/chart" uri="{C3380CC4-5D6E-409C-BE32-E72D297353CC}">
                <c16:uniqueId val="{00000001-1512-4428-95F2-E2D9BA507B63}"/>
              </c:ext>
            </c:extLst>
          </c:dPt>
          <c:dPt>
            <c:idx val="1"/>
            <c:invertIfNegative val="0"/>
            <c:bubble3D val="0"/>
            <c:spPr>
              <a:solidFill>
                <a:srgbClr val="1C7293"/>
              </a:solidFill>
              <a:effectLst/>
            </c:spPr>
            <c:extLst>
              <c:ext xmlns:c16="http://schemas.microsoft.com/office/drawing/2014/chart" uri="{C3380CC4-5D6E-409C-BE32-E72D297353CC}">
                <c16:uniqueId val="{00000003-1512-4428-95F2-E2D9BA507B63}"/>
              </c:ext>
            </c:extLst>
          </c:dPt>
          <c:dPt>
            <c:idx val="2"/>
            <c:invertIfNegative val="0"/>
            <c:bubble3D val="0"/>
            <c:spPr>
              <a:solidFill>
                <a:srgbClr val="E08A3C"/>
              </a:solidFill>
              <a:effectLst/>
            </c:spPr>
            <c:extLst>
              <c:ext xmlns:c16="http://schemas.microsoft.com/office/drawing/2014/chart" uri="{C3380CC4-5D6E-409C-BE32-E72D297353CC}">
                <c16:uniqueId val="{00000005-1512-4428-95F2-E2D9BA507B63}"/>
              </c:ext>
            </c:extLst>
          </c:dPt>
          <c:dPt>
            <c:idx val="3"/>
            <c:invertIfNegative val="0"/>
            <c:bubble3D val="0"/>
            <c:spPr>
              <a:solidFill>
                <a:srgbClr val="E08A3C"/>
              </a:solidFill>
              <a:effectLst/>
            </c:spPr>
            <c:extLst>
              <c:ext xmlns:c16="http://schemas.microsoft.com/office/drawing/2014/chart" uri="{C3380CC4-5D6E-409C-BE32-E72D297353CC}">
                <c16:uniqueId val="{00000007-1512-4428-95F2-E2D9BA507B63}"/>
              </c:ext>
            </c:extLst>
          </c:dPt>
          <c:dPt>
            <c:idx val="4"/>
            <c:invertIfNegative val="0"/>
            <c:bubble3D val="0"/>
            <c:spPr>
              <a:solidFill>
                <a:srgbClr val="E08A3C"/>
              </a:solidFill>
              <a:effectLst/>
            </c:spPr>
            <c:extLst>
              <c:ext xmlns:c16="http://schemas.microsoft.com/office/drawing/2014/chart" uri="{C3380CC4-5D6E-409C-BE32-E72D297353CC}">
                <c16:uniqueId val="{00000009-1512-4428-95F2-E2D9BA507B63}"/>
              </c:ext>
            </c:extLst>
          </c:dPt>
          <c:dPt>
            <c:idx val="5"/>
            <c:invertIfNegative val="0"/>
            <c:bubble3D val="0"/>
            <c:spPr>
              <a:solidFill>
                <a:srgbClr val="00A896"/>
              </a:solidFill>
              <a:effectLst/>
            </c:spPr>
            <c:extLst>
              <c:ext xmlns:c16="http://schemas.microsoft.com/office/drawing/2014/chart" uri="{C3380CC4-5D6E-409C-BE32-E72D297353CC}">
                <c16:uniqueId val="{0000000B-1512-4428-95F2-E2D9BA507B63}"/>
              </c:ext>
            </c:extLst>
          </c:dPt>
          <c:dPt>
            <c:idx val="6"/>
            <c:invertIfNegative val="0"/>
            <c:bubble3D val="0"/>
            <c:spPr>
              <a:solidFill>
                <a:srgbClr val="06474F"/>
              </a:solidFill>
              <a:effectLst/>
            </c:spPr>
            <c:extLst>
              <c:ext xmlns:c16="http://schemas.microsoft.com/office/drawing/2014/chart" uri="{C3380CC4-5D6E-409C-BE32-E72D297353CC}">
                <c16:uniqueId val="{0000000D-1512-4428-95F2-E2D9BA507B63}"/>
              </c:ext>
            </c:extLst>
          </c:dPt>
          <c:dPt>
            <c:idx val="7"/>
            <c:invertIfNegative val="0"/>
            <c:bubble3D val="0"/>
            <c:spPr>
              <a:solidFill>
                <a:srgbClr val="50808E"/>
              </a:solidFill>
              <a:effectLst/>
            </c:spPr>
            <c:extLst>
              <c:ext xmlns:c16="http://schemas.microsoft.com/office/drawing/2014/chart" uri="{C3380CC4-5D6E-409C-BE32-E72D297353CC}">
                <c16:uniqueId val="{0000000F-1512-4428-95F2-E2D9BA507B63}"/>
              </c:ext>
            </c:extLst>
          </c:dPt>
          <c:dLbls>
            <c:numFmt formatCode="#,##0" sourceLinked="0"/>
            <c:spPr>
              <a:noFill/>
              <a:ln>
                <a:noFill/>
              </a:ln>
              <a:effectLst/>
            </c:spPr>
            <c:txPr>
              <a:bodyPr/>
              <a:lstStyle/>
              <a:p>
                <a:pPr>
                  <a:defRPr sz="1100" b="1" i="0" u="none" strike="noStrike">
                    <a:solidFill>
                      <a:srgbClr val="06474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P7  QA, release &amp; acceptance</c:v>
                </c:pt>
                <c:pt idx="1">
                  <c:v>P6  Dashboards &amp; administration</c:v>
                </c:pt>
                <c:pt idx="2">
                  <c:v>P5  Adaption, resume &amp; responses</c:v>
                </c:pt>
                <c:pt idx="3">
                  <c:v>P4  Remaining nine task types</c:v>
                </c:pt>
                <c:pt idx="4">
                  <c:v>P3  Task engine + types A and B</c:v>
                </c:pt>
                <c:pt idx="5">
                  <c:v>P2  Content model &amp; importer</c:v>
                </c:pt>
                <c:pt idx="6">
                  <c:v>P1  Accounts &amp; access control</c:v>
                </c:pt>
                <c:pt idx="7">
                  <c:v>P0  Foundation, Docker &amp; CI</c:v>
                </c:pt>
              </c:strCache>
            </c:strRef>
          </c:cat>
          <c:val>
            <c:numRef>
              <c:f>Sheet1!$B$2:$B$9</c:f>
              <c:numCache>
                <c:formatCode>General</c:formatCode>
                <c:ptCount val="8"/>
                <c:pt idx="0">
                  <c:v>30</c:v>
                </c:pt>
                <c:pt idx="1">
                  <c:v>44</c:v>
                </c:pt>
                <c:pt idx="2">
                  <c:v>24</c:v>
                </c:pt>
                <c:pt idx="3">
                  <c:v>52</c:v>
                </c:pt>
                <c:pt idx="4">
                  <c:v>36</c:v>
                </c:pt>
                <c:pt idx="5">
                  <c:v>42</c:v>
                </c:pt>
                <c:pt idx="6">
                  <c:v>38</c:v>
                </c:pt>
                <c:pt idx="7">
                  <c:v>18</c:v>
                </c:pt>
              </c:numCache>
            </c:numRef>
          </c:val>
          <c:extLst>
            <c:ext xmlns:c16="http://schemas.microsoft.com/office/drawing/2014/chart" uri="{C3380CC4-5D6E-409C-BE32-E72D297353CC}">
              <c16:uniqueId val="{00000010-1512-4428-95F2-E2D9BA507B63}"/>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06474F"/>
                </a:solidFill>
                <a:latin typeface="Calibri"/>
              </a:defRPr>
            </a:pPr>
            <a:endParaRPr lang="en-US"/>
          </a:p>
        </c:txPr>
        <c:crossAx val="2094734552"/>
        <c:crosses val="autoZero"/>
        <c:auto val="1"/>
        <c:lblAlgn val="ctr"/>
        <c:lblOffset val="100"/>
        <c:noMultiLvlLbl val="1"/>
      </c:catAx>
      <c:valAx>
        <c:axId val="2094734552"/>
        <c:scaling>
          <c:orientation val="minMax"/>
          <c:max val="62"/>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78083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is a status and planning meeting, not a demo. We have finished requirements and design; I want to show you exactly what is built, what is left, how long it will take at six hours a week, and give you a straight answer on recording children's voices.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I will spend most of the time on question 3, the timeline, because that is where the difficult news is.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zero code is a status, not an apology. Two of eight phases are genuinely complete and they are the two that de-risk everything else.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red items are the ones that can stall the project. Everything else I can work around.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headline. Sixty weeks. If that is unacceptable, slide 16 gives you three ways to change it - and all three cost something.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for the decisions in order. Do not leave the room without 1, 2 and 5.</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474F"/>
        </a:solidFill>
        <a:effectLst/>
      </p:bgPr>
    </p:bg>
    <p:spTree>
      <p:nvGrpSpPr>
        <p:cNvPr id="1" name=""/>
        <p:cNvGrpSpPr/>
        <p:nvPr/>
      </p:nvGrpSpPr>
      <p:grpSpPr>
        <a:xfrm>
          <a:off x="0" y="0"/>
          <a:ext cx="0" cy="0"/>
          <a:chOff x="0" y="0"/>
          <a:chExt cx="0" cy="0"/>
        </a:xfrm>
      </p:grpSpPr>
      <p:sp>
        <p:nvSpPr>
          <p:cNvPr id="2" name="Shape 0"/>
          <p:cNvSpPr/>
          <p:nvPr/>
        </p:nvSpPr>
        <p:spPr>
          <a:xfrm>
            <a:off x="8778240" y="-1371600"/>
            <a:ext cx="5669280" cy="5669280"/>
          </a:xfrm>
          <a:prstGeom prst="ellipse">
            <a:avLst/>
          </a:prstGeom>
          <a:solidFill>
            <a:srgbClr val="0A5A63"/>
          </a:solidFill>
          <a:ln w="12700">
            <a:solidFill>
              <a:srgbClr val="0A5A63"/>
            </a:solidFill>
            <a:prstDash val="solid"/>
          </a:ln>
        </p:spPr>
      </p:sp>
      <p:sp>
        <p:nvSpPr>
          <p:cNvPr id="3" name="Shape 1"/>
          <p:cNvSpPr/>
          <p:nvPr/>
        </p:nvSpPr>
        <p:spPr>
          <a:xfrm>
            <a:off x="10424160" y="3840480"/>
            <a:ext cx="3108960" cy="3108960"/>
          </a:xfrm>
          <a:prstGeom prst="ellipse">
            <a:avLst/>
          </a:prstGeom>
          <a:solidFill>
            <a:srgbClr val="0A5A63"/>
          </a:solidFill>
          <a:ln w="12700">
            <a:solidFill>
              <a:srgbClr val="0A5A63"/>
            </a:solidFill>
            <a:prstDash val="solid"/>
          </a:ln>
        </p:spPr>
      </p:sp>
      <p:sp>
        <p:nvSpPr>
          <p:cNvPr id="4" name="Text 2"/>
          <p:cNvSpPr/>
          <p:nvPr/>
        </p:nvSpPr>
        <p:spPr>
          <a:xfrm>
            <a:off x="548640" y="1417320"/>
            <a:ext cx="8229600" cy="914400"/>
          </a:xfrm>
          <a:prstGeom prst="rect">
            <a:avLst/>
          </a:prstGeom>
          <a:noFill/>
          <a:ln/>
        </p:spPr>
        <p:txBody>
          <a:bodyPr wrap="square" lIns="0" tIns="0" rIns="0" bIns="0" rtlCol="0" anchor="ctr"/>
          <a:lstStyle/>
          <a:p>
            <a:pPr marL="0" indent="0">
              <a:buNone/>
            </a:pPr>
            <a:r>
              <a:rPr lang="en-US" sz="6000" b="1" kern="0" spc="400" dirty="0">
                <a:solidFill>
                  <a:srgbClr val="FFFFFF"/>
                </a:solidFill>
                <a:latin typeface="Cambria" pitchFamily="34" charset="0"/>
                <a:ea typeface="Cambria" pitchFamily="34" charset="-122"/>
                <a:cs typeface="Cambria" pitchFamily="34" charset="-120"/>
              </a:rPr>
              <a:t>SPEAK</a:t>
            </a:r>
            <a:endParaRPr lang="en-US" sz="6000" dirty="0"/>
          </a:p>
        </p:txBody>
      </p:sp>
      <p:sp>
        <p:nvSpPr>
          <p:cNvPr id="5" name="Text 3"/>
          <p:cNvSpPr/>
          <p:nvPr/>
        </p:nvSpPr>
        <p:spPr>
          <a:xfrm>
            <a:off x="548640" y="2331720"/>
            <a:ext cx="8229600" cy="365760"/>
          </a:xfrm>
          <a:prstGeom prst="rect">
            <a:avLst/>
          </a:prstGeom>
          <a:noFill/>
          <a:ln/>
        </p:spPr>
        <p:txBody>
          <a:bodyPr wrap="square" lIns="0" tIns="0" rIns="0" bIns="0" rtlCol="0" anchor="ctr"/>
          <a:lstStyle/>
          <a:p>
            <a:pPr marL="0" indent="0">
              <a:buNone/>
            </a:pPr>
            <a:r>
              <a:rPr lang="en-US" sz="1700" dirty="0">
                <a:solidFill>
                  <a:srgbClr val="00A896"/>
                </a:solidFill>
                <a:latin typeface="Calibri" pitchFamily="34" charset="0"/>
                <a:ea typeface="Calibri" pitchFamily="34" charset="-122"/>
                <a:cs typeface="Calibri" pitchFamily="34" charset="-120"/>
              </a:rPr>
              <a:t>Language-Learning Platform for Primary-School Children</a:t>
            </a:r>
            <a:endParaRPr lang="en-US" sz="1700" dirty="0"/>
          </a:p>
        </p:txBody>
      </p:sp>
      <p:sp>
        <p:nvSpPr>
          <p:cNvPr id="6" name="Shape 4"/>
          <p:cNvSpPr/>
          <p:nvPr/>
        </p:nvSpPr>
        <p:spPr>
          <a:xfrm>
            <a:off x="548640" y="2971800"/>
            <a:ext cx="1463040" cy="32004"/>
          </a:xfrm>
          <a:prstGeom prst="rect">
            <a:avLst/>
          </a:prstGeom>
          <a:solidFill>
            <a:srgbClr val="E08A3C"/>
          </a:solidFill>
          <a:ln w="12700">
            <a:solidFill>
              <a:srgbClr val="E08A3C"/>
            </a:solidFill>
            <a:prstDash val="solid"/>
          </a:ln>
        </p:spPr>
      </p:sp>
      <p:sp>
        <p:nvSpPr>
          <p:cNvPr id="7" name="Text 5"/>
          <p:cNvSpPr/>
          <p:nvPr/>
        </p:nvSpPr>
        <p:spPr>
          <a:xfrm>
            <a:off x="548640" y="3291840"/>
            <a:ext cx="8229600" cy="1097280"/>
          </a:xfrm>
          <a:prstGeom prst="rect">
            <a:avLst/>
          </a:prstGeom>
          <a:noFill/>
          <a:ln/>
        </p:spPr>
        <p:txBody>
          <a:bodyPr wrap="square" lIns="0" tIns="0" rIns="0" bIns="0" rtlCol="0" anchor="ctr"/>
          <a:lstStyle/>
          <a:p>
            <a:pPr marL="0" indent="0">
              <a:lnSpc>
                <a:spcPts val="3400"/>
              </a:lnSpc>
              <a:buNone/>
            </a:pPr>
            <a:r>
              <a:rPr lang="en-US" sz="3000" b="1" dirty="0">
                <a:solidFill>
                  <a:srgbClr val="FFFFFF"/>
                </a:solidFill>
                <a:latin typeface="Cambria" pitchFamily="34" charset="0"/>
                <a:ea typeface="Cambria" pitchFamily="34" charset="-122"/>
                <a:cs typeface="Cambria" pitchFamily="34" charset="-120"/>
              </a:rPr>
              <a:t>Project Status, Feasibility</a:t>
            </a:r>
            <a:endParaRPr lang="en-US" sz="3000" dirty="0"/>
          </a:p>
          <a:p>
            <a:pPr marL="0" indent="0">
              <a:lnSpc>
                <a:spcPts val="3400"/>
              </a:lnSpc>
              <a:buNone/>
            </a:pPr>
            <a:r>
              <a:rPr lang="en-US" sz="3000" b="1" dirty="0">
                <a:solidFill>
                  <a:srgbClr val="FFFFFF"/>
                </a:solidFill>
                <a:latin typeface="Cambria" pitchFamily="34" charset="0"/>
                <a:ea typeface="Cambria" pitchFamily="34" charset="-122"/>
                <a:cs typeface="Cambria" pitchFamily="34" charset="-120"/>
              </a:rPr>
              <a:t>and Delivery Plan</a:t>
            </a:r>
            <a:endParaRPr lang="en-US" sz="3000" dirty="0"/>
          </a:p>
        </p:txBody>
      </p:sp>
      <p:sp>
        <p:nvSpPr>
          <p:cNvPr id="8" name="Text 6"/>
          <p:cNvSpPr/>
          <p:nvPr/>
        </p:nvSpPr>
        <p:spPr>
          <a:xfrm>
            <a:off x="548640" y="4892040"/>
            <a:ext cx="8229600" cy="1005840"/>
          </a:xfrm>
          <a:prstGeom prst="rect">
            <a:avLst/>
          </a:prstGeom>
          <a:noFill/>
          <a:ln/>
        </p:spPr>
        <p:txBody>
          <a:bodyPr wrap="square" lIns="0" tIns="0" rIns="0" bIns="0" rtlCol="0" anchor="ctr"/>
          <a:lstStyle/>
          <a:p>
            <a:pPr marL="0" indent="0">
              <a:lnSpc>
                <a:spcPts val="1900"/>
              </a:lnSpc>
              <a:buNone/>
            </a:pPr>
            <a:r>
              <a:rPr lang="en-US" sz="1300" dirty="0">
                <a:solidFill>
                  <a:srgbClr val="CFE3E3"/>
                </a:solidFill>
                <a:latin typeface="Calibri" pitchFamily="34" charset="0"/>
                <a:ea typeface="Calibri" pitchFamily="34" charset="-122"/>
                <a:cs typeface="Calibri" pitchFamily="34" charset="-120"/>
              </a:rPr>
              <a:t>
Janaki Badu  ·  Full-Stack Web Developer
</a:t>
            </a:r>
            <a:r>
              <a:rPr lang="en-US" sz="1100" i="1" dirty="0">
                <a:solidFill>
                  <a:srgbClr val="8FB4B6"/>
                </a:solidFill>
                <a:latin typeface="Calibri" pitchFamily="34" charset="0"/>
                <a:ea typeface="Calibri" pitchFamily="34" charset="-122"/>
                <a:cs typeface="Calibri" pitchFamily="34" charset="-120"/>
              </a:rPr>
              <a:t>Companion to the SRS (07 Jul 2026) and the Software Design Document (11 Jul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200" b="1" dirty="0">
                <a:solidFill>
                  <a:srgbClr val="06474F"/>
                </a:solidFill>
                <a:latin typeface="Cambria" pitchFamily="34" charset="0"/>
                <a:ea typeface="Cambria" pitchFamily="34" charset="-122"/>
                <a:cs typeface="Cambria" pitchFamily="34" charset="-120"/>
              </a:rPr>
              <a:t>What this session answers</a:t>
            </a:r>
            <a:endParaRPr lang="en-US" sz="3200" dirty="0"/>
          </a:p>
        </p:txBody>
      </p:sp>
      <p:sp>
        <p:nvSpPr>
          <p:cNvPr id="3" name="Text 1"/>
          <p:cNvSpPr/>
          <p:nvPr/>
        </p:nvSpPr>
        <p:spPr>
          <a:xfrm>
            <a:off x="548640" y="941832"/>
            <a:ext cx="11064240" cy="310896"/>
          </a:xfrm>
          <a:prstGeom prst="rect">
            <a:avLst/>
          </a:prstGeom>
          <a:noFill/>
          <a:ln/>
        </p:spPr>
        <p:txBody>
          <a:bodyPr wrap="square" lIns="0" tIns="0" rIns="0" bIns="0" rtlCol="0" anchor="ctr"/>
          <a:lstStyle/>
          <a:p>
            <a:pPr marL="0" indent="0">
              <a:buNone/>
            </a:pPr>
            <a:r>
              <a:rPr lang="en-US" sz="1400" i="1" dirty="0">
                <a:solidFill>
                  <a:srgbClr val="5C6E71"/>
                </a:solidFill>
                <a:latin typeface="Calibri" pitchFamily="34" charset="0"/>
                <a:ea typeface="Calibri" pitchFamily="34" charset="-122"/>
                <a:cs typeface="Calibri" pitchFamily="34" charset="-120"/>
              </a:rPr>
              <a:t>Four questions, four answers - and four decisions for you at the end</a:t>
            </a:r>
            <a:endParaRPr lang="en-US" sz="1400" dirty="0"/>
          </a:p>
        </p:txBody>
      </p:sp>
      <p:sp>
        <p:nvSpPr>
          <p:cNvPr id="4" name="Text 2"/>
          <p:cNvSpPr/>
          <p:nvPr/>
        </p:nvSpPr>
        <p:spPr>
          <a:xfrm>
            <a:off x="548640" y="6473952"/>
            <a:ext cx="5486400" cy="237744"/>
          </a:xfrm>
          <a:prstGeom prst="rect">
            <a:avLst/>
          </a:prstGeom>
          <a:noFill/>
          <a:ln/>
        </p:spPr>
        <p:txBody>
          <a:bodyPr wrap="square" lIns="0" tIns="0" rIns="0" bIns="0" rtlCol="0" anchor="ctr"/>
          <a:lstStyle/>
          <a:p>
            <a:pPr marL="0" indent="0">
              <a:buNone/>
            </a:pPr>
            <a:r>
              <a:rPr lang="en-US" sz="900" dirty="0">
                <a:solidFill>
                  <a:srgbClr val="B9C4C6"/>
                </a:solidFill>
                <a:latin typeface="Calibri" pitchFamily="34" charset="0"/>
                <a:ea typeface="Calibri" pitchFamily="34" charset="-122"/>
                <a:cs typeface="Calibri" pitchFamily="34" charset="-120"/>
              </a:rPr>
              <a:t>SPEAK  |  Status &amp; Delivery Plan  |  12 July 2026</a:t>
            </a:r>
            <a:endParaRPr lang="en-US" sz="900" dirty="0"/>
          </a:p>
        </p:txBody>
      </p:sp>
      <p:sp>
        <p:nvSpPr>
          <p:cNvPr id="5" name="Text 3"/>
          <p:cNvSpPr/>
          <p:nvPr/>
        </p:nvSpPr>
        <p:spPr>
          <a:xfrm>
            <a:off x="11064240" y="6473952"/>
            <a:ext cx="548640" cy="237744"/>
          </a:xfrm>
          <a:prstGeom prst="rect">
            <a:avLst/>
          </a:prstGeom>
          <a:noFill/>
          <a:ln/>
        </p:spPr>
        <p:txBody>
          <a:bodyPr wrap="square" lIns="0" tIns="0" rIns="0" bIns="0" rtlCol="0" anchor="ctr"/>
          <a:lstStyle/>
          <a:p>
            <a:pPr marL="0" indent="0" algn="r">
              <a:buNone/>
            </a:pPr>
            <a:r>
              <a:rPr lang="en-US" sz="900" dirty="0">
                <a:solidFill>
                  <a:srgbClr val="B9C4C6"/>
                </a:solidFill>
                <a:latin typeface="Calibri" pitchFamily="34" charset="0"/>
                <a:ea typeface="Calibri" pitchFamily="34" charset="-122"/>
                <a:cs typeface="Calibri" pitchFamily="34" charset="-120"/>
              </a:rPr>
              <a:t>2</a:t>
            </a:r>
            <a:endParaRPr lang="en-US" sz="900" dirty="0"/>
          </a:p>
        </p:txBody>
      </p:sp>
      <p:sp>
        <p:nvSpPr>
          <p:cNvPr id="6" name="Shape 4"/>
          <p:cNvSpPr/>
          <p:nvPr/>
        </p:nvSpPr>
        <p:spPr>
          <a:xfrm>
            <a:off x="548640" y="1481328"/>
            <a:ext cx="11064240" cy="1005840"/>
          </a:xfrm>
          <a:prstGeom prst="roundRect">
            <a:avLst>
              <a:gd name="adj" fmla="val 7273"/>
            </a:avLst>
          </a:prstGeom>
          <a:solidFill>
            <a:srgbClr val="EEF4F4"/>
          </a:solidFill>
          <a:ln w="9525">
            <a:solidFill>
              <a:srgbClr val="EEF4F4"/>
            </a:solidFill>
            <a:prstDash val="solid"/>
          </a:ln>
          <a:effectLst>
            <a:outerShdw blurRad="101600" dist="25400" dir="5400000" algn="bl" rotWithShape="0">
              <a:srgbClr val="0A2B31">
                <a:alpha val="10000"/>
              </a:srgbClr>
            </a:outerShdw>
          </a:effectLst>
        </p:spPr>
      </p:sp>
      <p:sp>
        <p:nvSpPr>
          <p:cNvPr id="7" name="Shape 5"/>
          <p:cNvSpPr/>
          <p:nvPr/>
        </p:nvSpPr>
        <p:spPr>
          <a:xfrm>
            <a:off x="804672" y="1737360"/>
            <a:ext cx="493776" cy="493776"/>
          </a:xfrm>
          <a:prstGeom prst="ellipse">
            <a:avLst/>
          </a:prstGeom>
          <a:solidFill>
            <a:srgbClr val="06474F"/>
          </a:solidFill>
          <a:ln w="12700">
            <a:solidFill>
              <a:srgbClr val="06474F"/>
            </a:solidFill>
            <a:prstDash val="solid"/>
          </a:ln>
        </p:spPr>
      </p:sp>
      <p:sp>
        <p:nvSpPr>
          <p:cNvPr id="8" name="Text 6"/>
          <p:cNvSpPr/>
          <p:nvPr/>
        </p:nvSpPr>
        <p:spPr>
          <a:xfrm>
            <a:off x="804672" y="1737360"/>
            <a:ext cx="493776" cy="49377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9" name="Text 7"/>
          <p:cNvSpPr/>
          <p:nvPr/>
        </p:nvSpPr>
        <p:spPr>
          <a:xfrm>
            <a:off x="1508760" y="1627632"/>
            <a:ext cx="9692640" cy="310896"/>
          </a:xfrm>
          <a:prstGeom prst="rect">
            <a:avLst/>
          </a:prstGeom>
          <a:noFill/>
          <a:ln/>
        </p:spPr>
        <p:txBody>
          <a:bodyPr wrap="square" lIns="0" tIns="0" rIns="0" bIns="0" rtlCol="0" anchor="ctr"/>
          <a:lstStyle/>
          <a:p>
            <a:pPr marL="0" indent="0">
              <a:buNone/>
            </a:pPr>
            <a:r>
              <a:rPr lang="en-US" sz="1600" b="1" dirty="0">
                <a:solidFill>
                  <a:srgbClr val="06474F"/>
                </a:solidFill>
                <a:latin typeface="Calibri" pitchFamily="34" charset="0"/>
                <a:ea typeface="Calibri" pitchFamily="34" charset="-122"/>
                <a:cs typeface="Calibri" pitchFamily="34" charset="-120"/>
              </a:rPr>
              <a:t>Where the project stands today</a:t>
            </a:r>
            <a:endParaRPr lang="en-US" sz="1600" dirty="0"/>
          </a:p>
        </p:txBody>
      </p:sp>
      <p:sp>
        <p:nvSpPr>
          <p:cNvPr id="10" name="Text 8"/>
          <p:cNvSpPr/>
          <p:nvPr/>
        </p:nvSpPr>
        <p:spPr>
          <a:xfrm>
            <a:off x="1508760" y="1984248"/>
            <a:ext cx="9966960" cy="384048"/>
          </a:xfrm>
          <a:prstGeom prst="rect">
            <a:avLst/>
          </a:prstGeom>
          <a:noFill/>
          <a:ln/>
        </p:spPr>
        <p:txBody>
          <a:bodyPr wrap="square" lIns="0" tIns="0" rIns="0" bIns="0" rtlCol="0" anchor="ctr"/>
          <a:lstStyle/>
          <a:p>
            <a:pPr marL="0" indent="0">
              <a:buNone/>
            </a:pPr>
            <a:r>
              <a:rPr lang="en-US" sz="1250" dirty="0">
                <a:solidFill>
                  <a:srgbClr val="5C6E71"/>
                </a:solidFill>
                <a:latin typeface="Calibri" pitchFamily="34" charset="0"/>
                <a:ea typeface="Calibri" pitchFamily="34" charset="-122"/>
                <a:cs typeface="Calibri" pitchFamily="34" charset="-120"/>
              </a:rPr>
              <a:t>Requirements and architecture are complete and signed off internally. No production code yet - by design.</a:t>
            </a:r>
            <a:endParaRPr lang="en-US" sz="1250" dirty="0"/>
          </a:p>
        </p:txBody>
      </p:sp>
      <p:sp>
        <p:nvSpPr>
          <p:cNvPr id="11" name="Shape 9"/>
          <p:cNvSpPr/>
          <p:nvPr/>
        </p:nvSpPr>
        <p:spPr>
          <a:xfrm>
            <a:off x="548640" y="2651760"/>
            <a:ext cx="11064240" cy="1005840"/>
          </a:xfrm>
          <a:prstGeom prst="roundRect">
            <a:avLst>
              <a:gd name="adj" fmla="val 7273"/>
            </a:avLst>
          </a:prstGeom>
          <a:solidFill>
            <a:srgbClr val="F7FAFA"/>
          </a:solidFill>
          <a:ln w="9525">
            <a:solidFill>
              <a:srgbClr val="F7FAFA"/>
            </a:solidFill>
            <a:prstDash val="solid"/>
          </a:ln>
          <a:effectLst>
            <a:outerShdw blurRad="101600" dist="25400" dir="5400000" algn="bl" rotWithShape="0">
              <a:srgbClr val="0A2B31">
                <a:alpha val="10000"/>
              </a:srgbClr>
            </a:outerShdw>
          </a:effectLst>
        </p:spPr>
      </p:sp>
      <p:sp>
        <p:nvSpPr>
          <p:cNvPr id="12" name="Shape 10"/>
          <p:cNvSpPr/>
          <p:nvPr/>
        </p:nvSpPr>
        <p:spPr>
          <a:xfrm>
            <a:off x="804672" y="2907792"/>
            <a:ext cx="493776" cy="493776"/>
          </a:xfrm>
          <a:prstGeom prst="ellipse">
            <a:avLst/>
          </a:prstGeom>
          <a:solidFill>
            <a:srgbClr val="1C7293"/>
          </a:solidFill>
          <a:ln w="12700">
            <a:solidFill>
              <a:srgbClr val="1C7293"/>
            </a:solidFill>
            <a:prstDash val="solid"/>
          </a:ln>
        </p:spPr>
      </p:sp>
      <p:sp>
        <p:nvSpPr>
          <p:cNvPr id="13" name="Text 11"/>
          <p:cNvSpPr/>
          <p:nvPr/>
        </p:nvSpPr>
        <p:spPr>
          <a:xfrm>
            <a:off x="804672" y="2907792"/>
            <a:ext cx="493776" cy="49377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4" name="Text 12"/>
          <p:cNvSpPr/>
          <p:nvPr/>
        </p:nvSpPr>
        <p:spPr>
          <a:xfrm>
            <a:off x="1508760" y="2798064"/>
            <a:ext cx="9692640" cy="310896"/>
          </a:xfrm>
          <a:prstGeom prst="rect">
            <a:avLst/>
          </a:prstGeom>
          <a:noFill/>
          <a:ln/>
        </p:spPr>
        <p:txBody>
          <a:bodyPr wrap="square" lIns="0" tIns="0" rIns="0" bIns="0" rtlCol="0" anchor="ctr"/>
          <a:lstStyle/>
          <a:p>
            <a:pPr marL="0" indent="0">
              <a:buNone/>
            </a:pPr>
            <a:r>
              <a:rPr lang="en-US" sz="1600" b="1" dirty="0">
                <a:solidFill>
                  <a:srgbClr val="06474F"/>
                </a:solidFill>
                <a:latin typeface="Calibri" pitchFamily="34" charset="0"/>
                <a:ea typeface="Calibri" pitchFamily="34" charset="-122"/>
                <a:cs typeface="Calibri" pitchFamily="34" charset="-120"/>
              </a:rPr>
              <a:t>The programming tasks, and whether they are feasible</a:t>
            </a:r>
            <a:endParaRPr lang="en-US" sz="1600" dirty="0"/>
          </a:p>
        </p:txBody>
      </p:sp>
      <p:sp>
        <p:nvSpPr>
          <p:cNvPr id="15" name="Text 13"/>
          <p:cNvSpPr/>
          <p:nvPr/>
        </p:nvSpPr>
        <p:spPr>
          <a:xfrm>
            <a:off x="1508760" y="3154680"/>
            <a:ext cx="9966960" cy="384048"/>
          </a:xfrm>
          <a:prstGeom prst="rect">
            <a:avLst/>
          </a:prstGeom>
          <a:noFill/>
          <a:ln/>
        </p:spPr>
        <p:txBody>
          <a:bodyPr wrap="square" lIns="0" tIns="0" rIns="0" bIns="0" rtlCol="0" anchor="ctr"/>
          <a:lstStyle/>
          <a:p>
            <a:pPr marL="0" indent="0">
              <a:buNone/>
            </a:pPr>
            <a:r>
              <a:rPr lang="en-US" sz="1250" dirty="0">
                <a:solidFill>
                  <a:srgbClr val="5C6E71"/>
                </a:solidFill>
                <a:latin typeface="Calibri" pitchFamily="34" charset="0"/>
                <a:ea typeface="Calibri" pitchFamily="34" charset="-122"/>
                <a:cs typeface="Calibri" pitchFamily="34" charset="-120"/>
              </a:rPr>
              <a:t>Eight workstreams, 44 subtasks. Seven are routine. Three carry real risk, and I name them.</a:t>
            </a:r>
            <a:endParaRPr lang="en-US" sz="1250" dirty="0"/>
          </a:p>
        </p:txBody>
      </p:sp>
      <p:sp>
        <p:nvSpPr>
          <p:cNvPr id="16" name="Shape 14"/>
          <p:cNvSpPr/>
          <p:nvPr/>
        </p:nvSpPr>
        <p:spPr>
          <a:xfrm>
            <a:off x="548640" y="3822192"/>
            <a:ext cx="11064240" cy="1005840"/>
          </a:xfrm>
          <a:prstGeom prst="roundRect">
            <a:avLst>
              <a:gd name="adj" fmla="val 7273"/>
            </a:avLst>
          </a:prstGeom>
          <a:solidFill>
            <a:srgbClr val="EEF4F4"/>
          </a:solidFill>
          <a:ln w="9525">
            <a:solidFill>
              <a:srgbClr val="EEF4F4"/>
            </a:solidFill>
            <a:prstDash val="solid"/>
          </a:ln>
          <a:effectLst>
            <a:outerShdw blurRad="101600" dist="25400" dir="5400000" algn="bl" rotWithShape="0">
              <a:srgbClr val="0A2B31">
                <a:alpha val="10000"/>
              </a:srgbClr>
            </a:outerShdw>
          </a:effectLst>
        </p:spPr>
      </p:sp>
      <p:sp>
        <p:nvSpPr>
          <p:cNvPr id="17" name="Shape 15"/>
          <p:cNvSpPr/>
          <p:nvPr/>
        </p:nvSpPr>
        <p:spPr>
          <a:xfrm>
            <a:off x="804672" y="4078224"/>
            <a:ext cx="493776" cy="493776"/>
          </a:xfrm>
          <a:prstGeom prst="ellipse">
            <a:avLst/>
          </a:prstGeom>
          <a:solidFill>
            <a:srgbClr val="00A896"/>
          </a:solidFill>
          <a:ln w="12700">
            <a:solidFill>
              <a:srgbClr val="00A896"/>
            </a:solidFill>
            <a:prstDash val="solid"/>
          </a:ln>
        </p:spPr>
      </p:sp>
      <p:sp>
        <p:nvSpPr>
          <p:cNvPr id="18" name="Text 16"/>
          <p:cNvSpPr/>
          <p:nvPr/>
        </p:nvSpPr>
        <p:spPr>
          <a:xfrm>
            <a:off x="804672" y="4078224"/>
            <a:ext cx="493776" cy="49377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9" name="Text 17"/>
          <p:cNvSpPr/>
          <p:nvPr/>
        </p:nvSpPr>
        <p:spPr>
          <a:xfrm>
            <a:off x="1508760" y="3968496"/>
            <a:ext cx="9692640" cy="310896"/>
          </a:xfrm>
          <a:prstGeom prst="rect">
            <a:avLst/>
          </a:prstGeom>
          <a:noFill/>
          <a:ln/>
        </p:spPr>
        <p:txBody>
          <a:bodyPr wrap="square" lIns="0" tIns="0" rIns="0" bIns="0" rtlCol="0" anchor="ctr"/>
          <a:lstStyle/>
          <a:p>
            <a:pPr marL="0" indent="0">
              <a:buNone/>
            </a:pPr>
            <a:r>
              <a:rPr lang="en-US" sz="1600" b="1" dirty="0">
                <a:solidFill>
                  <a:srgbClr val="06474F"/>
                </a:solidFill>
                <a:latin typeface="Calibri" pitchFamily="34" charset="0"/>
                <a:ea typeface="Calibri" pitchFamily="34" charset="-122"/>
                <a:cs typeface="Calibri" pitchFamily="34" charset="-120"/>
              </a:rPr>
              <a:t>The plan: timeline and effort at 6 h/week</a:t>
            </a:r>
            <a:endParaRPr lang="en-US" sz="1600" dirty="0"/>
          </a:p>
        </p:txBody>
      </p:sp>
      <p:sp>
        <p:nvSpPr>
          <p:cNvPr id="20" name="Text 18"/>
          <p:cNvSpPr/>
          <p:nvPr/>
        </p:nvSpPr>
        <p:spPr>
          <a:xfrm>
            <a:off x="1508760" y="4325112"/>
            <a:ext cx="9966960" cy="384048"/>
          </a:xfrm>
          <a:prstGeom prst="rect">
            <a:avLst/>
          </a:prstGeom>
          <a:noFill/>
          <a:ln/>
        </p:spPr>
        <p:txBody>
          <a:bodyPr wrap="square" lIns="0" tIns="0" rIns="0" bIns="0" rtlCol="0" anchor="ctr"/>
          <a:lstStyle/>
          <a:p>
            <a:pPr marL="0" indent="0">
              <a:buNone/>
            </a:pPr>
            <a:r>
              <a:rPr lang="en-US" sz="1250" dirty="0">
                <a:solidFill>
                  <a:srgbClr val="5C6E71"/>
                </a:solidFill>
                <a:latin typeface="Calibri" pitchFamily="34" charset="0"/>
                <a:ea typeface="Calibri" pitchFamily="34" charset="-122"/>
                <a:cs typeface="Calibri" pitchFamily="34" charset="-120"/>
              </a:rPr>
              <a:t>284 build hours + contingency + meetings = ~60 weeks. Full Gantt with tasks and subtasks.</a:t>
            </a:r>
            <a:endParaRPr lang="en-US" sz="1250" dirty="0"/>
          </a:p>
        </p:txBody>
      </p:sp>
      <p:sp>
        <p:nvSpPr>
          <p:cNvPr id="21" name="Shape 19"/>
          <p:cNvSpPr/>
          <p:nvPr/>
        </p:nvSpPr>
        <p:spPr>
          <a:xfrm>
            <a:off x="548640" y="4992624"/>
            <a:ext cx="11064240" cy="1005840"/>
          </a:xfrm>
          <a:prstGeom prst="roundRect">
            <a:avLst>
              <a:gd name="adj" fmla="val 7273"/>
            </a:avLst>
          </a:prstGeom>
          <a:solidFill>
            <a:srgbClr val="F7FAFA"/>
          </a:solidFill>
          <a:ln w="9525">
            <a:solidFill>
              <a:srgbClr val="F7FAFA"/>
            </a:solidFill>
            <a:prstDash val="solid"/>
          </a:ln>
          <a:effectLst>
            <a:outerShdw blurRad="101600" dist="25400" dir="5400000" algn="bl" rotWithShape="0">
              <a:srgbClr val="0A2B31">
                <a:alpha val="10000"/>
              </a:srgbClr>
            </a:outerShdw>
          </a:effectLst>
        </p:spPr>
      </p:sp>
      <p:sp>
        <p:nvSpPr>
          <p:cNvPr id="22" name="Shape 20"/>
          <p:cNvSpPr/>
          <p:nvPr/>
        </p:nvSpPr>
        <p:spPr>
          <a:xfrm>
            <a:off x="804672" y="5248656"/>
            <a:ext cx="493776" cy="493776"/>
          </a:xfrm>
          <a:prstGeom prst="ellipse">
            <a:avLst/>
          </a:prstGeom>
          <a:solidFill>
            <a:srgbClr val="E08A3C"/>
          </a:solidFill>
          <a:ln w="12700">
            <a:solidFill>
              <a:srgbClr val="E08A3C"/>
            </a:solidFill>
            <a:prstDash val="solid"/>
          </a:ln>
        </p:spPr>
      </p:sp>
      <p:sp>
        <p:nvSpPr>
          <p:cNvPr id="23" name="Text 21"/>
          <p:cNvSpPr/>
          <p:nvPr/>
        </p:nvSpPr>
        <p:spPr>
          <a:xfrm>
            <a:off x="804672" y="5248656"/>
            <a:ext cx="493776" cy="49377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4" name="Text 22"/>
          <p:cNvSpPr/>
          <p:nvPr/>
        </p:nvSpPr>
        <p:spPr>
          <a:xfrm>
            <a:off x="1508760" y="5138928"/>
            <a:ext cx="9692640" cy="310896"/>
          </a:xfrm>
          <a:prstGeom prst="rect">
            <a:avLst/>
          </a:prstGeom>
          <a:noFill/>
          <a:ln/>
        </p:spPr>
        <p:txBody>
          <a:bodyPr wrap="square" lIns="0" tIns="0" rIns="0" bIns="0" rtlCol="0" anchor="ctr"/>
          <a:lstStyle/>
          <a:p>
            <a:pPr marL="0" indent="0">
              <a:buNone/>
            </a:pPr>
            <a:r>
              <a:rPr lang="en-US" sz="1600" b="1" dirty="0">
                <a:solidFill>
                  <a:srgbClr val="06474F"/>
                </a:solidFill>
                <a:latin typeface="Calibri" pitchFamily="34" charset="0"/>
                <a:ea typeface="Calibri" pitchFamily="34" charset="-122"/>
                <a:cs typeface="Calibri" pitchFamily="34" charset="-120"/>
              </a:rPr>
              <a:t>Can we record the children speaking?</a:t>
            </a:r>
            <a:endParaRPr lang="en-US" sz="1600" dirty="0"/>
          </a:p>
        </p:txBody>
      </p:sp>
      <p:sp>
        <p:nvSpPr>
          <p:cNvPr id="25" name="Text 23"/>
          <p:cNvSpPr/>
          <p:nvPr/>
        </p:nvSpPr>
        <p:spPr>
          <a:xfrm>
            <a:off x="1508760" y="5495544"/>
            <a:ext cx="9966960" cy="384048"/>
          </a:xfrm>
          <a:prstGeom prst="rect">
            <a:avLst/>
          </a:prstGeom>
          <a:noFill/>
          <a:ln/>
        </p:spPr>
        <p:txBody>
          <a:bodyPr wrap="square" lIns="0" tIns="0" rIns="0" bIns="0" rtlCol="0" anchor="ctr"/>
          <a:lstStyle/>
          <a:p>
            <a:pPr marL="0" indent="0">
              <a:buNone/>
            </a:pPr>
            <a:r>
              <a:rPr lang="en-US" sz="1250" dirty="0">
                <a:solidFill>
                  <a:srgbClr val="5C6E71"/>
                </a:solidFill>
                <a:latin typeface="Calibri" pitchFamily="34" charset="0"/>
                <a:ea typeface="Calibri" pitchFamily="34" charset="-122"/>
                <a:cs typeface="Calibri" pitchFamily="34" charset="-120"/>
              </a:rPr>
              <a:t>Technically: yes, cheaply. Legally: only under conditions you must decide on.</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200" b="1" dirty="0">
                <a:solidFill>
                  <a:srgbClr val="06474F"/>
                </a:solidFill>
                <a:latin typeface="Cambria" pitchFamily="34" charset="0"/>
                <a:ea typeface="Cambria" pitchFamily="34" charset="-122"/>
                <a:cs typeface="Cambria" pitchFamily="34" charset="-120"/>
              </a:rPr>
              <a:t>Where the website stands today</a:t>
            </a:r>
            <a:endParaRPr lang="en-US" sz="3200" dirty="0"/>
          </a:p>
        </p:txBody>
      </p:sp>
      <p:sp>
        <p:nvSpPr>
          <p:cNvPr id="3" name="Text 1"/>
          <p:cNvSpPr/>
          <p:nvPr/>
        </p:nvSpPr>
        <p:spPr>
          <a:xfrm>
            <a:off x="548640" y="941832"/>
            <a:ext cx="11064240" cy="310896"/>
          </a:xfrm>
          <a:prstGeom prst="rect">
            <a:avLst/>
          </a:prstGeom>
          <a:noFill/>
          <a:ln/>
        </p:spPr>
        <p:txBody>
          <a:bodyPr wrap="square" lIns="0" tIns="0" rIns="0" bIns="0" rtlCol="0" anchor="ctr"/>
          <a:lstStyle/>
          <a:p>
            <a:pPr marL="0" indent="0">
              <a:buNone/>
            </a:pPr>
            <a:r>
              <a:rPr lang="en-US" sz="1400" i="1" dirty="0">
                <a:solidFill>
                  <a:srgbClr val="5C6E71"/>
                </a:solidFill>
                <a:latin typeface="Calibri" pitchFamily="34" charset="0"/>
                <a:ea typeface="Calibri" pitchFamily="34" charset="-122"/>
                <a:cs typeface="Calibri" pitchFamily="34" charset="-120"/>
              </a:rPr>
              <a:t>Phase 2 of 8 complete. The thinking is done; the building has not started.</a:t>
            </a:r>
            <a:endParaRPr lang="en-US" sz="1400" dirty="0"/>
          </a:p>
        </p:txBody>
      </p:sp>
      <p:sp>
        <p:nvSpPr>
          <p:cNvPr id="4" name="Text 2"/>
          <p:cNvSpPr/>
          <p:nvPr/>
        </p:nvSpPr>
        <p:spPr>
          <a:xfrm>
            <a:off x="548640" y="6473952"/>
            <a:ext cx="5486400" cy="237744"/>
          </a:xfrm>
          <a:prstGeom prst="rect">
            <a:avLst/>
          </a:prstGeom>
          <a:noFill/>
          <a:ln/>
        </p:spPr>
        <p:txBody>
          <a:bodyPr wrap="square" lIns="0" tIns="0" rIns="0" bIns="0" rtlCol="0" anchor="ctr"/>
          <a:lstStyle/>
          <a:p>
            <a:pPr marL="0" indent="0">
              <a:buNone/>
            </a:pPr>
            <a:r>
              <a:rPr lang="en-US" sz="900" dirty="0">
                <a:solidFill>
                  <a:srgbClr val="B9C4C6"/>
                </a:solidFill>
                <a:latin typeface="Calibri" pitchFamily="34" charset="0"/>
                <a:ea typeface="Calibri" pitchFamily="34" charset="-122"/>
                <a:cs typeface="Calibri" pitchFamily="34" charset="-120"/>
              </a:rPr>
              <a:t>SPEAK  |  Status &amp; Delivery Plan  |  12 July 2026</a:t>
            </a:r>
            <a:endParaRPr lang="en-US" sz="900" dirty="0"/>
          </a:p>
        </p:txBody>
      </p:sp>
      <p:sp>
        <p:nvSpPr>
          <p:cNvPr id="5" name="Text 3"/>
          <p:cNvSpPr/>
          <p:nvPr/>
        </p:nvSpPr>
        <p:spPr>
          <a:xfrm>
            <a:off x="11064240" y="6473952"/>
            <a:ext cx="548640" cy="237744"/>
          </a:xfrm>
          <a:prstGeom prst="rect">
            <a:avLst/>
          </a:prstGeom>
          <a:noFill/>
          <a:ln/>
        </p:spPr>
        <p:txBody>
          <a:bodyPr wrap="square" lIns="0" tIns="0" rIns="0" bIns="0" rtlCol="0" anchor="ctr"/>
          <a:lstStyle/>
          <a:p>
            <a:pPr marL="0" indent="0" algn="r">
              <a:buNone/>
            </a:pPr>
            <a:r>
              <a:rPr lang="en-US" sz="900" dirty="0">
                <a:solidFill>
                  <a:srgbClr val="B9C4C6"/>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548640" y="1554480"/>
            <a:ext cx="2560320" cy="1691640"/>
          </a:xfrm>
          <a:prstGeom prst="roundRect">
            <a:avLst>
              <a:gd name="adj" fmla="val 4324"/>
            </a:avLst>
          </a:prstGeom>
          <a:solidFill>
            <a:srgbClr val="EEF4F4"/>
          </a:solidFill>
          <a:ln w="9525">
            <a:solidFill>
              <a:srgbClr val="EEF4F4"/>
            </a:solidFill>
            <a:prstDash val="solid"/>
          </a:ln>
          <a:effectLst>
            <a:outerShdw blurRad="101600" dist="25400" dir="5400000" algn="bl" rotWithShape="0">
              <a:srgbClr val="0A2B31">
                <a:alpha val="10000"/>
              </a:srgbClr>
            </a:outerShdw>
          </a:effectLst>
        </p:spPr>
      </p:sp>
      <p:sp>
        <p:nvSpPr>
          <p:cNvPr id="7" name="Text 5"/>
          <p:cNvSpPr/>
          <p:nvPr/>
        </p:nvSpPr>
        <p:spPr>
          <a:xfrm>
            <a:off x="694944" y="1691640"/>
            <a:ext cx="2286000" cy="685800"/>
          </a:xfrm>
          <a:prstGeom prst="rect">
            <a:avLst/>
          </a:prstGeom>
          <a:noFill/>
          <a:ln/>
        </p:spPr>
        <p:txBody>
          <a:bodyPr wrap="square" lIns="0" tIns="0" rIns="0" bIns="0" rtlCol="0" anchor="ctr"/>
          <a:lstStyle/>
          <a:p>
            <a:pPr marL="0" indent="0">
              <a:buNone/>
            </a:pPr>
            <a:r>
              <a:rPr lang="en-US" sz="3400" b="1" dirty="0">
                <a:solidFill>
                  <a:srgbClr val="00A896"/>
                </a:solidFill>
                <a:latin typeface="Cambria" pitchFamily="34" charset="0"/>
                <a:ea typeface="Cambria" pitchFamily="34" charset="-122"/>
                <a:cs typeface="Cambria" pitchFamily="34" charset="-120"/>
              </a:rPr>
              <a:t>2 of 8</a:t>
            </a:r>
            <a:endParaRPr lang="en-US" sz="3400" dirty="0"/>
          </a:p>
        </p:txBody>
      </p:sp>
      <p:sp>
        <p:nvSpPr>
          <p:cNvPr id="8" name="Text 6"/>
          <p:cNvSpPr/>
          <p:nvPr/>
        </p:nvSpPr>
        <p:spPr>
          <a:xfrm>
            <a:off x="694944" y="2377440"/>
            <a:ext cx="2286000" cy="274320"/>
          </a:xfrm>
          <a:prstGeom prst="rect">
            <a:avLst/>
          </a:prstGeom>
          <a:noFill/>
          <a:ln/>
        </p:spPr>
        <p:txBody>
          <a:bodyPr wrap="square" lIns="0" tIns="0" rIns="0" bIns="0" rtlCol="0" anchor="ctr"/>
          <a:lstStyle/>
          <a:p>
            <a:pPr marL="0" indent="0">
              <a:buNone/>
            </a:pPr>
            <a:r>
              <a:rPr lang="en-US" sz="1250" b="1" dirty="0">
                <a:solidFill>
                  <a:srgbClr val="06474F"/>
                </a:solidFill>
                <a:latin typeface="Calibri" pitchFamily="34" charset="0"/>
                <a:ea typeface="Calibri" pitchFamily="34" charset="-122"/>
                <a:cs typeface="Calibri" pitchFamily="34" charset="-120"/>
              </a:rPr>
              <a:t>phases complete</a:t>
            </a:r>
            <a:endParaRPr lang="en-US" sz="1250" dirty="0"/>
          </a:p>
        </p:txBody>
      </p:sp>
      <p:sp>
        <p:nvSpPr>
          <p:cNvPr id="9" name="Text 7"/>
          <p:cNvSpPr/>
          <p:nvPr/>
        </p:nvSpPr>
        <p:spPr>
          <a:xfrm>
            <a:off x="694944" y="2651760"/>
            <a:ext cx="2286000" cy="502920"/>
          </a:xfrm>
          <a:prstGeom prst="rect">
            <a:avLst/>
          </a:prstGeom>
          <a:noFill/>
          <a:ln/>
        </p:spPr>
        <p:txBody>
          <a:bodyPr wrap="square" lIns="0" tIns="0" rIns="0" bIns="0" rtlCol="0" anchor="ctr"/>
          <a:lstStyle/>
          <a:p>
            <a:pPr marL="0" indent="0">
              <a:buNone/>
            </a:pPr>
            <a:r>
              <a:rPr lang="en-US" sz="1050" dirty="0">
                <a:solidFill>
                  <a:srgbClr val="5C6E71"/>
                </a:solidFill>
                <a:latin typeface="Calibri" pitchFamily="34" charset="0"/>
                <a:ea typeface="Calibri" pitchFamily="34" charset="-122"/>
                <a:cs typeface="Calibri" pitchFamily="34" charset="-120"/>
              </a:rPr>
              <a:t>Requirements + Design</a:t>
            </a:r>
            <a:endParaRPr lang="en-US" sz="1050" dirty="0"/>
          </a:p>
        </p:txBody>
      </p:sp>
      <p:sp>
        <p:nvSpPr>
          <p:cNvPr id="10" name="Shape 8"/>
          <p:cNvSpPr/>
          <p:nvPr/>
        </p:nvSpPr>
        <p:spPr>
          <a:xfrm>
            <a:off x="3337560" y="1554480"/>
            <a:ext cx="2560320" cy="1691640"/>
          </a:xfrm>
          <a:prstGeom prst="roundRect">
            <a:avLst>
              <a:gd name="adj" fmla="val 4324"/>
            </a:avLst>
          </a:prstGeom>
          <a:solidFill>
            <a:srgbClr val="EEF4F4"/>
          </a:solidFill>
          <a:ln w="9525">
            <a:solidFill>
              <a:srgbClr val="EEF4F4"/>
            </a:solidFill>
            <a:prstDash val="solid"/>
          </a:ln>
          <a:effectLst>
            <a:outerShdw blurRad="101600" dist="25400" dir="5400000" algn="bl" rotWithShape="0">
              <a:srgbClr val="0A2B31">
                <a:alpha val="10000"/>
              </a:srgbClr>
            </a:outerShdw>
          </a:effectLst>
        </p:spPr>
      </p:sp>
      <p:sp>
        <p:nvSpPr>
          <p:cNvPr id="11" name="Text 9"/>
          <p:cNvSpPr/>
          <p:nvPr/>
        </p:nvSpPr>
        <p:spPr>
          <a:xfrm>
            <a:off x="3483864" y="1691640"/>
            <a:ext cx="2286000" cy="685800"/>
          </a:xfrm>
          <a:prstGeom prst="rect">
            <a:avLst/>
          </a:prstGeom>
          <a:noFill/>
          <a:ln/>
        </p:spPr>
        <p:txBody>
          <a:bodyPr wrap="square" lIns="0" tIns="0" rIns="0" bIns="0" rtlCol="0" anchor="ctr"/>
          <a:lstStyle/>
          <a:p>
            <a:pPr marL="0" indent="0">
              <a:buNone/>
            </a:pPr>
            <a:r>
              <a:rPr lang="en-US" sz="3400" b="1" dirty="0">
                <a:solidFill>
                  <a:srgbClr val="1C7293"/>
                </a:solidFill>
                <a:latin typeface="Cambria" pitchFamily="34" charset="0"/>
                <a:ea typeface="Cambria" pitchFamily="34" charset="-122"/>
                <a:cs typeface="Cambria" pitchFamily="34" charset="-120"/>
              </a:rPr>
              <a:t>82</a:t>
            </a:r>
            <a:endParaRPr lang="en-US" sz="3400" dirty="0"/>
          </a:p>
        </p:txBody>
      </p:sp>
      <p:sp>
        <p:nvSpPr>
          <p:cNvPr id="12" name="Text 10"/>
          <p:cNvSpPr/>
          <p:nvPr/>
        </p:nvSpPr>
        <p:spPr>
          <a:xfrm>
            <a:off x="3483864" y="2377440"/>
            <a:ext cx="2286000" cy="274320"/>
          </a:xfrm>
          <a:prstGeom prst="rect">
            <a:avLst/>
          </a:prstGeom>
          <a:noFill/>
          <a:ln/>
        </p:spPr>
        <p:txBody>
          <a:bodyPr wrap="square" lIns="0" tIns="0" rIns="0" bIns="0" rtlCol="0" anchor="ctr"/>
          <a:lstStyle/>
          <a:p>
            <a:pPr marL="0" indent="0">
              <a:buNone/>
            </a:pPr>
            <a:r>
              <a:rPr lang="en-US" sz="1250" b="1" dirty="0">
                <a:solidFill>
                  <a:srgbClr val="06474F"/>
                </a:solidFill>
                <a:latin typeface="Calibri" pitchFamily="34" charset="0"/>
                <a:ea typeface="Calibri" pitchFamily="34" charset="-122"/>
                <a:cs typeface="Calibri" pitchFamily="34" charset="-120"/>
              </a:rPr>
              <a:t>requirements specified</a:t>
            </a:r>
            <a:endParaRPr lang="en-US" sz="1250" dirty="0"/>
          </a:p>
        </p:txBody>
      </p:sp>
      <p:sp>
        <p:nvSpPr>
          <p:cNvPr id="13" name="Text 11"/>
          <p:cNvSpPr/>
          <p:nvPr/>
        </p:nvSpPr>
        <p:spPr>
          <a:xfrm>
            <a:off x="3483864" y="2651760"/>
            <a:ext cx="2286000" cy="502920"/>
          </a:xfrm>
          <a:prstGeom prst="rect">
            <a:avLst/>
          </a:prstGeom>
          <a:noFill/>
          <a:ln/>
        </p:spPr>
        <p:txBody>
          <a:bodyPr wrap="square" lIns="0" tIns="0" rIns="0" bIns="0" rtlCol="0" anchor="ctr"/>
          <a:lstStyle/>
          <a:p>
            <a:pPr marL="0" indent="0">
              <a:buNone/>
            </a:pPr>
            <a:r>
              <a:rPr lang="en-US" sz="1050" dirty="0">
                <a:solidFill>
                  <a:srgbClr val="5C6E71"/>
                </a:solidFill>
                <a:latin typeface="Calibri" pitchFamily="34" charset="0"/>
                <a:ea typeface="Calibri" pitchFamily="34" charset="-122"/>
                <a:cs typeface="Calibri" pitchFamily="34" charset="-120"/>
              </a:rPr>
              <a:t>50 functional, 22 NFR, 10 technical</a:t>
            </a:r>
            <a:endParaRPr lang="en-US" sz="1050" dirty="0"/>
          </a:p>
        </p:txBody>
      </p:sp>
      <p:sp>
        <p:nvSpPr>
          <p:cNvPr id="14" name="Shape 12"/>
          <p:cNvSpPr/>
          <p:nvPr/>
        </p:nvSpPr>
        <p:spPr>
          <a:xfrm>
            <a:off x="6126480" y="1554480"/>
            <a:ext cx="2560320" cy="1691640"/>
          </a:xfrm>
          <a:prstGeom prst="roundRect">
            <a:avLst>
              <a:gd name="adj" fmla="val 4324"/>
            </a:avLst>
          </a:prstGeom>
          <a:solidFill>
            <a:srgbClr val="EEF4F4"/>
          </a:solidFill>
          <a:ln w="9525">
            <a:solidFill>
              <a:srgbClr val="EEF4F4"/>
            </a:solidFill>
            <a:prstDash val="solid"/>
          </a:ln>
          <a:effectLst>
            <a:outerShdw blurRad="101600" dist="25400" dir="5400000" algn="bl" rotWithShape="0">
              <a:srgbClr val="0A2B31">
                <a:alpha val="10000"/>
              </a:srgbClr>
            </a:outerShdw>
          </a:effectLst>
        </p:spPr>
      </p:sp>
      <p:sp>
        <p:nvSpPr>
          <p:cNvPr id="15" name="Text 13"/>
          <p:cNvSpPr/>
          <p:nvPr/>
        </p:nvSpPr>
        <p:spPr>
          <a:xfrm>
            <a:off x="6272784" y="1691640"/>
            <a:ext cx="2286000" cy="685800"/>
          </a:xfrm>
          <a:prstGeom prst="rect">
            <a:avLst/>
          </a:prstGeom>
          <a:noFill/>
          <a:ln/>
        </p:spPr>
        <p:txBody>
          <a:bodyPr wrap="square" lIns="0" tIns="0" rIns="0" bIns="0" rtlCol="0" anchor="ctr"/>
          <a:lstStyle/>
          <a:p>
            <a:pPr marL="0" indent="0">
              <a:buNone/>
            </a:pPr>
            <a:r>
              <a:rPr lang="en-US" sz="3400" b="1" dirty="0">
                <a:solidFill>
                  <a:srgbClr val="E08A3C"/>
                </a:solidFill>
                <a:latin typeface="Cambria" pitchFamily="34" charset="0"/>
                <a:ea typeface="Cambria" pitchFamily="34" charset="-122"/>
                <a:cs typeface="Cambria" pitchFamily="34" charset="-120"/>
              </a:rPr>
              <a:t>2,055</a:t>
            </a:r>
            <a:endParaRPr lang="en-US" sz="3400" dirty="0"/>
          </a:p>
        </p:txBody>
      </p:sp>
      <p:sp>
        <p:nvSpPr>
          <p:cNvPr id="16" name="Text 14"/>
          <p:cNvSpPr/>
          <p:nvPr/>
        </p:nvSpPr>
        <p:spPr>
          <a:xfrm>
            <a:off x="6272784" y="2377440"/>
            <a:ext cx="2286000" cy="274320"/>
          </a:xfrm>
          <a:prstGeom prst="rect">
            <a:avLst/>
          </a:prstGeom>
          <a:noFill/>
          <a:ln/>
        </p:spPr>
        <p:txBody>
          <a:bodyPr wrap="square" lIns="0" tIns="0" rIns="0" bIns="0" rtlCol="0" anchor="ctr"/>
          <a:lstStyle/>
          <a:p>
            <a:pPr marL="0" indent="0">
              <a:buNone/>
            </a:pPr>
            <a:r>
              <a:rPr lang="en-US" sz="1250" b="1" dirty="0">
                <a:solidFill>
                  <a:srgbClr val="06474F"/>
                </a:solidFill>
                <a:latin typeface="Calibri" pitchFamily="34" charset="0"/>
                <a:ea typeface="Calibri" pitchFamily="34" charset="-122"/>
                <a:cs typeface="Calibri" pitchFamily="34" charset="-120"/>
              </a:rPr>
              <a:t>media assets inventoried</a:t>
            </a:r>
            <a:endParaRPr lang="en-US" sz="1250" dirty="0"/>
          </a:p>
        </p:txBody>
      </p:sp>
      <p:sp>
        <p:nvSpPr>
          <p:cNvPr id="17" name="Text 15"/>
          <p:cNvSpPr/>
          <p:nvPr/>
        </p:nvSpPr>
        <p:spPr>
          <a:xfrm>
            <a:off x="6272784" y="2651760"/>
            <a:ext cx="2286000" cy="502920"/>
          </a:xfrm>
          <a:prstGeom prst="rect">
            <a:avLst/>
          </a:prstGeom>
          <a:noFill/>
          <a:ln/>
        </p:spPr>
        <p:txBody>
          <a:bodyPr wrap="square" lIns="0" tIns="0" rIns="0" bIns="0" rtlCol="0" anchor="ctr"/>
          <a:lstStyle/>
          <a:p>
            <a:pPr marL="0" indent="0">
              <a:buNone/>
            </a:pPr>
            <a:r>
              <a:rPr lang="en-US" sz="1050" dirty="0">
                <a:solidFill>
                  <a:srgbClr val="5C6E71"/>
                </a:solidFill>
                <a:latin typeface="Calibri" pitchFamily="34" charset="0"/>
                <a:ea typeface="Calibri" pitchFamily="34" charset="-122"/>
                <a:cs typeface="Calibri" pitchFamily="34" charset="-120"/>
              </a:rPr>
              <a:t>776 images, 1,279 audio files</a:t>
            </a:r>
            <a:endParaRPr lang="en-US" sz="1050" dirty="0"/>
          </a:p>
        </p:txBody>
      </p:sp>
      <p:sp>
        <p:nvSpPr>
          <p:cNvPr id="18" name="Shape 16"/>
          <p:cNvSpPr/>
          <p:nvPr/>
        </p:nvSpPr>
        <p:spPr>
          <a:xfrm>
            <a:off x="8915400" y="1554480"/>
            <a:ext cx="2560320" cy="1691640"/>
          </a:xfrm>
          <a:prstGeom prst="roundRect">
            <a:avLst>
              <a:gd name="adj" fmla="val 4324"/>
            </a:avLst>
          </a:prstGeom>
          <a:solidFill>
            <a:srgbClr val="EEF4F4"/>
          </a:solidFill>
          <a:ln w="9525">
            <a:solidFill>
              <a:srgbClr val="EEF4F4"/>
            </a:solidFill>
            <a:prstDash val="solid"/>
          </a:ln>
          <a:effectLst>
            <a:outerShdw blurRad="101600" dist="25400" dir="5400000" algn="bl" rotWithShape="0">
              <a:srgbClr val="0A2B31">
                <a:alpha val="10000"/>
              </a:srgbClr>
            </a:outerShdw>
          </a:effectLst>
        </p:spPr>
      </p:sp>
      <p:sp>
        <p:nvSpPr>
          <p:cNvPr id="19" name="Text 17"/>
          <p:cNvSpPr/>
          <p:nvPr/>
        </p:nvSpPr>
        <p:spPr>
          <a:xfrm>
            <a:off x="9061704" y="1691640"/>
            <a:ext cx="2286000" cy="685800"/>
          </a:xfrm>
          <a:prstGeom prst="rect">
            <a:avLst/>
          </a:prstGeom>
          <a:noFill/>
          <a:ln/>
        </p:spPr>
        <p:txBody>
          <a:bodyPr wrap="square" lIns="0" tIns="0" rIns="0" bIns="0" rtlCol="0" anchor="ctr"/>
          <a:lstStyle/>
          <a:p>
            <a:pPr marL="0" indent="0">
              <a:buNone/>
            </a:pPr>
            <a:r>
              <a:rPr lang="en-US" sz="3400" b="1" dirty="0">
                <a:solidFill>
                  <a:srgbClr val="50808E"/>
                </a:solidFill>
                <a:latin typeface="Cambria" pitchFamily="34" charset="0"/>
                <a:ea typeface="Cambria" pitchFamily="34" charset="-122"/>
                <a:cs typeface="Cambria" pitchFamily="34" charset="-120"/>
              </a:rPr>
              <a:t>0</a:t>
            </a:r>
            <a:endParaRPr lang="en-US" sz="3400" dirty="0"/>
          </a:p>
        </p:txBody>
      </p:sp>
      <p:sp>
        <p:nvSpPr>
          <p:cNvPr id="20" name="Text 18"/>
          <p:cNvSpPr/>
          <p:nvPr/>
        </p:nvSpPr>
        <p:spPr>
          <a:xfrm>
            <a:off x="9061704" y="2377440"/>
            <a:ext cx="2286000" cy="274320"/>
          </a:xfrm>
          <a:prstGeom prst="rect">
            <a:avLst/>
          </a:prstGeom>
          <a:noFill/>
          <a:ln/>
        </p:spPr>
        <p:txBody>
          <a:bodyPr wrap="square" lIns="0" tIns="0" rIns="0" bIns="0" rtlCol="0" anchor="ctr"/>
          <a:lstStyle/>
          <a:p>
            <a:pPr marL="0" indent="0">
              <a:buNone/>
            </a:pPr>
            <a:r>
              <a:rPr lang="en-US" sz="1250" b="1" dirty="0">
                <a:solidFill>
                  <a:srgbClr val="06474F"/>
                </a:solidFill>
                <a:latin typeface="Calibri" pitchFamily="34" charset="0"/>
                <a:ea typeface="Calibri" pitchFamily="34" charset="-122"/>
                <a:cs typeface="Calibri" pitchFamily="34" charset="-120"/>
              </a:rPr>
              <a:t>lines of production code</a:t>
            </a:r>
            <a:endParaRPr lang="en-US" sz="1250" dirty="0"/>
          </a:p>
        </p:txBody>
      </p:sp>
      <p:sp>
        <p:nvSpPr>
          <p:cNvPr id="21" name="Text 19"/>
          <p:cNvSpPr/>
          <p:nvPr/>
        </p:nvSpPr>
        <p:spPr>
          <a:xfrm>
            <a:off x="9061704" y="2651760"/>
            <a:ext cx="2286000" cy="502920"/>
          </a:xfrm>
          <a:prstGeom prst="rect">
            <a:avLst/>
          </a:prstGeom>
          <a:noFill/>
          <a:ln/>
        </p:spPr>
        <p:txBody>
          <a:bodyPr wrap="square" lIns="0" tIns="0" rIns="0" bIns="0" rtlCol="0" anchor="ctr"/>
          <a:lstStyle/>
          <a:p>
            <a:pPr marL="0" indent="0">
              <a:buNone/>
            </a:pPr>
            <a:r>
              <a:rPr lang="en-US" sz="1050" dirty="0">
                <a:solidFill>
                  <a:srgbClr val="5C6E71"/>
                </a:solidFill>
                <a:latin typeface="Calibri" pitchFamily="34" charset="0"/>
                <a:ea typeface="Calibri" pitchFamily="34" charset="-122"/>
                <a:cs typeface="Calibri" pitchFamily="34" charset="-120"/>
              </a:rPr>
              <a:t>Build starts on approval</a:t>
            </a:r>
            <a:endParaRPr lang="en-US" sz="1050" dirty="0"/>
          </a:p>
        </p:txBody>
      </p:sp>
      <p:sp>
        <p:nvSpPr>
          <p:cNvPr id="22" name="Text 20"/>
          <p:cNvSpPr/>
          <p:nvPr/>
        </p:nvSpPr>
        <p:spPr>
          <a:xfrm>
            <a:off x="548640" y="3611880"/>
            <a:ext cx="5486400" cy="274320"/>
          </a:xfrm>
          <a:prstGeom prst="rect">
            <a:avLst/>
          </a:prstGeom>
          <a:noFill/>
          <a:ln/>
        </p:spPr>
        <p:txBody>
          <a:bodyPr wrap="square" lIns="0" tIns="0" rIns="0" bIns="0" rtlCol="0" anchor="ctr"/>
          <a:lstStyle/>
          <a:p>
            <a:pPr marL="0" indent="0">
              <a:buNone/>
            </a:pPr>
            <a:r>
              <a:rPr lang="en-US" sz="1300" b="1" dirty="0">
                <a:solidFill>
                  <a:srgbClr val="06474F"/>
                </a:solidFill>
                <a:latin typeface="Calibri" pitchFamily="34" charset="0"/>
                <a:ea typeface="Calibri" pitchFamily="34" charset="-122"/>
                <a:cs typeface="Calibri" pitchFamily="34" charset="-120"/>
              </a:rPr>
              <a:t>Delivery phases</a:t>
            </a:r>
            <a:endParaRPr lang="en-US" sz="1300" dirty="0"/>
          </a:p>
        </p:txBody>
      </p:sp>
      <p:sp>
        <p:nvSpPr>
          <p:cNvPr id="23" name="Shape 21"/>
          <p:cNvSpPr/>
          <p:nvPr/>
        </p:nvSpPr>
        <p:spPr>
          <a:xfrm>
            <a:off x="548640" y="3977640"/>
            <a:ext cx="1303020" cy="310896"/>
          </a:xfrm>
          <a:prstGeom prst="roundRect">
            <a:avLst>
              <a:gd name="adj" fmla="val 17647"/>
            </a:avLst>
          </a:prstGeom>
          <a:solidFill>
            <a:srgbClr val="00A896"/>
          </a:solidFill>
          <a:ln w="9525">
            <a:solidFill>
              <a:srgbClr val="00A896"/>
            </a:solidFill>
            <a:prstDash val="solid"/>
          </a:ln>
        </p:spPr>
      </p:sp>
      <p:sp>
        <p:nvSpPr>
          <p:cNvPr id="24" name="Text 22"/>
          <p:cNvSpPr/>
          <p:nvPr/>
        </p:nvSpPr>
        <p:spPr>
          <a:xfrm>
            <a:off x="548640" y="3977640"/>
            <a:ext cx="1303020"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DONE</a:t>
            </a:r>
            <a:endParaRPr lang="en-US" sz="950" dirty="0"/>
          </a:p>
        </p:txBody>
      </p:sp>
      <p:sp>
        <p:nvSpPr>
          <p:cNvPr id="25" name="Text 23"/>
          <p:cNvSpPr/>
          <p:nvPr/>
        </p:nvSpPr>
        <p:spPr>
          <a:xfrm>
            <a:off x="502920" y="4343400"/>
            <a:ext cx="1394460" cy="457200"/>
          </a:xfrm>
          <a:prstGeom prst="rect">
            <a:avLst/>
          </a:prstGeom>
          <a:noFill/>
          <a:ln/>
        </p:spPr>
        <p:txBody>
          <a:bodyPr wrap="square" lIns="0" tIns="0" rIns="0" bIns="0" rtlCol="0" anchor="ctr"/>
          <a:lstStyle/>
          <a:p>
            <a:pPr marL="0" indent="0" algn="ctr">
              <a:buNone/>
            </a:pPr>
            <a:r>
              <a:rPr lang="en-US" sz="900" dirty="0">
                <a:solidFill>
                  <a:srgbClr val="5C6E71"/>
                </a:solidFill>
                <a:latin typeface="Calibri" pitchFamily="34" charset="0"/>
                <a:ea typeface="Calibri" pitchFamily="34" charset="-122"/>
                <a:cs typeface="Calibri" pitchFamily="34" charset="-120"/>
              </a:rPr>
              <a:t>Requirements</a:t>
            </a:r>
            <a:endParaRPr lang="en-US" sz="900" dirty="0"/>
          </a:p>
        </p:txBody>
      </p:sp>
      <p:sp>
        <p:nvSpPr>
          <p:cNvPr id="26" name="Shape 24"/>
          <p:cNvSpPr/>
          <p:nvPr/>
        </p:nvSpPr>
        <p:spPr>
          <a:xfrm>
            <a:off x="1943100" y="3977640"/>
            <a:ext cx="1303020" cy="310896"/>
          </a:xfrm>
          <a:prstGeom prst="roundRect">
            <a:avLst>
              <a:gd name="adj" fmla="val 17647"/>
            </a:avLst>
          </a:prstGeom>
          <a:solidFill>
            <a:srgbClr val="00A896"/>
          </a:solidFill>
          <a:ln w="9525">
            <a:solidFill>
              <a:srgbClr val="00A896"/>
            </a:solidFill>
            <a:prstDash val="solid"/>
          </a:ln>
        </p:spPr>
      </p:sp>
      <p:sp>
        <p:nvSpPr>
          <p:cNvPr id="27" name="Text 25"/>
          <p:cNvSpPr/>
          <p:nvPr/>
        </p:nvSpPr>
        <p:spPr>
          <a:xfrm>
            <a:off x="1943100" y="3977640"/>
            <a:ext cx="1303020" cy="310896"/>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DONE</a:t>
            </a:r>
            <a:endParaRPr lang="en-US" sz="950" dirty="0"/>
          </a:p>
        </p:txBody>
      </p:sp>
      <p:sp>
        <p:nvSpPr>
          <p:cNvPr id="28" name="Text 26"/>
          <p:cNvSpPr/>
          <p:nvPr/>
        </p:nvSpPr>
        <p:spPr>
          <a:xfrm>
            <a:off x="1897380" y="4343400"/>
            <a:ext cx="1394460" cy="457200"/>
          </a:xfrm>
          <a:prstGeom prst="rect">
            <a:avLst/>
          </a:prstGeom>
          <a:noFill/>
          <a:ln/>
        </p:spPr>
        <p:txBody>
          <a:bodyPr wrap="square" lIns="0" tIns="0" rIns="0" bIns="0" rtlCol="0" anchor="ctr"/>
          <a:lstStyle/>
          <a:p>
            <a:pPr marL="0" indent="0" algn="ctr">
              <a:buNone/>
            </a:pPr>
            <a:r>
              <a:rPr lang="en-US" sz="900" dirty="0">
                <a:solidFill>
                  <a:srgbClr val="5C6E71"/>
                </a:solidFill>
                <a:latin typeface="Calibri" pitchFamily="34" charset="0"/>
                <a:ea typeface="Calibri" pitchFamily="34" charset="-122"/>
                <a:cs typeface="Calibri" pitchFamily="34" charset="-120"/>
              </a:rPr>
              <a:t>Architecture &amp; design</a:t>
            </a:r>
            <a:endParaRPr lang="en-US" sz="900" dirty="0"/>
          </a:p>
        </p:txBody>
      </p:sp>
      <p:sp>
        <p:nvSpPr>
          <p:cNvPr id="29" name="Shape 27"/>
          <p:cNvSpPr/>
          <p:nvPr/>
        </p:nvSpPr>
        <p:spPr>
          <a:xfrm>
            <a:off x="3337560" y="3977640"/>
            <a:ext cx="1303020" cy="310896"/>
          </a:xfrm>
          <a:prstGeom prst="roundRect">
            <a:avLst>
              <a:gd name="adj" fmla="val 17647"/>
            </a:avLst>
          </a:prstGeom>
          <a:solidFill>
            <a:srgbClr val="E6ECEC"/>
          </a:solidFill>
          <a:ln w="9525">
            <a:solidFill>
              <a:srgbClr val="D5E0E1"/>
            </a:solidFill>
            <a:prstDash val="solid"/>
          </a:ln>
        </p:spPr>
      </p:sp>
      <p:sp>
        <p:nvSpPr>
          <p:cNvPr id="30" name="Text 28"/>
          <p:cNvSpPr/>
          <p:nvPr/>
        </p:nvSpPr>
        <p:spPr>
          <a:xfrm>
            <a:off x="3337560" y="3977640"/>
            <a:ext cx="1303020" cy="310896"/>
          </a:xfrm>
          <a:prstGeom prst="rect">
            <a:avLst/>
          </a:prstGeom>
          <a:noFill/>
          <a:ln/>
        </p:spPr>
        <p:txBody>
          <a:bodyPr wrap="square" lIns="0" tIns="0" rIns="0" bIns="0" rtlCol="0" anchor="ctr"/>
          <a:lstStyle/>
          <a:p>
            <a:pPr marL="0" indent="0" algn="ctr">
              <a:buNone/>
            </a:pPr>
            <a:r>
              <a:rPr lang="en-US" sz="950" b="1" dirty="0">
                <a:solidFill>
                  <a:srgbClr val="9AA8AB"/>
                </a:solidFill>
                <a:latin typeface="Calibri" pitchFamily="34" charset="0"/>
                <a:ea typeface="Calibri" pitchFamily="34" charset="-122"/>
                <a:cs typeface="Calibri" pitchFamily="34" charset="-120"/>
              </a:rPr>
              <a:t>TO DO</a:t>
            </a:r>
            <a:endParaRPr lang="en-US" sz="950" dirty="0"/>
          </a:p>
        </p:txBody>
      </p:sp>
      <p:sp>
        <p:nvSpPr>
          <p:cNvPr id="31" name="Text 29"/>
          <p:cNvSpPr/>
          <p:nvPr/>
        </p:nvSpPr>
        <p:spPr>
          <a:xfrm>
            <a:off x="3291840" y="4343400"/>
            <a:ext cx="1394460" cy="457200"/>
          </a:xfrm>
          <a:prstGeom prst="rect">
            <a:avLst/>
          </a:prstGeom>
          <a:noFill/>
          <a:ln/>
        </p:spPr>
        <p:txBody>
          <a:bodyPr wrap="square" lIns="0" tIns="0" rIns="0" bIns="0" rtlCol="0" anchor="ctr"/>
          <a:lstStyle/>
          <a:p>
            <a:pPr marL="0" indent="0" algn="ctr">
              <a:buNone/>
            </a:pPr>
            <a:r>
              <a:rPr lang="en-US" sz="900" dirty="0">
                <a:solidFill>
                  <a:srgbClr val="5C6E71"/>
                </a:solidFill>
                <a:latin typeface="Calibri" pitchFamily="34" charset="0"/>
                <a:ea typeface="Calibri" pitchFamily="34" charset="-122"/>
                <a:cs typeface="Calibri" pitchFamily="34" charset="-120"/>
              </a:rPr>
              <a:t>Foundation &amp; CI</a:t>
            </a:r>
            <a:endParaRPr lang="en-US" sz="900" dirty="0"/>
          </a:p>
        </p:txBody>
      </p:sp>
      <p:sp>
        <p:nvSpPr>
          <p:cNvPr id="32" name="Shape 30"/>
          <p:cNvSpPr/>
          <p:nvPr/>
        </p:nvSpPr>
        <p:spPr>
          <a:xfrm>
            <a:off x="4732020" y="3977640"/>
            <a:ext cx="1303020" cy="310896"/>
          </a:xfrm>
          <a:prstGeom prst="roundRect">
            <a:avLst>
              <a:gd name="adj" fmla="val 17647"/>
            </a:avLst>
          </a:prstGeom>
          <a:solidFill>
            <a:srgbClr val="E6ECEC"/>
          </a:solidFill>
          <a:ln w="9525">
            <a:solidFill>
              <a:srgbClr val="D5E0E1"/>
            </a:solidFill>
            <a:prstDash val="solid"/>
          </a:ln>
        </p:spPr>
      </p:sp>
      <p:sp>
        <p:nvSpPr>
          <p:cNvPr id="33" name="Text 31"/>
          <p:cNvSpPr/>
          <p:nvPr/>
        </p:nvSpPr>
        <p:spPr>
          <a:xfrm>
            <a:off x="4732020" y="3977640"/>
            <a:ext cx="1303020" cy="310896"/>
          </a:xfrm>
          <a:prstGeom prst="rect">
            <a:avLst/>
          </a:prstGeom>
          <a:noFill/>
          <a:ln/>
        </p:spPr>
        <p:txBody>
          <a:bodyPr wrap="square" lIns="0" tIns="0" rIns="0" bIns="0" rtlCol="0" anchor="ctr"/>
          <a:lstStyle/>
          <a:p>
            <a:pPr marL="0" indent="0" algn="ctr">
              <a:buNone/>
            </a:pPr>
            <a:r>
              <a:rPr lang="en-US" sz="950" b="1" dirty="0">
                <a:solidFill>
                  <a:srgbClr val="9AA8AB"/>
                </a:solidFill>
                <a:latin typeface="Calibri" pitchFamily="34" charset="0"/>
                <a:ea typeface="Calibri" pitchFamily="34" charset="-122"/>
                <a:cs typeface="Calibri" pitchFamily="34" charset="-120"/>
              </a:rPr>
              <a:t>TO DO</a:t>
            </a:r>
            <a:endParaRPr lang="en-US" sz="950" dirty="0"/>
          </a:p>
        </p:txBody>
      </p:sp>
      <p:sp>
        <p:nvSpPr>
          <p:cNvPr id="34" name="Text 32"/>
          <p:cNvSpPr/>
          <p:nvPr/>
        </p:nvSpPr>
        <p:spPr>
          <a:xfrm>
            <a:off x="4686300" y="4343400"/>
            <a:ext cx="1394460" cy="457200"/>
          </a:xfrm>
          <a:prstGeom prst="rect">
            <a:avLst/>
          </a:prstGeom>
          <a:noFill/>
          <a:ln/>
        </p:spPr>
        <p:txBody>
          <a:bodyPr wrap="square" lIns="0" tIns="0" rIns="0" bIns="0" rtlCol="0" anchor="ctr"/>
          <a:lstStyle/>
          <a:p>
            <a:pPr marL="0" indent="0" algn="ctr">
              <a:buNone/>
            </a:pPr>
            <a:r>
              <a:rPr lang="en-US" sz="900" dirty="0">
                <a:solidFill>
                  <a:srgbClr val="5C6E71"/>
                </a:solidFill>
                <a:latin typeface="Calibri" pitchFamily="34" charset="0"/>
                <a:ea typeface="Calibri" pitchFamily="34" charset="-122"/>
                <a:cs typeface="Calibri" pitchFamily="34" charset="-120"/>
              </a:rPr>
              <a:t>Accounts &amp; access control</a:t>
            </a:r>
            <a:endParaRPr lang="en-US" sz="900" dirty="0"/>
          </a:p>
        </p:txBody>
      </p:sp>
      <p:sp>
        <p:nvSpPr>
          <p:cNvPr id="35" name="Shape 33"/>
          <p:cNvSpPr/>
          <p:nvPr/>
        </p:nvSpPr>
        <p:spPr>
          <a:xfrm>
            <a:off x="6126480" y="3977640"/>
            <a:ext cx="1303020" cy="310896"/>
          </a:xfrm>
          <a:prstGeom prst="roundRect">
            <a:avLst>
              <a:gd name="adj" fmla="val 17647"/>
            </a:avLst>
          </a:prstGeom>
          <a:solidFill>
            <a:srgbClr val="E6ECEC"/>
          </a:solidFill>
          <a:ln w="9525">
            <a:solidFill>
              <a:srgbClr val="D5E0E1"/>
            </a:solidFill>
            <a:prstDash val="solid"/>
          </a:ln>
        </p:spPr>
      </p:sp>
      <p:sp>
        <p:nvSpPr>
          <p:cNvPr id="36" name="Text 34"/>
          <p:cNvSpPr/>
          <p:nvPr/>
        </p:nvSpPr>
        <p:spPr>
          <a:xfrm>
            <a:off x="6126480" y="3977640"/>
            <a:ext cx="1303020" cy="310896"/>
          </a:xfrm>
          <a:prstGeom prst="rect">
            <a:avLst/>
          </a:prstGeom>
          <a:noFill/>
          <a:ln/>
        </p:spPr>
        <p:txBody>
          <a:bodyPr wrap="square" lIns="0" tIns="0" rIns="0" bIns="0" rtlCol="0" anchor="ctr"/>
          <a:lstStyle/>
          <a:p>
            <a:pPr marL="0" indent="0" algn="ctr">
              <a:buNone/>
            </a:pPr>
            <a:r>
              <a:rPr lang="en-US" sz="950" b="1" dirty="0">
                <a:solidFill>
                  <a:srgbClr val="9AA8AB"/>
                </a:solidFill>
                <a:latin typeface="Calibri" pitchFamily="34" charset="0"/>
                <a:ea typeface="Calibri" pitchFamily="34" charset="-122"/>
                <a:cs typeface="Calibri" pitchFamily="34" charset="-120"/>
              </a:rPr>
              <a:t>TO DO</a:t>
            </a:r>
            <a:endParaRPr lang="en-US" sz="950" dirty="0"/>
          </a:p>
        </p:txBody>
      </p:sp>
      <p:sp>
        <p:nvSpPr>
          <p:cNvPr id="37" name="Text 35"/>
          <p:cNvSpPr/>
          <p:nvPr/>
        </p:nvSpPr>
        <p:spPr>
          <a:xfrm>
            <a:off x="6080760" y="4343400"/>
            <a:ext cx="1394460" cy="457200"/>
          </a:xfrm>
          <a:prstGeom prst="rect">
            <a:avLst/>
          </a:prstGeom>
          <a:noFill/>
          <a:ln/>
        </p:spPr>
        <p:txBody>
          <a:bodyPr wrap="square" lIns="0" tIns="0" rIns="0" bIns="0" rtlCol="0" anchor="ctr"/>
          <a:lstStyle/>
          <a:p>
            <a:pPr marL="0" indent="0" algn="ctr">
              <a:buNone/>
            </a:pPr>
            <a:r>
              <a:rPr lang="en-US" sz="900" dirty="0">
                <a:solidFill>
                  <a:srgbClr val="5C6E71"/>
                </a:solidFill>
                <a:latin typeface="Calibri" pitchFamily="34" charset="0"/>
                <a:ea typeface="Calibri" pitchFamily="34" charset="-122"/>
                <a:cs typeface="Calibri" pitchFamily="34" charset="-120"/>
              </a:rPr>
              <a:t>Content model &amp; importer</a:t>
            </a:r>
            <a:endParaRPr lang="en-US" sz="900" dirty="0"/>
          </a:p>
        </p:txBody>
      </p:sp>
      <p:sp>
        <p:nvSpPr>
          <p:cNvPr id="38" name="Shape 36"/>
          <p:cNvSpPr/>
          <p:nvPr/>
        </p:nvSpPr>
        <p:spPr>
          <a:xfrm>
            <a:off x="7520940" y="3977640"/>
            <a:ext cx="1303020" cy="310896"/>
          </a:xfrm>
          <a:prstGeom prst="roundRect">
            <a:avLst>
              <a:gd name="adj" fmla="val 17647"/>
            </a:avLst>
          </a:prstGeom>
          <a:solidFill>
            <a:srgbClr val="E6ECEC"/>
          </a:solidFill>
          <a:ln w="9525">
            <a:solidFill>
              <a:srgbClr val="D5E0E1"/>
            </a:solidFill>
            <a:prstDash val="solid"/>
          </a:ln>
        </p:spPr>
      </p:sp>
      <p:sp>
        <p:nvSpPr>
          <p:cNvPr id="39" name="Text 37"/>
          <p:cNvSpPr/>
          <p:nvPr/>
        </p:nvSpPr>
        <p:spPr>
          <a:xfrm>
            <a:off x="7520940" y="3977640"/>
            <a:ext cx="1303020" cy="310896"/>
          </a:xfrm>
          <a:prstGeom prst="rect">
            <a:avLst/>
          </a:prstGeom>
          <a:noFill/>
          <a:ln/>
        </p:spPr>
        <p:txBody>
          <a:bodyPr wrap="square" lIns="0" tIns="0" rIns="0" bIns="0" rtlCol="0" anchor="ctr"/>
          <a:lstStyle/>
          <a:p>
            <a:pPr marL="0" indent="0" algn="ctr">
              <a:buNone/>
            </a:pPr>
            <a:r>
              <a:rPr lang="en-US" sz="950" b="1" dirty="0">
                <a:solidFill>
                  <a:srgbClr val="9AA8AB"/>
                </a:solidFill>
                <a:latin typeface="Calibri" pitchFamily="34" charset="0"/>
                <a:ea typeface="Calibri" pitchFamily="34" charset="-122"/>
                <a:cs typeface="Calibri" pitchFamily="34" charset="-120"/>
              </a:rPr>
              <a:t>TO DO</a:t>
            </a:r>
            <a:endParaRPr lang="en-US" sz="950" dirty="0"/>
          </a:p>
        </p:txBody>
      </p:sp>
      <p:sp>
        <p:nvSpPr>
          <p:cNvPr id="40" name="Text 38"/>
          <p:cNvSpPr/>
          <p:nvPr/>
        </p:nvSpPr>
        <p:spPr>
          <a:xfrm>
            <a:off x="7475220" y="4343400"/>
            <a:ext cx="1394460" cy="457200"/>
          </a:xfrm>
          <a:prstGeom prst="rect">
            <a:avLst/>
          </a:prstGeom>
          <a:noFill/>
          <a:ln/>
        </p:spPr>
        <p:txBody>
          <a:bodyPr wrap="square" lIns="0" tIns="0" rIns="0" bIns="0" rtlCol="0" anchor="ctr"/>
          <a:lstStyle/>
          <a:p>
            <a:pPr marL="0" indent="0" algn="ctr">
              <a:buNone/>
            </a:pPr>
            <a:r>
              <a:rPr lang="en-US" sz="900" dirty="0">
                <a:solidFill>
                  <a:srgbClr val="5C6E71"/>
                </a:solidFill>
                <a:latin typeface="Calibri" pitchFamily="34" charset="0"/>
                <a:ea typeface="Calibri" pitchFamily="34" charset="-122"/>
                <a:cs typeface="Calibri" pitchFamily="34" charset="-120"/>
              </a:rPr>
              <a:t>Task engine</a:t>
            </a:r>
            <a:endParaRPr lang="en-US" sz="900" dirty="0"/>
          </a:p>
        </p:txBody>
      </p:sp>
      <p:sp>
        <p:nvSpPr>
          <p:cNvPr id="41" name="Shape 39"/>
          <p:cNvSpPr/>
          <p:nvPr/>
        </p:nvSpPr>
        <p:spPr>
          <a:xfrm>
            <a:off x="8915400" y="3977640"/>
            <a:ext cx="1303020" cy="310896"/>
          </a:xfrm>
          <a:prstGeom prst="roundRect">
            <a:avLst>
              <a:gd name="adj" fmla="val 17647"/>
            </a:avLst>
          </a:prstGeom>
          <a:solidFill>
            <a:srgbClr val="E6ECEC"/>
          </a:solidFill>
          <a:ln w="9525">
            <a:solidFill>
              <a:srgbClr val="D5E0E1"/>
            </a:solidFill>
            <a:prstDash val="solid"/>
          </a:ln>
        </p:spPr>
      </p:sp>
      <p:sp>
        <p:nvSpPr>
          <p:cNvPr id="42" name="Text 40"/>
          <p:cNvSpPr/>
          <p:nvPr/>
        </p:nvSpPr>
        <p:spPr>
          <a:xfrm>
            <a:off x="8915400" y="3977640"/>
            <a:ext cx="1303020" cy="310896"/>
          </a:xfrm>
          <a:prstGeom prst="rect">
            <a:avLst/>
          </a:prstGeom>
          <a:noFill/>
          <a:ln/>
        </p:spPr>
        <p:txBody>
          <a:bodyPr wrap="square" lIns="0" tIns="0" rIns="0" bIns="0" rtlCol="0" anchor="ctr"/>
          <a:lstStyle/>
          <a:p>
            <a:pPr marL="0" indent="0" algn="ctr">
              <a:buNone/>
            </a:pPr>
            <a:r>
              <a:rPr lang="en-US" sz="950" b="1" dirty="0">
                <a:solidFill>
                  <a:srgbClr val="9AA8AB"/>
                </a:solidFill>
                <a:latin typeface="Calibri" pitchFamily="34" charset="0"/>
                <a:ea typeface="Calibri" pitchFamily="34" charset="-122"/>
                <a:cs typeface="Calibri" pitchFamily="34" charset="-120"/>
              </a:rPr>
              <a:t>TO DO</a:t>
            </a:r>
            <a:endParaRPr lang="en-US" sz="950" dirty="0"/>
          </a:p>
        </p:txBody>
      </p:sp>
      <p:sp>
        <p:nvSpPr>
          <p:cNvPr id="43" name="Text 41"/>
          <p:cNvSpPr/>
          <p:nvPr/>
        </p:nvSpPr>
        <p:spPr>
          <a:xfrm>
            <a:off x="8869680" y="4343400"/>
            <a:ext cx="1394460" cy="457200"/>
          </a:xfrm>
          <a:prstGeom prst="rect">
            <a:avLst/>
          </a:prstGeom>
          <a:noFill/>
          <a:ln/>
        </p:spPr>
        <p:txBody>
          <a:bodyPr wrap="square" lIns="0" tIns="0" rIns="0" bIns="0" rtlCol="0" anchor="ctr"/>
          <a:lstStyle/>
          <a:p>
            <a:pPr marL="0" indent="0" algn="ctr">
              <a:buNone/>
            </a:pPr>
            <a:r>
              <a:rPr lang="en-US" sz="900" dirty="0">
                <a:solidFill>
                  <a:srgbClr val="5C6E71"/>
                </a:solidFill>
                <a:latin typeface="Calibri" pitchFamily="34" charset="0"/>
                <a:ea typeface="Calibri" pitchFamily="34" charset="-122"/>
                <a:cs typeface="Calibri" pitchFamily="34" charset="-120"/>
              </a:rPr>
              <a:t>Adaption &amp; dashboards</a:t>
            </a:r>
            <a:endParaRPr lang="en-US" sz="900" dirty="0"/>
          </a:p>
        </p:txBody>
      </p:sp>
      <p:sp>
        <p:nvSpPr>
          <p:cNvPr id="44" name="Shape 42"/>
          <p:cNvSpPr/>
          <p:nvPr/>
        </p:nvSpPr>
        <p:spPr>
          <a:xfrm>
            <a:off x="10309860" y="3977640"/>
            <a:ext cx="1303020" cy="310896"/>
          </a:xfrm>
          <a:prstGeom prst="roundRect">
            <a:avLst>
              <a:gd name="adj" fmla="val 17647"/>
            </a:avLst>
          </a:prstGeom>
          <a:solidFill>
            <a:srgbClr val="E6ECEC"/>
          </a:solidFill>
          <a:ln w="9525">
            <a:solidFill>
              <a:srgbClr val="D5E0E1"/>
            </a:solidFill>
            <a:prstDash val="solid"/>
          </a:ln>
        </p:spPr>
      </p:sp>
      <p:sp>
        <p:nvSpPr>
          <p:cNvPr id="45" name="Text 43"/>
          <p:cNvSpPr/>
          <p:nvPr/>
        </p:nvSpPr>
        <p:spPr>
          <a:xfrm>
            <a:off x="10309860" y="3977640"/>
            <a:ext cx="1303020" cy="310896"/>
          </a:xfrm>
          <a:prstGeom prst="rect">
            <a:avLst/>
          </a:prstGeom>
          <a:noFill/>
          <a:ln/>
        </p:spPr>
        <p:txBody>
          <a:bodyPr wrap="square" lIns="0" tIns="0" rIns="0" bIns="0" rtlCol="0" anchor="ctr"/>
          <a:lstStyle/>
          <a:p>
            <a:pPr marL="0" indent="0" algn="ctr">
              <a:buNone/>
            </a:pPr>
            <a:r>
              <a:rPr lang="en-US" sz="950" b="1" dirty="0">
                <a:solidFill>
                  <a:srgbClr val="9AA8AB"/>
                </a:solidFill>
                <a:latin typeface="Calibri" pitchFamily="34" charset="0"/>
                <a:ea typeface="Calibri" pitchFamily="34" charset="-122"/>
                <a:cs typeface="Calibri" pitchFamily="34" charset="-120"/>
              </a:rPr>
              <a:t>TO DO</a:t>
            </a:r>
            <a:endParaRPr lang="en-US" sz="950" dirty="0"/>
          </a:p>
        </p:txBody>
      </p:sp>
      <p:sp>
        <p:nvSpPr>
          <p:cNvPr id="46" name="Text 44"/>
          <p:cNvSpPr/>
          <p:nvPr/>
        </p:nvSpPr>
        <p:spPr>
          <a:xfrm>
            <a:off x="10264140" y="4343400"/>
            <a:ext cx="1394460" cy="457200"/>
          </a:xfrm>
          <a:prstGeom prst="rect">
            <a:avLst/>
          </a:prstGeom>
          <a:noFill/>
          <a:ln/>
        </p:spPr>
        <p:txBody>
          <a:bodyPr wrap="square" lIns="0" tIns="0" rIns="0" bIns="0" rtlCol="0" anchor="ctr"/>
          <a:lstStyle/>
          <a:p>
            <a:pPr marL="0" indent="0" algn="ctr">
              <a:buNone/>
            </a:pPr>
            <a:r>
              <a:rPr lang="en-US" sz="900" dirty="0">
                <a:solidFill>
                  <a:srgbClr val="5C6E71"/>
                </a:solidFill>
                <a:latin typeface="Calibri" pitchFamily="34" charset="0"/>
                <a:ea typeface="Calibri" pitchFamily="34" charset="-122"/>
                <a:cs typeface="Calibri" pitchFamily="34" charset="-120"/>
              </a:rPr>
              <a:t>QA, release, acceptance</a:t>
            </a:r>
            <a:endParaRPr lang="en-US" sz="900" dirty="0"/>
          </a:p>
        </p:txBody>
      </p:sp>
      <p:sp>
        <p:nvSpPr>
          <p:cNvPr id="47" name="Shape 45"/>
          <p:cNvSpPr/>
          <p:nvPr/>
        </p:nvSpPr>
        <p:spPr>
          <a:xfrm>
            <a:off x="548640" y="5074920"/>
            <a:ext cx="11064240" cy="1143000"/>
          </a:xfrm>
          <a:prstGeom prst="roundRect">
            <a:avLst>
              <a:gd name="adj" fmla="val 6400"/>
            </a:avLst>
          </a:prstGeom>
          <a:solidFill>
            <a:srgbClr val="FBF2E7"/>
          </a:solidFill>
          <a:ln w="9525">
            <a:solidFill>
              <a:srgbClr val="FBF2E7"/>
            </a:solidFill>
            <a:prstDash val="solid"/>
          </a:ln>
          <a:effectLst>
            <a:outerShdw blurRad="101600" dist="25400" dir="5400000" algn="bl" rotWithShape="0">
              <a:srgbClr val="0A2B31">
                <a:alpha val="10000"/>
              </a:srgbClr>
            </a:outerShdw>
          </a:effectLst>
        </p:spPr>
      </p:sp>
      <p:sp>
        <p:nvSpPr>
          <p:cNvPr id="48" name="Text 46"/>
          <p:cNvSpPr/>
          <p:nvPr/>
        </p:nvSpPr>
        <p:spPr>
          <a:xfrm>
            <a:off x="777240" y="5212080"/>
            <a:ext cx="10607040" cy="274320"/>
          </a:xfrm>
          <a:prstGeom prst="rect">
            <a:avLst/>
          </a:prstGeom>
          <a:noFill/>
          <a:ln/>
        </p:spPr>
        <p:txBody>
          <a:bodyPr wrap="square" lIns="0" tIns="0" rIns="0" bIns="0" rtlCol="0" anchor="ctr"/>
          <a:lstStyle/>
          <a:p>
            <a:pPr marL="0" indent="0">
              <a:buNone/>
            </a:pPr>
            <a:r>
              <a:rPr lang="en-US" sz="1300" b="1" dirty="0">
                <a:solidFill>
                  <a:srgbClr val="06474F"/>
                </a:solidFill>
                <a:latin typeface="Calibri" pitchFamily="34" charset="0"/>
                <a:ea typeface="Calibri" pitchFamily="34" charset="-122"/>
                <a:cs typeface="Calibri" pitchFamily="34" charset="-120"/>
              </a:rPr>
              <a:t>Why there is no code yet - and why that is the right answer</a:t>
            </a:r>
            <a:endParaRPr lang="en-US" sz="1300" dirty="0"/>
          </a:p>
        </p:txBody>
      </p:sp>
      <p:sp>
        <p:nvSpPr>
          <p:cNvPr id="49" name="Text 47"/>
          <p:cNvSpPr/>
          <p:nvPr/>
        </p:nvSpPr>
        <p:spPr>
          <a:xfrm>
            <a:off x="777240" y="5504688"/>
            <a:ext cx="10972800" cy="640080"/>
          </a:xfrm>
          <a:prstGeom prst="rect">
            <a:avLst/>
          </a:prstGeom>
          <a:noFill/>
          <a:ln/>
        </p:spPr>
        <p:txBody>
          <a:bodyPr wrap="square" lIns="0" tIns="0" rIns="0" bIns="0" rtlCol="0" anchor="ctr"/>
          <a:lstStyle/>
          <a:p>
            <a:pPr marL="0" indent="0">
              <a:lnSpc>
                <a:spcPts val="1500"/>
              </a:lnSpc>
              <a:buNone/>
            </a:pPr>
            <a:r>
              <a:rPr lang="en-US" sz="1150" dirty="0">
                <a:solidFill>
                  <a:srgbClr val="5C6E71"/>
                </a:solidFill>
                <a:latin typeface="Calibri" pitchFamily="34" charset="0"/>
                <a:ea typeface="Calibri" pitchFamily="34" charset="-122"/>
                <a:cs typeface="Calibri" pitchFamily="34" charset="-120"/>
              </a:rPr>
              <a:t>The learning material exists today as OpenSesame / OSWeb experiments on JATOS. Rewriting it as a school platform means committing to one data model for eleven different task types, to GDPR-grade access control, and to an EU deployment. Getting that wrong costs far more than the four weeks spent specifying it. The SRS and the design document are the deliverable of phases 1 and 2, and they are what makes phases 3 to 8 estimable.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200" b="1" dirty="0">
                <a:solidFill>
                  <a:srgbClr val="06474F"/>
                </a:solidFill>
                <a:latin typeface="Cambria" pitchFamily="34" charset="0"/>
                <a:ea typeface="Cambria" pitchFamily="34" charset="-122"/>
                <a:cs typeface="Cambria" pitchFamily="34" charset="-120"/>
              </a:rPr>
              <a:t>What is complete and locked</a:t>
            </a:r>
            <a:endParaRPr lang="en-US" sz="3200" dirty="0"/>
          </a:p>
        </p:txBody>
      </p:sp>
      <p:sp>
        <p:nvSpPr>
          <p:cNvPr id="3" name="Text 1"/>
          <p:cNvSpPr/>
          <p:nvPr/>
        </p:nvSpPr>
        <p:spPr>
          <a:xfrm>
            <a:off x="548640" y="941832"/>
            <a:ext cx="11064240" cy="310896"/>
          </a:xfrm>
          <a:prstGeom prst="rect">
            <a:avLst/>
          </a:prstGeom>
          <a:noFill/>
          <a:ln/>
        </p:spPr>
        <p:txBody>
          <a:bodyPr wrap="square" lIns="0" tIns="0" rIns="0" bIns="0" rtlCol="0" anchor="ctr"/>
          <a:lstStyle/>
          <a:p>
            <a:pPr marL="0" indent="0">
              <a:buNone/>
            </a:pPr>
            <a:r>
              <a:rPr lang="en-US" sz="1400" i="1" dirty="0">
                <a:solidFill>
                  <a:srgbClr val="5C6E71"/>
                </a:solidFill>
                <a:latin typeface="Calibri" pitchFamily="34" charset="0"/>
                <a:ea typeface="Calibri" pitchFamily="34" charset="-122"/>
                <a:cs typeface="Calibri" pitchFamily="34" charset="-120"/>
              </a:rPr>
              <a:t>Both documents are ready for your approval today</a:t>
            </a:r>
            <a:endParaRPr lang="en-US" sz="1400" dirty="0"/>
          </a:p>
        </p:txBody>
      </p:sp>
      <p:sp>
        <p:nvSpPr>
          <p:cNvPr id="4" name="Text 2"/>
          <p:cNvSpPr/>
          <p:nvPr/>
        </p:nvSpPr>
        <p:spPr>
          <a:xfrm>
            <a:off x="548640" y="6473952"/>
            <a:ext cx="5486400" cy="237744"/>
          </a:xfrm>
          <a:prstGeom prst="rect">
            <a:avLst/>
          </a:prstGeom>
          <a:noFill/>
          <a:ln/>
        </p:spPr>
        <p:txBody>
          <a:bodyPr wrap="square" lIns="0" tIns="0" rIns="0" bIns="0" rtlCol="0" anchor="ctr"/>
          <a:lstStyle/>
          <a:p>
            <a:pPr marL="0" indent="0">
              <a:buNone/>
            </a:pPr>
            <a:r>
              <a:rPr lang="en-US" sz="900" dirty="0">
                <a:solidFill>
                  <a:srgbClr val="B9C4C6"/>
                </a:solidFill>
                <a:latin typeface="Calibri" pitchFamily="34" charset="0"/>
                <a:ea typeface="Calibri" pitchFamily="34" charset="-122"/>
                <a:cs typeface="Calibri" pitchFamily="34" charset="-120"/>
              </a:rPr>
              <a:t>SPEAK  |  Status &amp; Delivery Plan  |  12 July 2026</a:t>
            </a:r>
            <a:endParaRPr lang="en-US" sz="900" dirty="0"/>
          </a:p>
        </p:txBody>
      </p:sp>
      <p:sp>
        <p:nvSpPr>
          <p:cNvPr id="5" name="Text 3"/>
          <p:cNvSpPr/>
          <p:nvPr/>
        </p:nvSpPr>
        <p:spPr>
          <a:xfrm>
            <a:off x="11064240" y="6473952"/>
            <a:ext cx="548640" cy="237744"/>
          </a:xfrm>
          <a:prstGeom prst="rect">
            <a:avLst/>
          </a:prstGeom>
          <a:noFill/>
          <a:ln/>
        </p:spPr>
        <p:txBody>
          <a:bodyPr wrap="square" lIns="0" tIns="0" rIns="0" bIns="0" rtlCol="0" anchor="ctr"/>
          <a:lstStyle/>
          <a:p>
            <a:pPr marL="0" indent="0" algn="r">
              <a:buNone/>
            </a:pPr>
            <a:r>
              <a:rPr lang="en-US" sz="900" dirty="0">
                <a:solidFill>
                  <a:srgbClr val="B9C4C6"/>
                </a:solidFill>
                <a:latin typeface="Calibri" pitchFamily="34" charset="0"/>
                <a:ea typeface="Calibri" pitchFamily="34" charset="-122"/>
                <a:cs typeface="Calibri" pitchFamily="34" charset="-120"/>
              </a:rPr>
              <a:t>4</a:t>
            </a:r>
            <a:endParaRPr lang="en-US" sz="900" dirty="0"/>
          </a:p>
        </p:txBody>
      </p:sp>
      <p:sp>
        <p:nvSpPr>
          <p:cNvPr id="6" name="Shape 4"/>
          <p:cNvSpPr/>
          <p:nvPr/>
        </p:nvSpPr>
        <p:spPr>
          <a:xfrm>
            <a:off x="548640" y="1508760"/>
            <a:ext cx="5394960" cy="4023360"/>
          </a:xfrm>
          <a:prstGeom prst="roundRect">
            <a:avLst>
              <a:gd name="adj" fmla="val 1818"/>
            </a:avLst>
          </a:prstGeom>
          <a:solidFill>
            <a:srgbClr val="EEF4F4"/>
          </a:solidFill>
          <a:ln w="9525">
            <a:solidFill>
              <a:srgbClr val="EEF4F4"/>
            </a:solidFill>
            <a:prstDash val="solid"/>
          </a:ln>
          <a:effectLst>
            <a:outerShdw blurRad="101600" dist="25400" dir="5400000" algn="bl" rotWithShape="0">
              <a:srgbClr val="0A2B31">
                <a:alpha val="10000"/>
              </a:srgbClr>
            </a:outerShdw>
          </a:effectLst>
        </p:spPr>
      </p:sp>
      <p:sp>
        <p:nvSpPr>
          <p:cNvPr id="7" name="Shape 5"/>
          <p:cNvSpPr/>
          <p:nvPr/>
        </p:nvSpPr>
        <p:spPr>
          <a:xfrm>
            <a:off x="804672" y="1737360"/>
            <a:ext cx="1371600" cy="256032"/>
          </a:xfrm>
          <a:prstGeom prst="roundRect">
            <a:avLst>
              <a:gd name="adj" fmla="val 21429"/>
            </a:avLst>
          </a:prstGeom>
          <a:solidFill>
            <a:srgbClr val="06474F"/>
          </a:solidFill>
          <a:ln w="12700">
            <a:solidFill>
              <a:srgbClr val="06474F"/>
            </a:solidFill>
            <a:prstDash val="solid"/>
          </a:ln>
        </p:spPr>
      </p:sp>
      <p:sp>
        <p:nvSpPr>
          <p:cNvPr id="8" name="Text 6"/>
          <p:cNvSpPr/>
          <p:nvPr/>
        </p:nvSpPr>
        <p:spPr>
          <a:xfrm>
            <a:off x="804672" y="1737360"/>
            <a:ext cx="137160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COMPLETE</a:t>
            </a:r>
            <a:endParaRPr lang="en-US" sz="900" dirty="0"/>
          </a:p>
        </p:txBody>
      </p:sp>
      <p:sp>
        <p:nvSpPr>
          <p:cNvPr id="9" name="Text 7"/>
          <p:cNvSpPr/>
          <p:nvPr/>
        </p:nvSpPr>
        <p:spPr>
          <a:xfrm>
            <a:off x="804672" y="2103120"/>
            <a:ext cx="4846320" cy="566928"/>
          </a:xfrm>
          <a:prstGeom prst="rect">
            <a:avLst/>
          </a:prstGeom>
          <a:noFill/>
          <a:ln/>
        </p:spPr>
        <p:txBody>
          <a:bodyPr wrap="square" lIns="0" tIns="0" rIns="0" bIns="0" rtlCol="0" anchor="ctr"/>
          <a:lstStyle/>
          <a:p>
            <a:pPr marL="0" indent="0">
              <a:buNone/>
            </a:pPr>
            <a:r>
              <a:rPr lang="en-US" sz="1700" b="1" dirty="0">
                <a:solidFill>
                  <a:srgbClr val="06474F"/>
                </a:solidFill>
                <a:latin typeface="Cambria" pitchFamily="34" charset="0"/>
                <a:ea typeface="Cambria" pitchFamily="34" charset="-122"/>
                <a:cs typeface="Cambria" pitchFamily="34" charset="-120"/>
              </a:rPr>
              <a:t>Software Requirements Specification</a:t>
            </a:r>
            <a:endParaRPr lang="en-US" sz="1700" dirty="0"/>
          </a:p>
        </p:txBody>
      </p:sp>
      <p:sp>
        <p:nvSpPr>
          <p:cNvPr id="10" name="Text 8"/>
          <p:cNvSpPr/>
          <p:nvPr/>
        </p:nvSpPr>
        <p:spPr>
          <a:xfrm>
            <a:off x="804672" y="2633472"/>
            <a:ext cx="4846320" cy="237744"/>
          </a:xfrm>
          <a:prstGeom prst="rect">
            <a:avLst/>
          </a:prstGeom>
          <a:noFill/>
          <a:ln/>
        </p:spPr>
        <p:txBody>
          <a:bodyPr wrap="square" lIns="0" tIns="0" rIns="0" bIns="0" rtlCol="0" anchor="ctr"/>
          <a:lstStyle/>
          <a:p>
            <a:pPr marL="0" indent="0">
              <a:buNone/>
            </a:pPr>
            <a:r>
              <a:rPr lang="en-US" sz="1100" i="1" dirty="0">
                <a:solidFill>
                  <a:srgbClr val="5C6E71"/>
                </a:solidFill>
                <a:latin typeface="Calibri" pitchFamily="34" charset="0"/>
                <a:ea typeface="Calibri" pitchFamily="34" charset="-122"/>
                <a:cs typeface="Calibri" pitchFamily="34" charset="-120"/>
              </a:rPr>
              <a:t>07 July 2026</a:t>
            </a:r>
            <a:endParaRPr lang="en-US" sz="1100" dirty="0"/>
          </a:p>
        </p:txBody>
      </p:sp>
      <p:sp>
        <p:nvSpPr>
          <p:cNvPr id="11" name="Text 9"/>
          <p:cNvSpPr/>
          <p:nvPr/>
        </p:nvSpPr>
        <p:spPr>
          <a:xfrm>
            <a:off x="804672" y="2962656"/>
            <a:ext cx="4882896" cy="237744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150" dirty="0">
                <a:solidFill>
                  <a:srgbClr val="31474B"/>
                </a:solidFill>
                <a:latin typeface="Calibri" pitchFamily="34" charset="0"/>
                <a:ea typeface="Calibri" pitchFamily="34" charset="-122"/>
                <a:cs typeface="Calibri" pitchFamily="34" charset="-120"/>
              </a:rPr>
              <a:t>39 Must requirements (R01-R39): accounts, guards, content, 11 task types, feedback, remediation, progress</a:t>
            </a:r>
            <a:endParaRPr lang="en-US" sz="1150" dirty="0"/>
          </a:p>
          <a:p>
            <a:pPr marL="342900" indent="-342900">
              <a:lnSpc>
                <a:spcPts val="1500"/>
              </a:lnSpc>
              <a:spcAft>
                <a:spcPts val="700"/>
              </a:spcAft>
              <a:buSzPct val="100000"/>
              <a:buChar char="•"/>
            </a:pPr>
            <a:r>
              <a:rPr lang="en-US" sz="1150" dirty="0">
                <a:solidFill>
                  <a:srgbClr val="31474B"/>
                </a:solidFill>
                <a:latin typeface="Calibri" pitchFamily="34" charset="0"/>
                <a:ea typeface="Calibri" pitchFamily="34" charset="-122"/>
                <a:cs typeface="Calibri" pitchFamily="34" charset="-120"/>
              </a:rPr>
              <a:t>7 Should (R40-R46) and 4 Can (R47-R50)</a:t>
            </a:r>
            <a:endParaRPr lang="en-US" sz="1150" dirty="0"/>
          </a:p>
          <a:p>
            <a:pPr marL="342900" indent="-342900">
              <a:lnSpc>
                <a:spcPts val="1500"/>
              </a:lnSpc>
              <a:spcAft>
                <a:spcPts val="700"/>
              </a:spcAft>
              <a:buSzPct val="100000"/>
              <a:buChar char="•"/>
            </a:pPr>
            <a:r>
              <a:rPr lang="en-US" sz="1150" dirty="0">
                <a:solidFill>
                  <a:srgbClr val="31474B"/>
                </a:solidFill>
                <a:latin typeface="Calibri" pitchFamily="34" charset="0"/>
                <a:ea typeface="Calibri" pitchFamily="34" charset="-122"/>
                <a:cs typeface="Calibri" pitchFamily="34" charset="-120"/>
              </a:rPr>
              <a:t>22 non-functional requirements: GDPR, EU residency, data minimisation, hashing, rate limits, injection defence</a:t>
            </a:r>
            <a:endParaRPr lang="en-US" sz="1150" dirty="0"/>
          </a:p>
          <a:p>
            <a:pPr marL="342900" indent="-342900">
              <a:lnSpc>
                <a:spcPts val="1500"/>
              </a:lnSpc>
              <a:spcAft>
                <a:spcPts val="700"/>
              </a:spcAft>
              <a:buSzPct val="100000"/>
              <a:buChar char="•"/>
            </a:pPr>
            <a:r>
              <a:rPr lang="en-US" sz="1150" dirty="0">
                <a:solidFill>
                  <a:srgbClr val="31474B"/>
                </a:solidFill>
                <a:latin typeface="Calibri" pitchFamily="34" charset="0"/>
                <a:ea typeface="Calibri" pitchFamily="34" charset="-122"/>
                <a:cs typeface="Calibri" pitchFamily="34" charset="-120"/>
              </a:rPr>
              <a:t>10 technical requirements: React, Express, MySQL, JWT, importer, tests, EU hosting</a:t>
            </a:r>
            <a:endParaRPr lang="en-US" sz="1150" dirty="0"/>
          </a:p>
          <a:p>
            <a:pPr marL="342900" indent="-342900">
              <a:lnSpc>
                <a:spcPts val="1500"/>
              </a:lnSpc>
              <a:spcAft>
                <a:spcPts val="700"/>
              </a:spcAft>
              <a:buSzPct val="100000"/>
              <a:buChar char="•"/>
            </a:pPr>
            <a:r>
              <a:rPr lang="en-US" sz="1150" dirty="0">
                <a:solidFill>
                  <a:srgbClr val="31474B"/>
                </a:solidFill>
                <a:latin typeface="Calibri" pitchFamily="34" charset="0"/>
                <a:ea typeface="Calibri" pitchFamily="34" charset="-122"/>
                <a:cs typeface="Calibri" pitchFamily="34" charset="-120"/>
              </a:rPr>
              <a:t>Every requirement is uniquely numbered, so acceptance is measured against the numbers, not against screens</a:t>
            </a:r>
            <a:endParaRPr lang="en-US" sz="1150" dirty="0"/>
          </a:p>
        </p:txBody>
      </p:sp>
      <p:sp>
        <p:nvSpPr>
          <p:cNvPr id="12" name="Shape 10"/>
          <p:cNvSpPr/>
          <p:nvPr/>
        </p:nvSpPr>
        <p:spPr>
          <a:xfrm>
            <a:off x="6172200" y="1508760"/>
            <a:ext cx="5394960" cy="4023360"/>
          </a:xfrm>
          <a:prstGeom prst="roundRect">
            <a:avLst>
              <a:gd name="adj" fmla="val 1818"/>
            </a:avLst>
          </a:prstGeom>
          <a:solidFill>
            <a:srgbClr val="EEF4F4"/>
          </a:solidFill>
          <a:ln w="9525">
            <a:solidFill>
              <a:srgbClr val="EEF4F4"/>
            </a:solidFill>
            <a:prstDash val="solid"/>
          </a:ln>
          <a:effectLst>
            <a:outerShdw blurRad="101600" dist="25400" dir="5400000" algn="bl" rotWithShape="0">
              <a:srgbClr val="0A2B31">
                <a:alpha val="10000"/>
              </a:srgbClr>
            </a:outerShdw>
          </a:effectLst>
        </p:spPr>
      </p:sp>
      <p:sp>
        <p:nvSpPr>
          <p:cNvPr id="13" name="Shape 11"/>
          <p:cNvSpPr/>
          <p:nvPr/>
        </p:nvSpPr>
        <p:spPr>
          <a:xfrm>
            <a:off x="6428232" y="1737360"/>
            <a:ext cx="1371600" cy="256032"/>
          </a:xfrm>
          <a:prstGeom prst="roundRect">
            <a:avLst>
              <a:gd name="adj" fmla="val 21429"/>
            </a:avLst>
          </a:prstGeom>
          <a:solidFill>
            <a:srgbClr val="1C7293"/>
          </a:solidFill>
          <a:ln w="12700">
            <a:solidFill>
              <a:srgbClr val="1C7293"/>
            </a:solidFill>
            <a:prstDash val="solid"/>
          </a:ln>
        </p:spPr>
      </p:sp>
      <p:sp>
        <p:nvSpPr>
          <p:cNvPr id="14" name="Text 12"/>
          <p:cNvSpPr/>
          <p:nvPr/>
        </p:nvSpPr>
        <p:spPr>
          <a:xfrm>
            <a:off x="6428232" y="1737360"/>
            <a:ext cx="137160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COMPLETE</a:t>
            </a:r>
            <a:endParaRPr lang="en-US" sz="900" dirty="0"/>
          </a:p>
        </p:txBody>
      </p:sp>
      <p:sp>
        <p:nvSpPr>
          <p:cNvPr id="15" name="Text 13"/>
          <p:cNvSpPr/>
          <p:nvPr/>
        </p:nvSpPr>
        <p:spPr>
          <a:xfrm>
            <a:off x="6428232" y="2103120"/>
            <a:ext cx="4846320" cy="566928"/>
          </a:xfrm>
          <a:prstGeom prst="rect">
            <a:avLst/>
          </a:prstGeom>
          <a:noFill/>
          <a:ln/>
        </p:spPr>
        <p:txBody>
          <a:bodyPr wrap="square" lIns="0" tIns="0" rIns="0" bIns="0" rtlCol="0" anchor="ctr"/>
          <a:lstStyle/>
          <a:p>
            <a:pPr marL="0" indent="0">
              <a:buNone/>
            </a:pPr>
            <a:r>
              <a:rPr lang="en-US" sz="1700" b="1" dirty="0">
                <a:solidFill>
                  <a:srgbClr val="06474F"/>
                </a:solidFill>
                <a:latin typeface="Cambria" pitchFamily="34" charset="0"/>
                <a:ea typeface="Cambria" pitchFamily="34" charset="-122"/>
                <a:cs typeface="Cambria" pitchFamily="34" charset="-120"/>
              </a:rPr>
              <a:t>Software Design Document</a:t>
            </a:r>
            <a:endParaRPr lang="en-US" sz="1700" dirty="0"/>
          </a:p>
        </p:txBody>
      </p:sp>
      <p:sp>
        <p:nvSpPr>
          <p:cNvPr id="16" name="Text 14"/>
          <p:cNvSpPr/>
          <p:nvPr/>
        </p:nvSpPr>
        <p:spPr>
          <a:xfrm>
            <a:off x="6428232" y="2633472"/>
            <a:ext cx="4846320" cy="237744"/>
          </a:xfrm>
          <a:prstGeom prst="rect">
            <a:avLst/>
          </a:prstGeom>
          <a:noFill/>
          <a:ln/>
        </p:spPr>
        <p:txBody>
          <a:bodyPr wrap="square" lIns="0" tIns="0" rIns="0" bIns="0" rtlCol="0" anchor="ctr"/>
          <a:lstStyle/>
          <a:p>
            <a:pPr marL="0" indent="0">
              <a:buNone/>
            </a:pPr>
            <a:r>
              <a:rPr lang="en-US" sz="1100" i="1" dirty="0">
                <a:solidFill>
                  <a:srgbClr val="5C6E71"/>
                </a:solidFill>
                <a:latin typeface="Calibri" pitchFamily="34" charset="0"/>
                <a:ea typeface="Calibri" pitchFamily="34" charset="-122"/>
                <a:cs typeface="Calibri" pitchFamily="34" charset="-120"/>
              </a:rPr>
              <a:t>11 July 2026</a:t>
            </a:r>
            <a:endParaRPr lang="en-US" sz="1100" dirty="0"/>
          </a:p>
        </p:txBody>
      </p:sp>
      <p:sp>
        <p:nvSpPr>
          <p:cNvPr id="17" name="Text 15"/>
          <p:cNvSpPr/>
          <p:nvPr/>
        </p:nvSpPr>
        <p:spPr>
          <a:xfrm>
            <a:off x="6428232" y="2962656"/>
            <a:ext cx="4882896" cy="237744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150" dirty="0">
                <a:solidFill>
                  <a:srgbClr val="31474B"/>
                </a:solidFill>
                <a:latin typeface="Calibri" pitchFamily="34" charset="0"/>
                <a:ea typeface="Calibri" pitchFamily="34" charset="-122"/>
                <a:cs typeface="Calibri" pitchFamily="34" charset="-120"/>
              </a:rPr>
              <a:t>Three-tier architecture: React SPA, Express REST API, MySQL + EU media store</a:t>
            </a:r>
            <a:endParaRPr lang="en-US" sz="1150" dirty="0"/>
          </a:p>
          <a:p>
            <a:pPr marL="342900" indent="-342900">
              <a:lnSpc>
                <a:spcPts val="1500"/>
              </a:lnSpc>
              <a:spcAft>
                <a:spcPts val="700"/>
              </a:spcAft>
              <a:buSzPct val="100000"/>
              <a:buChar char="•"/>
            </a:pPr>
            <a:r>
              <a:rPr lang="en-US" sz="1150" dirty="0">
                <a:solidFill>
                  <a:srgbClr val="31474B"/>
                </a:solidFill>
                <a:latin typeface="Calibri" pitchFamily="34" charset="0"/>
                <a:ea typeface="Calibri" pitchFamily="34" charset="-122"/>
                <a:cs typeface="Calibri" pitchFamily="34" charset="-120"/>
              </a:rPr>
              <a:t>Domain model, entity-relationship model, and the middleware chain (verify token &gt; role &gt; ownership)</a:t>
            </a:r>
            <a:endParaRPr lang="en-US" sz="1150" dirty="0"/>
          </a:p>
          <a:p>
            <a:pPr marL="342900" indent="-342900">
              <a:lnSpc>
                <a:spcPts val="1500"/>
              </a:lnSpc>
              <a:spcAft>
                <a:spcPts val="700"/>
              </a:spcAft>
              <a:buSzPct val="100000"/>
              <a:buChar char="•"/>
            </a:pPr>
            <a:r>
              <a:rPr lang="en-US" sz="1150" dirty="0">
                <a:solidFill>
                  <a:srgbClr val="31474B"/>
                </a:solidFill>
                <a:latin typeface="Calibri" pitchFamily="34" charset="0"/>
                <a:ea typeface="Calibri" pitchFamily="34" charset="-122"/>
                <a:cs typeface="Calibri" pitchFamily="34" charset="-120"/>
              </a:rPr>
              <a:t>The key decision: one data-driven task engine, not eleven separate activities</a:t>
            </a:r>
            <a:endParaRPr lang="en-US" sz="1150" dirty="0"/>
          </a:p>
          <a:p>
            <a:pPr marL="342900" indent="-342900">
              <a:lnSpc>
                <a:spcPts val="1500"/>
              </a:lnSpc>
              <a:spcAft>
                <a:spcPts val="700"/>
              </a:spcAft>
              <a:buSzPct val="100000"/>
              <a:buChar char="•"/>
            </a:pPr>
            <a:r>
              <a:rPr lang="en-US" sz="1150" dirty="0">
                <a:solidFill>
                  <a:srgbClr val="31474B"/>
                </a:solidFill>
                <a:latin typeface="Calibri" pitchFamily="34" charset="0"/>
                <a:ea typeface="Calibri" pitchFamily="34" charset="-122"/>
                <a:cs typeface="Calibri" pitchFamily="34" charset="-120"/>
              </a:rPr>
              <a:t>Security and data-protection design, four quality gates, deployment plan (Hetzner, Nuremberg)</a:t>
            </a:r>
            <a:endParaRPr lang="en-US" sz="1150" dirty="0"/>
          </a:p>
          <a:p>
            <a:pPr marL="342900" indent="-342900">
              <a:lnSpc>
                <a:spcPts val="1500"/>
              </a:lnSpc>
              <a:spcAft>
                <a:spcPts val="700"/>
              </a:spcAft>
              <a:buSzPct val="100000"/>
              <a:buChar char="•"/>
            </a:pPr>
            <a:r>
              <a:rPr lang="en-US" sz="1150" dirty="0">
                <a:solidFill>
                  <a:srgbClr val="31474B"/>
                </a:solidFill>
                <a:latin typeface="Calibri" pitchFamily="34" charset="0"/>
                <a:ea typeface="Calibri" pitchFamily="34" charset="-122"/>
                <a:cs typeface="Calibri" pitchFamily="34" charset="-120"/>
              </a:rPr>
              <a:t>Appendix B: full traceability matrix - every requirement mapped to a design section and a test</a:t>
            </a:r>
            <a:endParaRPr lang="en-US" sz="1150" dirty="0"/>
          </a:p>
        </p:txBody>
      </p:sp>
      <p:sp>
        <p:nvSpPr>
          <p:cNvPr id="18" name="Shape 16"/>
          <p:cNvSpPr/>
          <p:nvPr/>
        </p:nvSpPr>
        <p:spPr>
          <a:xfrm>
            <a:off x="548640" y="5715000"/>
            <a:ext cx="11064240" cy="566928"/>
          </a:xfrm>
          <a:prstGeom prst="roundRect">
            <a:avLst>
              <a:gd name="adj" fmla="val 12903"/>
            </a:avLst>
          </a:prstGeom>
          <a:solidFill>
            <a:srgbClr val="FBF2E7"/>
          </a:solidFill>
          <a:ln w="9525">
            <a:solidFill>
              <a:srgbClr val="FBF2E7"/>
            </a:solidFill>
            <a:prstDash val="solid"/>
          </a:ln>
          <a:effectLst>
            <a:outerShdw blurRad="101600" dist="25400" dir="5400000" algn="bl" rotWithShape="0">
              <a:srgbClr val="0A2B31">
                <a:alpha val="10000"/>
              </a:srgbClr>
            </a:outerShdw>
          </a:effectLst>
        </p:spPr>
      </p:sp>
      <p:sp>
        <p:nvSpPr>
          <p:cNvPr id="19" name="Text 17"/>
          <p:cNvSpPr/>
          <p:nvPr/>
        </p:nvSpPr>
        <p:spPr>
          <a:xfrm>
            <a:off x="777240" y="5715000"/>
            <a:ext cx="10972800" cy="566928"/>
          </a:xfrm>
          <a:prstGeom prst="rect">
            <a:avLst/>
          </a:prstGeom>
          <a:noFill/>
          <a:ln/>
        </p:spPr>
        <p:txBody>
          <a:bodyPr wrap="square" lIns="0" tIns="0" rIns="0" bIns="0" rtlCol="0" anchor="ctr"/>
          <a:lstStyle/>
          <a:p>
            <a:pPr marL="0" indent="0">
              <a:buNone/>
            </a:pPr>
            <a:r>
              <a:rPr lang="en-US" sz="1250" b="1" dirty="0">
                <a:solidFill>
                  <a:srgbClr val="06474F"/>
                </a:solidFill>
                <a:latin typeface="Calibri" pitchFamily="34" charset="0"/>
                <a:ea typeface="Calibri" pitchFamily="34" charset="-122"/>
                <a:cs typeface="Calibri" pitchFamily="34" charset="-120"/>
              </a:rPr>
              <a:t>Decision 1 today:  </a:t>
            </a:r>
            <a:r>
              <a:rPr lang="en-US" sz="1250" dirty="0">
                <a:solidFill>
                  <a:srgbClr val="5C6E71"/>
                </a:solidFill>
                <a:latin typeface="Calibri" pitchFamily="34" charset="0"/>
                <a:ea typeface="Calibri" pitchFamily="34" charset="-122"/>
                <a:cs typeface="Calibri" pitchFamily="34" charset="-120"/>
              </a:rPr>
              <a:t>approve both documents as the frozen baseline. Everything below is estimated against that baseline; changing it changes the dates.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200" b="1" dirty="0">
                <a:solidFill>
                  <a:srgbClr val="06474F"/>
                </a:solidFill>
                <a:latin typeface="Cambria" pitchFamily="34" charset="0"/>
                <a:ea typeface="Cambria" pitchFamily="34" charset="-122"/>
                <a:cs typeface="Cambria" pitchFamily="34" charset="-120"/>
              </a:rPr>
              <a:t>What is still open - and blocks the build</a:t>
            </a:r>
            <a:endParaRPr lang="en-US" sz="3200" dirty="0"/>
          </a:p>
        </p:txBody>
      </p:sp>
      <p:sp>
        <p:nvSpPr>
          <p:cNvPr id="3" name="Text 1"/>
          <p:cNvSpPr/>
          <p:nvPr/>
        </p:nvSpPr>
        <p:spPr>
          <a:xfrm>
            <a:off x="548640" y="941832"/>
            <a:ext cx="11064240" cy="310896"/>
          </a:xfrm>
          <a:prstGeom prst="rect">
            <a:avLst/>
          </a:prstGeom>
          <a:noFill/>
          <a:ln/>
        </p:spPr>
        <p:txBody>
          <a:bodyPr wrap="square" lIns="0" tIns="0" rIns="0" bIns="0" rtlCol="0" anchor="ctr"/>
          <a:lstStyle/>
          <a:p>
            <a:pPr marL="0" indent="0">
              <a:buNone/>
            </a:pPr>
            <a:r>
              <a:rPr lang="en-US" sz="1400" i="1" dirty="0">
                <a:solidFill>
                  <a:srgbClr val="5C6E71"/>
                </a:solidFill>
                <a:latin typeface="Calibri" pitchFamily="34" charset="0"/>
                <a:ea typeface="Calibri" pitchFamily="34" charset="-122"/>
                <a:cs typeface="Calibri" pitchFamily="34" charset="-120"/>
              </a:rPr>
              <a:t>Four items I need from you; two of them are on the critical path</a:t>
            </a:r>
            <a:endParaRPr lang="en-US" sz="1400" dirty="0"/>
          </a:p>
        </p:txBody>
      </p:sp>
      <p:sp>
        <p:nvSpPr>
          <p:cNvPr id="4" name="Text 2"/>
          <p:cNvSpPr/>
          <p:nvPr/>
        </p:nvSpPr>
        <p:spPr>
          <a:xfrm>
            <a:off x="548640" y="6473952"/>
            <a:ext cx="5486400" cy="237744"/>
          </a:xfrm>
          <a:prstGeom prst="rect">
            <a:avLst/>
          </a:prstGeom>
          <a:noFill/>
          <a:ln/>
        </p:spPr>
        <p:txBody>
          <a:bodyPr wrap="square" lIns="0" tIns="0" rIns="0" bIns="0" rtlCol="0" anchor="ctr"/>
          <a:lstStyle/>
          <a:p>
            <a:pPr marL="0" indent="0">
              <a:buNone/>
            </a:pPr>
            <a:r>
              <a:rPr lang="en-US" sz="900" dirty="0">
                <a:solidFill>
                  <a:srgbClr val="B9C4C6"/>
                </a:solidFill>
                <a:latin typeface="Calibri" pitchFamily="34" charset="0"/>
                <a:ea typeface="Calibri" pitchFamily="34" charset="-122"/>
                <a:cs typeface="Calibri" pitchFamily="34" charset="-120"/>
              </a:rPr>
              <a:t>SPEAK  |  Status &amp; Delivery Plan  |  12 July 2026</a:t>
            </a:r>
            <a:endParaRPr lang="en-US" sz="900" dirty="0"/>
          </a:p>
        </p:txBody>
      </p:sp>
      <p:sp>
        <p:nvSpPr>
          <p:cNvPr id="5" name="Text 3"/>
          <p:cNvSpPr/>
          <p:nvPr/>
        </p:nvSpPr>
        <p:spPr>
          <a:xfrm>
            <a:off x="11064240" y="6473952"/>
            <a:ext cx="548640" cy="237744"/>
          </a:xfrm>
          <a:prstGeom prst="rect">
            <a:avLst/>
          </a:prstGeom>
          <a:noFill/>
          <a:ln/>
        </p:spPr>
        <p:txBody>
          <a:bodyPr wrap="square" lIns="0" tIns="0" rIns="0" bIns="0" rtlCol="0" anchor="ctr"/>
          <a:lstStyle/>
          <a:p>
            <a:pPr marL="0" indent="0" algn="r">
              <a:buNone/>
            </a:pPr>
            <a:r>
              <a:rPr lang="en-US" sz="900" dirty="0">
                <a:solidFill>
                  <a:srgbClr val="B9C4C6"/>
                </a:solidFill>
                <a:latin typeface="Calibri" pitchFamily="34" charset="0"/>
                <a:ea typeface="Calibri" pitchFamily="34" charset="-122"/>
                <a:cs typeface="Calibri" pitchFamily="34" charset="-120"/>
              </a:rPr>
              <a:t>5</a:t>
            </a:r>
            <a:endParaRPr lang="en-US" sz="900" dirty="0"/>
          </a:p>
        </p:txBody>
      </p:sp>
      <p:sp>
        <p:nvSpPr>
          <p:cNvPr id="6" name="Shape 4"/>
          <p:cNvSpPr/>
          <p:nvPr/>
        </p:nvSpPr>
        <p:spPr>
          <a:xfrm>
            <a:off x="548640" y="1481328"/>
            <a:ext cx="11064240" cy="1005840"/>
          </a:xfrm>
          <a:prstGeom prst="roundRect">
            <a:avLst>
              <a:gd name="adj" fmla="val 7273"/>
            </a:avLst>
          </a:prstGeom>
          <a:solidFill>
            <a:srgbClr val="FBEEEC"/>
          </a:solidFill>
          <a:ln w="9525">
            <a:solidFill>
              <a:srgbClr val="FBEEEC"/>
            </a:solidFill>
            <a:prstDash val="solid"/>
          </a:ln>
          <a:effectLst>
            <a:outerShdw blurRad="101600" dist="25400" dir="5400000" algn="bl" rotWithShape="0">
              <a:srgbClr val="0A2B31">
                <a:alpha val="10000"/>
              </a:srgbClr>
            </a:outerShdw>
          </a:effectLst>
        </p:spPr>
      </p:sp>
      <p:sp>
        <p:nvSpPr>
          <p:cNvPr id="7" name="Shape 5"/>
          <p:cNvSpPr/>
          <p:nvPr/>
        </p:nvSpPr>
        <p:spPr>
          <a:xfrm>
            <a:off x="777240" y="1664208"/>
            <a:ext cx="1234440" cy="237744"/>
          </a:xfrm>
          <a:prstGeom prst="roundRect">
            <a:avLst>
              <a:gd name="adj" fmla="val 19231"/>
            </a:avLst>
          </a:prstGeom>
          <a:solidFill>
            <a:srgbClr val="B4453C"/>
          </a:solidFill>
          <a:ln w="12700">
            <a:solidFill>
              <a:srgbClr val="B4453C"/>
            </a:solidFill>
            <a:prstDash val="solid"/>
          </a:ln>
        </p:spPr>
      </p:sp>
      <p:sp>
        <p:nvSpPr>
          <p:cNvPr id="8" name="Text 6"/>
          <p:cNvSpPr/>
          <p:nvPr/>
        </p:nvSpPr>
        <p:spPr>
          <a:xfrm>
            <a:off x="777240" y="1664208"/>
            <a:ext cx="1234440"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CRITICAL PATH</a:t>
            </a:r>
            <a:endParaRPr lang="en-US" sz="850" dirty="0"/>
          </a:p>
        </p:txBody>
      </p:sp>
      <p:sp>
        <p:nvSpPr>
          <p:cNvPr id="9" name="Text 7"/>
          <p:cNvSpPr/>
          <p:nvPr/>
        </p:nvSpPr>
        <p:spPr>
          <a:xfrm>
            <a:off x="2148840" y="1600200"/>
            <a:ext cx="5669280" cy="310896"/>
          </a:xfrm>
          <a:prstGeom prst="rect">
            <a:avLst/>
          </a:prstGeom>
          <a:noFill/>
          <a:ln/>
        </p:spPr>
        <p:txBody>
          <a:bodyPr wrap="square" lIns="0" tIns="0" rIns="0" bIns="0" rtlCol="0" anchor="ctr"/>
          <a:lstStyle/>
          <a:p>
            <a:pPr marL="0" indent="0">
              <a:buNone/>
            </a:pPr>
            <a:r>
              <a:rPr lang="en-US" sz="1450" b="1" dirty="0">
                <a:solidFill>
                  <a:srgbClr val="06474F"/>
                </a:solidFill>
                <a:latin typeface="Calibri" pitchFamily="34" charset="0"/>
                <a:ea typeface="Calibri" pitchFamily="34" charset="-122"/>
                <a:cs typeface="Calibri" pitchFamily="34" charset="-120"/>
              </a:rPr>
              <a:t>The complete CSV and media set</a:t>
            </a:r>
            <a:endParaRPr lang="en-US" sz="1450" dirty="0"/>
          </a:p>
        </p:txBody>
      </p:sp>
      <p:sp>
        <p:nvSpPr>
          <p:cNvPr id="10" name="Text 8"/>
          <p:cNvSpPr/>
          <p:nvPr/>
        </p:nvSpPr>
        <p:spPr>
          <a:xfrm>
            <a:off x="2148840" y="1901952"/>
            <a:ext cx="5669280" cy="237744"/>
          </a:xfrm>
          <a:prstGeom prst="rect">
            <a:avLst/>
          </a:prstGeom>
          <a:noFill/>
          <a:ln/>
        </p:spPr>
        <p:txBody>
          <a:bodyPr wrap="square" lIns="0" tIns="0" rIns="0" bIns="0" rtlCol="0" anchor="ctr"/>
          <a:lstStyle/>
          <a:p>
            <a:pPr marL="0" indent="0">
              <a:buNone/>
            </a:pPr>
            <a:r>
              <a:rPr lang="en-US" sz="1100" b="1" dirty="0">
                <a:solidFill>
                  <a:srgbClr val="B4453C"/>
                </a:solidFill>
                <a:latin typeface="Calibri" pitchFamily="34" charset="0"/>
                <a:ea typeface="Calibri" pitchFamily="34" charset="-122"/>
                <a:cs typeface="Calibri" pitchFamily="34" charset="-120"/>
              </a:rPr>
              <a:t>Needed by week 11 (late September)</a:t>
            </a:r>
            <a:endParaRPr lang="en-US" sz="1100" dirty="0"/>
          </a:p>
        </p:txBody>
      </p:sp>
      <p:sp>
        <p:nvSpPr>
          <p:cNvPr id="11" name="Text 9"/>
          <p:cNvSpPr/>
          <p:nvPr/>
        </p:nvSpPr>
        <p:spPr>
          <a:xfrm>
            <a:off x="777240" y="2139696"/>
            <a:ext cx="10607040" cy="292608"/>
          </a:xfrm>
          <a:prstGeom prst="rect">
            <a:avLst/>
          </a:prstGeom>
          <a:noFill/>
          <a:ln/>
        </p:spPr>
        <p:txBody>
          <a:bodyPr wrap="square" lIns="0" tIns="0" rIns="0" bIns="0" rtlCol="0" anchor="ctr"/>
          <a:lstStyle/>
          <a:p>
            <a:pPr marL="0" indent="0">
              <a:buNone/>
            </a:pPr>
            <a:r>
              <a:rPr lang="en-US" sz="1050" dirty="0">
                <a:solidFill>
                  <a:srgbClr val="5C6E71"/>
                </a:solidFill>
                <a:latin typeface="Calibri" pitchFamily="34" charset="0"/>
                <a:ea typeface="Calibri" pitchFamily="34" charset="-122"/>
                <a:cs typeface="Calibri" pitchFamily="34" charset="-120"/>
              </a:rPr>
              <a:t>The design assumes the Vocabulary and Grammar CSVs for Weeks 6, 10 and 12, plus all 776 images and 1,279 audio files, in the form they are held today. I have the inventory, not the working set. The importer cannot be written against a sample.</a:t>
            </a:r>
            <a:endParaRPr lang="en-US" sz="1050" dirty="0"/>
          </a:p>
        </p:txBody>
      </p:sp>
      <p:sp>
        <p:nvSpPr>
          <p:cNvPr id="12" name="Shape 10"/>
          <p:cNvSpPr/>
          <p:nvPr/>
        </p:nvSpPr>
        <p:spPr>
          <a:xfrm>
            <a:off x="548640" y="2624328"/>
            <a:ext cx="11064240" cy="1005840"/>
          </a:xfrm>
          <a:prstGeom prst="roundRect">
            <a:avLst>
              <a:gd name="adj" fmla="val 7273"/>
            </a:avLst>
          </a:prstGeom>
          <a:solidFill>
            <a:srgbClr val="FBEEEC"/>
          </a:solidFill>
          <a:ln w="9525">
            <a:solidFill>
              <a:srgbClr val="FBEEEC"/>
            </a:solidFill>
            <a:prstDash val="solid"/>
          </a:ln>
          <a:effectLst>
            <a:outerShdw blurRad="101600" dist="25400" dir="5400000" algn="bl" rotWithShape="0">
              <a:srgbClr val="0A2B31">
                <a:alpha val="10000"/>
              </a:srgbClr>
            </a:outerShdw>
          </a:effectLst>
        </p:spPr>
      </p:sp>
      <p:sp>
        <p:nvSpPr>
          <p:cNvPr id="13" name="Shape 11"/>
          <p:cNvSpPr/>
          <p:nvPr/>
        </p:nvSpPr>
        <p:spPr>
          <a:xfrm>
            <a:off x="777240" y="2807208"/>
            <a:ext cx="1234440" cy="237744"/>
          </a:xfrm>
          <a:prstGeom prst="roundRect">
            <a:avLst>
              <a:gd name="adj" fmla="val 19231"/>
            </a:avLst>
          </a:prstGeom>
          <a:solidFill>
            <a:srgbClr val="B4453C"/>
          </a:solidFill>
          <a:ln w="12700">
            <a:solidFill>
              <a:srgbClr val="B4453C"/>
            </a:solidFill>
            <a:prstDash val="solid"/>
          </a:ln>
        </p:spPr>
      </p:sp>
      <p:sp>
        <p:nvSpPr>
          <p:cNvPr id="14" name="Text 12"/>
          <p:cNvSpPr/>
          <p:nvPr/>
        </p:nvSpPr>
        <p:spPr>
          <a:xfrm>
            <a:off x="777240" y="2807208"/>
            <a:ext cx="1234440"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CRITICAL PATH</a:t>
            </a:r>
            <a:endParaRPr lang="en-US" sz="850" dirty="0"/>
          </a:p>
        </p:txBody>
      </p:sp>
      <p:sp>
        <p:nvSpPr>
          <p:cNvPr id="15" name="Text 13"/>
          <p:cNvSpPr/>
          <p:nvPr/>
        </p:nvSpPr>
        <p:spPr>
          <a:xfrm>
            <a:off x="2148840" y="2743200"/>
            <a:ext cx="5669280" cy="310896"/>
          </a:xfrm>
          <a:prstGeom prst="rect">
            <a:avLst/>
          </a:prstGeom>
          <a:noFill/>
          <a:ln/>
        </p:spPr>
        <p:txBody>
          <a:bodyPr wrap="square" lIns="0" tIns="0" rIns="0" bIns="0" rtlCol="0" anchor="ctr"/>
          <a:lstStyle/>
          <a:p>
            <a:pPr marL="0" indent="0">
              <a:buNone/>
            </a:pPr>
            <a:r>
              <a:rPr lang="en-US" sz="1450" b="1" dirty="0">
                <a:solidFill>
                  <a:srgbClr val="06474F"/>
                </a:solidFill>
                <a:latin typeface="Calibri" pitchFamily="34" charset="0"/>
                <a:ea typeface="Calibri" pitchFamily="34" charset="-122"/>
                <a:cs typeface="Calibri" pitchFamily="34" charset="-120"/>
              </a:rPr>
              <a:t>Confirmation that the content may be reused</a:t>
            </a:r>
            <a:endParaRPr lang="en-US" sz="1450" dirty="0"/>
          </a:p>
        </p:txBody>
      </p:sp>
      <p:sp>
        <p:nvSpPr>
          <p:cNvPr id="16" name="Text 14"/>
          <p:cNvSpPr/>
          <p:nvPr/>
        </p:nvSpPr>
        <p:spPr>
          <a:xfrm>
            <a:off x="2148840" y="3044952"/>
            <a:ext cx="5669280" cy="237744"/>
          </a:xfrm>
          <a:prstGeom prst="rect">
            <a:avLst/>
          </a:prstGeom>
          <a:noFill/>
          <a:ln/>
        </p:spPr>
        <p:txBody>
          <a:bodyPr wrap="square" lIns="0" tIns="0" rIns="0" bIns="0" rtlCol="0" anchor="ctr"/>
          <a:lstStyle/>
          <a:p>
            <a:pPr marL="0" indent="0">
              <a:buNone/>
            </a:pPr>
            <a:r>
              <a:rPr lang="en-US" sz="1100" b="1" dirty="0">
                <a:solidFill>
                  <a:srgbClr val="B4453C"/>
                </a:solidFill>
                <a:latin typeface="Calibri" pitchFamily="34" charset="0"/>
                <a:ea typeface="Calibri" pitchFamily="34" charset="-122"/>
                <a:cs typeface="Calibri" pitchFamily="34" charset="-120"/>
              </a:rPr>
              <a:t>Needed before week 11</a:t>
            </a:r>
            <a:endParaRPr lang="en-US" sz="1100" dirty="0"/>
          </a:p>
        </p:txBody>
      </p:sp>
      <p:sp>
        <p:nvSpPr>
          <p:cNvPr id="17" name="Text 15"/>
          <p:cNvSpPr/>
          <p:nvPr/>
        </p:nvSpPr>
        <p:spPr>
          <a:xfrm>
            <a:off x="777240" y="3282696"/>
            <a:ext cx="10607040" cy="292608"/>
          </a:xfrm>
          <a:prstGeom prst="rect">
            <a:avLst/>
          </a:prstGeom>
          <a:noFill/>
          <a:ln/>
        </p:spPr>
        <p:txBody>
          <a:bodyPr wrap="square" lIns="0" tIns="0" rIns="0" bIns="0" rtlCol="0" anchor="ctr"/>
          <a:lstStyle/>
          <a:p>
            <a:pPr marL="0" indent="0">
              <a:buNone/>
            </a:pPr>
            <a:r>
              <a:rPr lang="en-US" sz="1050" dirty="0">
                <a:solidFill>
                  <a:srgbClr val="5C6E71"/>
                </a:solidFill>
                <a:latin typeface="Calibri" pitchFamily="34" charset="0"/>
                <a:ea typeface="Calibri" pitchFamily="34" charset="-122"/>
                <a:cs typeface="Calibri" pitchFamily="34" charset="-120"/>
              </a:rPr>
              <a:t>The material was authored for a psychology experiment. Before it is imported into a website, I need final confirmation that you hold the rights to the images, audio and text, and that reuse in this context is permitted.</a:t>
            </a:r>
            <a:endParaRPr lang="en-US" sz="1050" dirty="0"/>
          </a:p>
        </p:txBody>
      </p:sp>
      <p:sp>
        <p:nvSpPr>
          <p:cNvPr id="20" name="Text 18"/>
          <p:cNvSpPr/>
          <p:nvPr/>
        </p:nvSpPr>
        <p:spPr>
          <a:xfrm>
            <a:off x="777240" y="3950208"/>
            <a:ext cx="1234440"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SOON</a:t>
            </a:r>
            <a:endParaRPr lang="en-US" sz="850" dirty="0"/>
          </a:p>
        </p:txBody>
      </p:sp>
      <p:sp>
        <p:nvSpPr>
          <p:cNvPr id="24" name="Shape 22"/>
          <p:cNvSpPr/>
          <p:nvPr/>
        </p:nvSpPr>
        <p:spPr>
          <a:xfrm>
            <a:off x="548640" y="3767328"/>
            <a:ext cx="11064240" cy="1005840"/>
          </a:xfrm>
          <a:prstGeom prst="roundRect">
            <a:avLst>
              <a:gd name="adj" fmla="val 7273"/>
            </a:avLst>
          </a:prstGeom>
          <a:solidFill>
            <a:srgbClr val="FBF2E7"/>
          </a:solidFill>
          <a:ln w="9525">
            <a:solidFill>
              <a:srgbClr val="FBF2E7"/>
            </a:solidFill>
            <a:prstDash val="solid"/>
          </a:ln>
          <a:effectLst>
            <a:outerShdw blurRad="101600" dist="25400" dir="5400000" algn="bl" rotWithShape="0">
              <a:srgbClr val="0A2B31">
                <a:alpha val="10000"/>
              </a:srgbClr>
            </a:outerShdw>
          </a:effectLst>
        </p:spPr>
      </p:sp>
      <p:sp>
        <p:nvSpPr>
          <p:cNvPr id="25" name="Shape 23"/>
          <p:cNvSpPr/>
          <p:nvPr/>
        </p:nvSpPr>
        <p:spPr>
          <a:xfrm>
            <a:off x="777240" y="3950208"/>
            <a:ext cx="1234440" cy="237744"/>
          </a:xfrm>
          <a:prstGeom prst="roundRect">
            <a:avLst>
              <a:gd name="adj" fmla="val 19231"/>
            </a:avLst>
          </a:prstGeom>
          <a:solidFill>
            <a:srgbClr val="E08A3C"/>
          </a:solidFill>
          <a:ln w="12700">
            <a:solidFill>
              <a:srgbClr val="E08A3C"/>
            </a:solidFill>
            <a:prstDash val="solid"/>
          </a:ln>
        </p:spPr>
      </p:sp>
      <p:sp>
        <p:nvSpPr>
          <p:cNvPr id="26" name="Text 24"/>
          <p:cNvSpPr/>
          <p:nvPr/>
        </p:nvSpPr>
        <p:spPr>
          <a:xfrm>
            <a:off x="777240" y="3950208"/>
            <a:ext cx="1234440"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LATER</a:t>
            </a:r>
            <a:endParaRPr lang="en-US" sz="850" dirty="0"/>
          </a:p>
        </p:txBody>
      </p:sp>
      <p:sp>
        <p:nvSpPr>
          <p:cNvPr id="27" name="Text 25"/>
          <p:cNvSpPr/>
          <p:nvPr/>
        </p:nvSpPr>
        <p:spPr>
          <a:xfrm>
            <a:off x="2148840" y="3886200"/>
            <a:ext cx="5669280" cy="310896"/>
          </a:xfrm>
          <a:prstGeom prst="rect">
            <a:avLst/>
          </a:prstGeom>
          <a:noFill/>
          <a:ln/>
        </p:spPr>
        <p:txBody>
          <a:bodyPr wrap="square" lIns="0" tIns="0" rIns="0" bIns="0" rtlCol="0" anchor="ctr"/>
          <a:lstStyle/>
          <a:p>
            <a:pPr marL="0" indent="0">
              <a:buNone/>
            </a:pPr>
            <a:r>
              <a:rPr lang="en-US" sz="1450" b="1" dirty="0">
                <a:solidFill>
                  <a:srgbClr val="06474F"/>
                </a:solidFill>
                <a:latin typeface="Calibri" pitchFamily="34" charset="0"/>
                <a:ea typeface="Calibri" pitchFamily="34" charset="-122"/>
                <a:cs typeface="Calibri" pitchFamily="34" charset="-120"/>
              </a:rPr>
              <a:t>Purpose of voice recording (see question 4)</a:t>
            </a:r>
            <a:endParaRPr lang="en-US" sz="1450" dirty="0"/>
          </a:p>
        </p:txBody>
      </p:sp>
      <p:sp>
        <p:nvSpPr>
          <p:cNvPr id="28" name="Text 26"/>
          <p:cNvSpPr/>
          <p:nvPr/>
        </p:nvSpPr>
        <p:spPr>
          <a:xfrm>
            <a:off x="2148840" y="4187952"/>
            <a:ext cx="5669280" cy="237744"/>
          </a:xfrm>
          <a:prstGeom prst="rect">
            <a:avLst/>
          </a:prstGeom>
          <a:noFill/>
          <a:ln/>
        </p:spPr>
        <p:txBody>
          <a:bodyPr wrap="square" lIns="0" tIns="0" rIns="0" bIns="0" rtlCol="0" anchor="ctr"/>
          <a:lstStyle/>
          <a:p>
            <a:pPr marL="0" indent="0">
              <a:buNone/>
            </a:pPr>
            <a:r>
              <a:rPr lang="en-US" sz="1100" b="1" dirty="0">
                <a:solidFill>
                  <a:srgbClr val="E08A3C"/>
                </a:solidFill>
                <a:latin typeface="Calibri" pitchFamily="34" charset="0"/>
                <a:ea typeface="Calibri" pitchFamily="34" charset="-122"/>
                <a:cs typeface="Calibri" pitchFamily="34" charset="-120"/>
              </a:rPr>
              <a:t>Needed before Phase 7</a:t>
            </a:r>
            <a:endParaRPr lang="en-US" sz="1100" dirty="0"/>
          </a:p>
        </p:txBody>
      </p:sp>
      <p:sp>
        <p:nvSpPr>
          <p:cNvPr id="29" name="Text 27"/>
          <p:cNvSpPr/>
          <p:nvPr/>
        </p:nvSpPr>
        <p:spPr>
          <a:xfrm>
            <a:off x="777240" y="4425696"/>
            <a:ext cx="10607040" cy="292608"/>
          </a:xfrm>
          <a:prstGeom prst="rect">
            <a:avLst/>
          </a:prstGeom>
          <a:noFill/>
          <a:ln/>
        </p:spPr>
        <p:txBody>
          <a:bodyPr wrap="square" lIns="0" tIns="0" rIns="0" bIns="0" rtlCol="0" anchor="ctr"/>
          <a:lstStyle/>
          <a:p>
            <a:pPr marL="0" indent="0">
              <a:buNone/>
            </a:pPr>
            <a:r>
              <a:rPr lang="en-US" sz="1050" dirty="0">
                <a:solidFill>
                  <a:srgbClr val="5C6E71"/>
                </a:solidFill>
                <a:latin typeface="Calibri" pitchFamily="34" charset="0"/>
                <a:ea typeface="Calibri" pitchFamily="34" charset="-122"/>
                <a:cs typeface="Calibri" pitchFamily="34" charset="-120"/>
              </a:rPr>
              <a:t>Whether recordings are kept or discarded changes the legal work by an order of magnitude. Discussed at the end of this deck.</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200" b="1" dirty="0">
                <a:solidFill>
                  <a:srgbClr val="06474F"/>
                </a:solidFill>
                <a:latin typeface="Cambria" pitchFamily="34" charset="0"/>
                <a:ea typeface="Cambria" pitchFamily="34" charset="-122"/>
                <a:cs typeface="Cambria" pitchFamily="34" charset="-120"/>
              </a:rPr>
              <a:t>The programming work, broken down</a:t>
            </a:r>
            <a:endParaRPr lang="en-US" sz="3200" dirty="0"/>
          </a:p>
        </p:txBody>
      </p:sp>
      <p:sp>
        <p:nvSpPr>
          <p:cNvPr id="3" name="Text 1"/>
          <p:cNvSpPr/>
          <p:nvPr/>
        </p:nvSpPr>
        <p:spPr>
          <a:xfrm>
            <a:off x="548640" y="941832"/>
            <a:ext cx="11064240" cy="310896"/>
          </a:xfrm>
          <a:prstGeom prst="rect">
            <a:avLst/>
          </a:prstGeom>
          <a:noFill/>
          <a:ln/>
        </p:spPr>
        <p:txBody>
          <a:bodyPr wrap="square" lIns="0" tIns="0" rIns="0" bIns="0" rtlCol="0" anchor="ctr"/>
          <a:lstStyle/>
          <a:p>
            <a:pPr marL="0" indent="0">
              <a:buNone/>
            </a:pPr>
            <a:r>
              <a:rPr lang="en-US" sz="1400" i="1" dirty="0">
                <a:solidFill>
                  <a:srgbClr val="5C6E71"/>
                </a:solidFill>
                <a:latin typeface="Calibri" pitchFamily="34" charset="0"/>
                <a:ea typeface="Calibri" pitchFamily="34" charset="-122"/>
                <a:cs typeface="Calibri" pitchFamily="34" charset="-120"/>
              </a:rPr>
              <a:t>Eight workstreams, 44 subtasks, 284 estimated build hours</a:t>
            </a:r>
            <a:endParaRPr lang="en-US" sz="1400" dirty="0"/>
          </a:p>
        </p:txBody>
      </p:sp>
      <p:sp>
        <p:nvSpPr>
          <p:cNvPr id="4" name="Text 2"/>
          <p:cNvSpPr/>
          <p:nvPr/>
        </p:nvSpPr>
        <p:spPr>
          <a:xfrm>
            <a:off x="548640" y="6473952"/>
            <a:ext cx="5486400" cy="237744"/>
          </a:xfrm>
          <a:prstGeom prst="rect">
            <a:avLst/>
          </a:prstGeom>
          <a:noFill/>
          <a:ln/>
        </p:spPr>
        <p:txBody>
          <a:bodyPr wrap="square" lIns="0" tIns="0" rIns="0" bIns="0" rtlCol="0" anchor="ctr"/>
          <a:lstStyle/>
          <a:p>
            <a:pPr marL="0" indent="0">
              <a:buNone/>
            </a:pPr>
            <a:r>
              <a:rPr lang="en-US" sz="900" dirty="0">
                <a:solidFill>
                  <a:srgbClr val="B9C4C6"/>
                </a:solidFill>
                <a:latin typeface="Calibri" pitchFamily="34" charset="0"/>
                <a:ea typeface="Calibri" pitchFamily="34" charset="-122"/>
                <a:cs typeface="Calibri" pitchFamily="34" charset="-120"/>
              </a:rPr>
              <a:t>SPEAK  |  Status &amp; Delivery Plan  |  12 July 2026</a:t>
            </a:r>
            <a:endParaRPr lang="en-US" sz="900" dirty="0"/>
          </a:p>
        </p:txBody>
      </p:sp>
      <p:sp>
        <p:nvSpPr>
          <p:cNvPr id="5" name="Text 3"/>
          <p:cNvSpPr/>
          <p:nvPr/>
        </p:nvSpPr>
        <p:spPr>
          <a:xfrm>
            <a:off x="11064240" y="6473952"/>
            <a:ext cx="548640" cy="237744"/>
          </a:xfrm>
          <a:prstGeom prst="rect">
            <a:avLst/>
          </a:prstGeom>
          <a:noFill/>
          <a:ln/>
        </p:spPr>
        <p:txBody>
          <a:bodyPr wrap="square" lIns="0" tIns="0" rIns="0" bIns="0" rtlCol="0" anchor="ctr"/>
          <a:lstStyle/>
          <a:p>
            <a:pPr marL="0" indent="0" algn="r">
              <a:buNone/>
            </a:pPr>
            <a:r>
              <a:rPr lang="en-US" sz="900" dirty="0">
                <a:solidFill>
                  <a:srgbClr val="B9C4C6"/>
                </a:solidFill>
                <a:latin typeface="Calibri" pitchFamily="34" charset="0"/>
                <a:ea typeface="Calibri" pitchFamily="34" charset="-122"/>
                <a:cs typeface="Calibri" pitchFamily="34" charset="-120"/>
              </a:rPr>
              <a:t>6</a:t>
            </a:r>
            <a:endParaRPr lang="en-US" sz="900" dirty="0"/>
          </a:p>
        </p:txBody>
      </p:sp>
      <p:graphicFrame>
        <p:nvGraphicFramePr>
          <p:cNvPr id="6" name="Chart 0"/>
          <p:cNvGraphicFramePr/>
          <p:nvPr/>
        </p:nvGraphicFramePr>
        <p:xfrm>
          <a:off x="457200" y="1463040"/>
          <a:ext cx="704088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4"/>
          <p:cNvSpPr/>
          <p:nvPr/>
        </p:nvSpPr>
        <p:spPr>
          <a:xfrm>
            <a:off x="7818120" y="1463040"/>
            <a:ext cx="3794760" cy="2286000"/>
          </a:xfrm>
          <a:prstGeom prst="roundRect">
            <a:avLst>
              <a:gd name="adj" fmla="val 3200"/>
            </a:avLst>
          </a:prstGeom>
          <a:solidFill>
            <a:srgbClr val="EEF4F4"/>
          </a:solidFill>
          <a:ln w="9525">
            <a:solidFill>
              <a:srgbClr val="EEF4F4"/>
            </a:solidFill>
            <a:prstDash val="solid"/>
          </a:ln>
          <a:effectLst>
            <a:outerShdw blurRad="101600" dist="25400" dir="5400000" algn="bl" rotWithShape="0">
              <a:srgbClr val="0A2B31">
                <a:alpha val="10000"/>
              </a:srgbClr>
            </a:outerShdw>
          </a:effectLst>
        </p:spPr>
      </p:sp>
      <p:sp>
        <p:nvSpPr>
          <p:cNvPr id="8" name="Text 5"/>
          <p:cNvSpPr/>
          <p:nvPr/>
        </p:nvSpPr>
        <p:spPr>
          <a:xfrm>
            <a:off x="8046720" y="1627632"/>
            <a:ext cx="3383280" cy="274320"/>
          </a:xfrm>
          <a:prstGeom prst="rect">
            <a:avLst/>
          </a:prstGeom>
          <a:noFill/>
          <a:ln/>
        </p:spPr>
        <p:txBody>
          <a:bodyPr wrap="square" lIns="0" tIns="0" rIns="0" bIns="0" rtlCol="0" anchor="ctr"/>
          <a:lstStyle/>
          <a:p>
            <a:pPr marL="0" indent="0">
              <a:buNone/>
            </a:pPr>
            <a:r>
              <a:rPr lang="en-US" sz="1300" b="1" dirty="0">
                <a:solidFill>
                  <a:srgbClr val="06474F"/>
                </a:solidFill>
                <a:latin typeface="Calibri" pitchFamily="34" charset="0"/>
                <a:ea typeface="Calibri" pitchFamily="34" charset="-122"/>
                <a:cs typeface="Calibri" pitchFamily="34" charset="-120"/>
              </a:rPr>
              <a:t>Where the hours actually go</a:t>
            </a:r>
            <a:endParaRPr lang="en-US" sz="1300" dirty="0"/>
          </a:p>
        </p:txBody>
      </p:sp>
      <p:sp>
        <p:nvSpPr>
          <p:cNvPr id="9" name="Text 6"/>
          <p:cNvSpPr/>
          <p:nvPr/>
        </p:nvSpPr>
        <p:spPr>
          <a:xfrm>
            <a:off x="8046720" y="1965960"/>
            <a:ext cx="3429000" cy="1645920"/>
          </a:xfrm>
          <a:prstGeom prst="rect">
            <a:avLst/>
          </a:prstGeom>
          <a:noFill/>
          <a:ln/>
        </p:spPr>
        <p:txBody>
          <a:bodyPr wrap="square" lIns="0" tIns="0" rIns="0" bIns="0" rtlCol="0" anchor="ctr"/>
          <a:lstStyle/>
          <a:p>
            <a:pPr marL="342900" indent="-342900">
              <a:lnSpc>
                <a:spcPts val="1400"/>
              </a:lnSpc>
              <a:spcAft>
                <a:spcPts val="600"/>
              </a:spcAft>
              <a:buSzPct val="100000"/>
              <a:buChar char="•"/>
            </a:pPr>
            <a:r>
              <a:rPr lang="en-US" sz="1100" dirty="0">
                <a:solidFill>
                  <a:srgbClr val="31474B"/>
                </a:solidFill>
                <a:latin typeface="Calibri" pitchFamily="34" charset="0"/>
                <a:ea typeface="Calibri" pitchFamily="34" charset="-122"/>
                <a:cs typeface="Calibri" pitchFamily="34" charset="-120"/>
              </a:rPr>
              <a:t>Task engine + task types + adaption:  112 h (39%)</a:t>
            </a:r>
            <a:endParaRPr lang="en-US" sz="1100" dirty="0"/>
          </a:p>
          <a:p>
            <a:pPr marL="342900" indent="-342900">
              <a:lnSpc>
                <a:spcPts val="1400"/>
              </a:lnSpc>
              <a:spcAft>
                <a:spcPts val="600"/>
              </a:spcAft>
              <a:buSzPct val="100000"/>
              <a:buChar char="•"/>
            </a:pPr>
            <a:r>
              <a:rPr lang="en-US" sz="1100" dirty="0">
                <a:solidFill>
                  <a:srgbClr val="31474B"/>
                </a:solidFill>
                <a:latin typeface="Calibri" pitchFamily="34" charset="0"/>
                <a:ea typeface="Calibri" pitchFamily="34" charset="-122"/>
                <a:cs typeface="Calibri" pitchFamily="34" charset="-120"/>
              </a:rPr>
              <a:t>Security, accounts and guards:  38 h (13%)</a:t>
            </a:r>
            <a:endParaRPr lang="en-US" sz="1100" dirty="0"/>
          </a:p>
          <a:p>
            <a:pPr marL="342900" indent="-342900">
              <a:lnSpc>
                <a:spcPts val="1400"/>
              </a:lnSpc>
              <a:spcAft>
                <a:spcPts val="600"/>
              </a:spcAft>
              <a:buSzPct val="100000"/>
              <a:buChar char="•"/>
            </a:pPr>
            <a:r>
              <a:rPr lang="en-US" sz="1100" dirty="0">
                <a:solidFill>
                  <a:srgbClr val="31474B"/>
                </a:solidFill>
                <a:latin typeface="Calibri" pitchFamily="34" charset="0"/>
                <a:ea typeface="Calibri" pitchFamily="34" charset="-122"/>
                <a:cs typeface="Calibri" pitchFamily="34" charset="-120"/>
              </a:rPr>
              <a:t>Content importer:  42 h (15%)</a:t>
            </a:r>
            <a:endParaRPr lang="en-US" sz="1100" dirty="0"/>
          </a:p>
          <a:p>
            <a:pPr marL="342900" indent="-342900">
              <a:lnSpc>
                <a:spcPts val="1400"/>
              </a:lnSpc>
              <a:spcAft>
                <a:spcPts val="600"/>
              </a:spcAft>
              <a:buSzPct val="100000"/>
              <a:buChar char="•"/>
            </a:pPr>
            <a:r>
              <a:rPr lang="en-US" sz="1100" dirty="0">
                <a:solidFill>
                  <a:srgbClr val="31474B"/>
                </a:solidFill>
                <a:latin typeface="Calibri" pitchFamily="34" charset="0"/>
                <a:ea typeface="Calibri" pitchFamily="34" charset="-122"/>
                <a:cs typeface="Calibri" pitchFamily="34" charset="-120"/>
              </a:rPr>
              <a:t>Teacher and admin surface:  44 h (15%)</a:t>
            </a:r>
            <a:endParaRPr lang="en-US" sz="1100" dirty="0"/>
          </a:p>
          <a:p>
            <a:pPr marL="342900" indent="-342900">
              <a:lnSpc>
                <a:spcPts val="1400"/>
              </a:lnSpc>
              <a:spcAft>
                <a:spcPts val="600"/>
              </a:spcAft>
              <a:buSzPct val="100000"/>
              <a:buChar char="•"/>
            </a:pPr>
            <a:r>
              <a:rPr lang="en-US" sz="1100" dirty="0">
                <a:solidFill>
                  <a:srgbClr val="31474B"/>
                </a:solidFill>
                <a:latin typeface="Calibri" pitchFamily="34" charset="0"/>
                <a:ea typeface="Calibri" pitchFamily="34" charset="-122"/>
                <a:cs typeface="Calibri" pitchFamily="34" charset="-120"/>
              </a:rPr>
              <a:t>Plumbing, QA and release:  48 h (17%)</a:t>
            </a:r>
            <a:endParaRPr lang="en-US" sz="1100" dirty="0"/>
          </a:p>
        </p:txBody>
      </p:sp>
      <p:sp>
        <p:nvSpPr>
          <p:cNvPr id="10" name="Shape 7"/>
          <p:cNvSpPr/>
          <p:nvPr/>
        </p:nvSpPr>
        <p:spPr>
          <a:xfrm>
            <a:off x="7818120" y="3913632"/>
            <a:ext cx="3794760" cy="2304288"/>
          </a:xfrm>
          <a:prstGeom prst="roundRect">
            <a:avLst>
              <a:gd name="adj" fmla="val 3175"/>
            </a:avLst>
          </a:prstGeom>
          <a:solidFill>
            <a:srgbClr val="FBF2E7"/>
          </a:solidFill>
          <a:ln w="9525">
            <a:solidFill>
              <a:srgbClr val="FBF2E7"/>
            </a:solidFill>
            <a:prstDash val="solid"/>
          </a:ln>
          <a:effectLst>
            <a:outerShdw blurRad="101600" dist="25400" dir="5400000" algn="bl" rotWithShape="0">
              <a:srgbClr val="0A2B31">
                <a:alpha val="10000"/>
              </a:srgbClr>
            </a:outerShdw>
          </a:effectLst>
        </p:spPr>
      </p:sp>
      <p:sp>
        <p:nvSpPr>
          <p:cNvPr id="11" name="Text 8"/>
          <p:cNvSpPr/>
          <p:nvPr/>
        </p:nvSpPr>
        <p:spPr>
          <a:xfrm>
            <a:off x="8046720" y="4078224"/>
            <a:ext cx="3383280" cy="274320"/>
          </a:xfrm>
          <a:prstGeom prst="rect">
            <a:avLst/>
          </a:prstGeom>
          <a:noFill/>
          <a:ln/>
        </p:spPr>
        <p:txBody>
          <a:bodyPr wrap="square" lIns="0" tIns="0" rIns="0" bIns="0" rtlCol="0" anchor="ctr"/>
          <a:lstStyle/>
          <a:p>
            <a:pPr marL="0" indent="0">
              <a:buNone/>
            </a:pPr>
            <a:r>
              <a:rPr lang="en-US" sz="1300" b="1" dirty="0">
                <a:solidFill>
                  <a:srgbClr val="06474F"/>
                </a:solidFill>
                <a:latin typeface="Calibri" pitchFamily="34" charset="0"/>
                <a:ea typeface="Calibri" pitchFamily="34" charset="-122"/>
                <a:cs typeface="Calibri" pitchFamily="34" charset="-120"/>
              </a:rPr>
              <a:t>The design decision that saves the project</a:t>
            </a:r>
            <a:endParaRPr lang="en-US" sz="1300" dirty="0"/>
          </a:p>
        </p:txBody>
      </p:sp>
      <p:sp>
        <p:nvSpPr>
          <p:cNvPr id="12" name="Text 9"/>
          <p:cNvSpPr/>
          <p:nvPr/>
        </p:nvSpPr>
        <p:spPr>
          <a:xfrm>
            <a:off x="8046720" y="4407408"/>
            <a:ext cx="3429000" cy="1691640"/>
          </a:xfrm>
          <a:prstGeom prst="rect">
            <a:avLst/>
          </a:prstGeom>
          <a:noFill/>
          <a:ln/>
        </p:spPr>
        <p:txBody>
          <a:bodyPr wrap="square" lIns="0" tIns="0" rIns="0" bIns="0" rtlCol="0" anchor="ctr"/>
          <a:lstStyle/>
          <a:p>
            <a:pPr marL="0" indent="0">
              <a:lnSpc>
                <a:spcPts val="1400"/>
              </a:lnSpc>
              <a:buNone/>
            </a:pPr>
            <a:r>
              <a:rPr lang="en-US" sz="1100" dirty="0">
                <a:solidFill>
                  <a:srgbClr val="5C6E71"/>
                </a:solidFill>
                <a:latin typeface="Calibri" pitchFamily="34" charset="0"/>
                <a:ea typeface="Calibri" pitchFamily="34" charset="-122"/>
                <a:cs typeface="Calibri" pitchFamily="34" charset="-120"/>
              </a:rPr>
              <a:t>Eleven task types are not eleven applications. Every one of them reduces to the same shape: a stimulus, some options, a correct option, and feedback. So the system is one generic engine plus eight small presentation components.</a:t>
            </a:r>
            <a:endParaRPr lang="en-US" sz="1100" dirty="0"/>
          </a:p>
          <a:p>
            <a:pPr marL="0" indent="0">
              <a:lnSpc>
                <a:spcPts val="1400"/>
              </a:lnSpc>
              <a:buNone/>
            </a:pPr>
            <a:endParaRPr lang="en-US" sz="1100" dirty="0"/>
          </a:p>
          <a:p>
            <a:pPr marL="0" indent="0">
              <a:lnSpc>
                <a:spcPts val="1400"/>
              </a:lnSpc>
              <a:buNone/>
            </a:pPr>
            <a:r>
              <a:rPr lang="en-US" sz="1100" dirty="0">
                <a:solidFill>
                  <a:srgbClr val="5C6E71"/>
                </a:solidFill>
                <a:latin typeface="Calibri" pitchFamily="34" charset="0"/>
                <a:ea typeface="Calibri" pitchFamily="34" charset="-122"/>
                <a:cs typeface="Calibri" pitchFamily="34" charset="-120"/>
              </a:rPr>
              <a:t>Building them separately would roughly double P3 and P4 - about 100 extra hours, or five more months at this rate.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200" b="1" dirty="0">
                <a:solidFill>
                  <a:srgbClr val="06474F"/>
                </a:solidFill>
                <a:latin typeface="Cambria" pitchFamily="34" charset="0"/>
                <a:ea typeface="Cambria" pitchFamily="34" charset="-122"/>
                <a:cs typeface="Cambria" pitchFamily="34" charset="-120"/>
              </a:rPr>
              <a:t>Feasibility: is all of this actually buildable?</a:t>
            </a:r>
            <a:endParaRPr lang="en-US" sz="3200" dirty="0"/>
          </a:p>
        </p:txBody>
      </p:sp>
      <p:sp>
        <p:nvSpPr>
          <p:cNvPr id="3" name="Text 1"/>
          <p:cNvSpPr/>
          <p:nvPr/>
        </p:nvSpPr>
        <p:spPr>
          <a:xfrm>
            <a:off x="548640" y="941832"/>
            <a:ext cx="11064240" cy="310896"/>
          </a:xfrm>
          <a:prstGeom prst="rect">
            <a:avLst/>
          </a:prstGeom>
          <a:noFill/>
          <a:ln/>
        </p:spPr>
        <p:txBody>
          <a:bodyPr wrap="square" lIns="0" tIns="0" rIns="0" bIns="0" rtlCol="0" anchor="ctr"/>
          <a:lstStyle/>
          <a:p>
            <a:pPr marL="0" indent="0">
              <a:buNone/>
            </a:pPr>
            <a:r>
              <a:rPr lang="en-US" sz="1400" i="1" dirty="0">
                <a:solidFill>
                  <a:srgbClr val="5C6E71"/>
                </a:solidFill>
                <a:latin typeface="Calibri" pitchFamily="34" charset="0"/>
                <a:ea typeface="Calibri" pitchFamily="34" charset="-122"/>
                <a:cs typeface="Calibri" pitchFamily="34" charset="-120"/>
              </a:rPr>
              <a:t>Yes - by one developer, with three genuine risks. Ratings are mine, and I stand behind them.</a:t>
            </a:r>
            <a:endParaRPr lang="en-US" sz="1400" dirty="0"/>
          </a:p>
        </p:txBody>
      </p:sp>
      <p:sp>
        <p:nvSpPr>
          <p:cNvPr id="4" name="Text 2"/>
          <p:cNvSpPr/>
          <p:nvPr/>
        </p:nvSpPr>
        <p:spPr>
          <a:xfrm>
            <a:off x="548640" y="6473952"/>
            <a:ext cx="5486400" cy="237744"/>
          </a:xfrm>
          <a:prstGeom prst="rect">
            <a:avLst/>
          </a:prstGeom>
          <a:noFill/>
          <a:ln/>
        </p:spPr>
        <p:txBody>
          <a:bodyPr wrap="square" lIns="0" tIns="0" rIns="0" bIns="0" rtlCol="0" anchor="ctr"/>
          <a:lstStyle/>
          <a:p>
            <a:pPr marL="0" indent="0">
              <a:buNone/>
            </a:pPr>
            <a:r>
              <a:rPr lang="en-US" sz="900" dirty="0">
                <a:solidFill>
                  <a:srgbClr val="B9C4C6"/>
                </a:solidFill>
                <a:latin typeface="Calibri" pitchFamily="34" charset="0"/>
                <a:ea typeface="Calibri" pitchFamily="34" charset="-122"/>
                <a:cs typeface="Calibri" pitchFamily="34" charset="-120"/>
              </a:rPr>
              <a:t>SPEAK  |  Status &amp; Delivery Plan  |  12 July 2026</a:t>
            </a:r>
            <a:endParaRPr lang="en-US" sz="900" dirty="0"/>
          </a:p>
        </p:txBody>
      </p:sp>
      <p:sp>
        <p:nvSpPr>
          <p:cNvPr id="5" name="Text 3"/>
          <p:cNvSpPr/>
          <p:nvPr/>
        </p:nvSpPr>
        <p:spPr>
          <a:xfrm>
            <a:off x="11064240" y="6473952"/>
            <a:ext cx="548640" cy="237744"/>
          </a:xfrm>
          <a:prstGeom prst="rect">
            <a:avLst/>
          </a:prstGeom>
          <a:noFill/>
          <a:ln/>
        </p:spPr>
        <p:txBody>
          <a:bodyPr wrap="square" lIns="0" tIns="0" rIns="0" bIns="0" rtlCol="0" anchor="ctr"/>
          <a:lstStyle/>
          <a:p>
            <a:pPr marL="0" indent="0" algn="r">
              <a:buNone/>
            </a:pPr>
            <a:r>
              <a:rPr lang="en-US" sz="900" dirty="0">
                <a:solidFill>
                  <a:srgbClr val="B9C4C6"/>
                </a:solidFill>
                <a:latin typeface="Calibri" pitchFamily="34" charset="0"/>
                <a:ea typeface="Calibri" pitchFamily="34" charset="-122"/>
                <a:cs typeface="Calibri" pitchFamily="34" charset="-120"/>
              </a:rPr>
              <a:t>7</a:t>
            </a:r>
            <a:endParaRPr lang="en-US" sz="900" dirty="0"/>
          </a:p>
        </p:txBody>
      </p:sp>
      <p:sp>
        <p:nvSpPr>
          <p:cNvPr id="6" name="Shape 4"/>
          <p:cNvSpPr/>
          <p:nvPr/>
        </p:nvSpPr>
        <p:spPr>
          <a:xfrm>
            <a:off x="548640" y="1572768"/>
            <a:ext cx="11064240" cy="292608"/>
          </a:xfrm>
          <a:prstGeom prst="rect">
            <a:avLst/>
          </a:prstGeom>
          <a:solidFill>
            <a:srgbClr val="06474F"/>
          </a:solidFill>
          <a:ln w="12700">
            <a:solidFill>
              <a:srgbClr val="06474F"/>
            </a:solidFill>
            <a:prstDash val="solid"/>
          </a:ln>
        </p:spPr>
      </p:sp>
      <p:sp>
        <p:nvSpPr>
          <p:cNvPr id="7" name="Text 5"/>
          <p:cNvSpPr/>
          <p:nvPr/>
        </p:nvSpPr>
        <p:spPr>
          <a:xfrm>
            <a:off x="685800" y="1572768"/>
            <a:ext cx="329184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Programming task</a:t>
            </a:r>
            <a:endParaRPr lang="en-US" sz="1100" dirty="0"/>
          </a:p>
        </p:txBody>
      </p:sp>
      <p:sp>
        <p:nvSpPr>
          <p:cNvPr id="8" name="Text 6"/>
          <p:cNvSpPr/>
          <p:nvPr/>
        </p:nvSpPr>
        <p:spPr>
          <a:xfrm>
            <a:off x="4069080" y="1572768"/>
            <a:ext cx="6400800" cy="292608"/>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Assessment</a:t>
            </a:r>
            <a:endParaRPr lang="en-US" sz="1100" dirty="0"/>
          </a:p>
        </p:txBody>
      </p:sp>
      <p:sp>
        <p:nvSpPr>
          <p:cNvPr id="9" name="Text 7"/>
          <p:cNvSpPr/>
          <p:nvPr/>
        </p:nvSpPr>
        <p:spPr>
          <a:xfrm>
            <a:off x="10515600" y="1572768"/>
            <a:ext cx="1005840"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Risk</a:t>
            </a:r>
            <a:endParaRPr lang="en-US" sz="1100" dirty="0"/>
          </a:p>
        </p:txBody>
      </p:sp>
      <p:sp>
        <p:nvSpPr>
          <p:cNvPr id="10" name="Shape 8"/>
          <p:cNvSpPr/>
          <p:nvPr/>
        </p:nvSpPr>
        <p:spPr>
          <a:xfrm>
            <a:off x="548640" y="1865376"/>
            <a:ext cx="11064240" cy="402336"/>
          </a:xfrm>
          <a:prstGeom prst="rect">
            <a:avLst/>
          </a:prstGeom>
          <a:solidFill>
            <a:srgbClr val="FFFFFF"/>
          </a:solidFill>
          <a:ln w="6350">
            <a:solidFill>
              <a:srgbClr val="D5E0E1"/>
            </a:solidFill>
            <a:prstDash val="solid"/>
          </a:ln>
        </p:spPr>
      </p:sp>
      <p:sp>
        <p:nvSpPr>
          <p:cNvPr id="11" name="Text 9"/>
          <p:cNvSpPr/>
          <p:nvPr/>
        </p:nvSpPr>
        <p:spPr>
          <a:xfrm>
            <a:off x="685800" y="1865376"/>
            <a:ext cx="3291840" cy="402336"/>
          </a:xfrm>
          <a:prstGeom prst="rect">
            <a:avLst/>
          </a:prstGeom>
          <a:noFill/>
          <a:ln/>
        </p:spPr>
        <p:txBody>
          <a:bodyPr wrap="square" lIns="0" tIns="0" rIns="0" bIns="0" rtlCol="0" anchor="ctr"/>
          <a:lstStyle/>
          <a:p>
            <a:pPr marL="0" indent="0">
              <a:buNone/>
            </a:pPr>
            <a:r>
              <a:rPr lang="en-US" sz="1050" b="1" dirty="0">
                <a:solidFill>
                  <a:srgbClr val="06474F"/>
                </a:solidFill>
                <a:latin typeface="Calibri" pitchFamily="34" charset="0"/>
                <a:ea typeface="Calibri" pitchFamily="34" charset="-122"/>
                <a:cs typeface="Calibri" pitchFamily="34" charset="-120"/>
              </a:rPr>
              <a:t>Accounts, roles, route and role guards</a:t>
            </a:r>
            <a:endParaRPr lang="en-US" sz="1050" dirty="0"/>
          </a:p>
        </p:txBody>
      </p:sp>
      <p:sp>
        <p:nvSpPr>
          <p:cNvPr id="12" name="Text 10"/>
          <p:cNvSpPr/>
          <p:nvPr/>
        </p:nvSpPr>
        <p:spPr>
          <a:xfrm>
            <a:off x="4069080" y="1865376"/>
            <a:ext cx="6400800" cy="402336"/>
          </a:xfrm>
          <a:prstGeom prst="rect">
            <a:avLst/>
          </a:prstGeom>
          <a:noFill/>
          <a:ln/>
        </p:spPr>
        <p:txBody>
          <a:bodyPr wrap="square" lIns="0" tIns="0" rIns="0" bIns="0" rtlCol="0" anchor="ctr"/>
          <a:lstStyle/>
          <a:p>
            <a:pPr marL="0" indent="0">
              <a:buNone/>
            </a:pPr>
            <a:r>
              <a:rPr lang="en-US" sz="1000" dirty="0">
                <a:solidFill>
                  <a:srgbClr val="5C6E71"/>
                </a:solidFill>
                <a:latin typeface="Calibri" pitchFamily="34" charset="0"/>
                <a:ea typeface="Calibri" pitchFamily="34" charset="-122"/>
                <a:cs typeface="Calibri" pitchFamily="34" charset="-120"/>
              </a:rPr>
              <a:t>Standard web work. Well-understood patterns, fully specified in the SDD.</a:t>
            </a:r>
            <a:endParaRPr lang="en-US" sz="1000" dirty="0"/>
          </a:p>
        </p:txBody>
      </p:sp>
      <p:sp>
        <p:nvSpPr>
          <p:cNvPr id="13" name="Shape 11"/>
          <p:cNvSpPr/>
          <p:nvPr/>
        </p:nvSpPr>
        <p:spPr>
          <a:xfrm>
            <a:off x="10652760" y="1947672"/>
            <a:ext cx="777240" cy="237744"/>
          </a:xfrm>
          <a:prstGeom prst="roundRect">
            <a:avLst>
              <a:gd name="adj" fmla="val 19231"/>
            </a:avLst>
          </a:prstGeom>
          <a:solidFill>
            <a:srgbClr val="3E8E5A"/>
          </a:solidFill>
          <a:ln w="12700">
            <a:solidFill>
              <a:srgbClr val="3E8E5A"/>
            </a:solidFill>
            <a:prstDash val="solid"/>
          </a:ln>
        </p:spPr>
      </p:sp>
      <p:sp>
        <p:nvSpPr>
          <p:cNvPr id="14" name="Text 12"/>
          <p:cNvSpPr/>
          <p:nvPr/>
        </p:nvSpPr>
        <p:spPr>
          <a:xfrm>
            <a:off x="10652760" y="1947672"/>
            <a:ext cx="777240"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LOW</a:t>
            </a:r>
            <a:endParaRPr lang="en-US" sz="850" dirty="0"/>
          </a:p>
        </p:txBody>
      </p:sp>
      <p:sp>
        <p:nvSpPr>
          <p:cNvPr id="15" name="Shape 13"/>
          <p:cNvSpPr/>
          <p:nvPr/>
        </p:nvSpPr>
        <p:spPr>
          <a:xfrm>
            <a:off x="548640" y="2267712"/>
            <a:ext cx="11064240" cy="402336"/>
          </a:xfrm>
          <a:prstGeom prst="rect">
            <a:avLst/>
          </a:prstGeom>
          <a:solidFill>
            <a:srgbClr val="F7FAFA"/>
          </a:solidFill>
          <a:ln w="6350">
            <a:solidFill>
              <a:srgbClr val="D5E0E1"/>
            </a:solidFill>
            <a:prstDash val="solid"/>
          </a:ln>
        </p:spPr>
      </p:sp>
      <p:sp>
        <p:nvSpPr>
          <p:cNvPr id="16" name="Text 14"/>
          <p:cNvSpPr/>
          <p:nvPr/>
        </p:nvSpPr>
        <p:spPr>
          <a:xfrm>
            <a:off x="685800" y="2267712"/>
            <a:ext cx="3291840" cy="402336"/>
          </a:xfrm>
          <a:prstGeom prst="rect">
            <a:avLst/>
          </a:prstGeom>
          <a:noFill/>
          <a:ln/>
        </p:spPr>
        <p:txBody>
          <a:bodyPr wrap="square" lIns="0" tIns="0" rIns="0" bIns="0" rtlCol="0" anchor="ctr"/>
          <a:lstStyle/>
          <a:p>
            <a:pPr marL="0" indent="0">
              <a:buNone/>
            </a:pPr>
            <a:r>
              <a:rPr lang="en-US" sz="1050" b="1" dirty="0">
                <a:solidFill>
                  <a:srgbClr val="06474F"/>
                </a:solidFill>
                <a:latin typeface="Calibri" pitchFamily="34" charset="0"/>
                <a:ea typeface="Calibri" pitchFamily="34" charset="-122"/>
                <a:cs typeface="Calibri" pitchFamily="34" charset="-120"/>
              </a:rPr>
              <a:t>Content importer (CSV + 2,055 assets)</a:t>
            </a:r>
            <a:endParaRPr lang="en-US" sz="1050" dirty="0"/>
          </a:p>
        </p:txBody>
      </p:sp>
      <p:sp>
        <p:nvSpPr>
          <p:cNvPr id="17" name="Text 15"/>
          <p:cNvSpPr/>
          <p:nvPr/>
        </p:nvSpPr>
        <p:spPr>
          <a:xfrm>
            <a:off x="4069080" y="2267712"/>
            <a:ext cx="6400800" cy="402336"/>
          </a:xfrm>
          <a:prstGeom prst="rect">
            <a:avLst/>
          </a:prstGeom>
          <a:noFill/>
          <a:ln/>
        </p:spPr>
        <p:txBody>
          <a:bodyPr wrap="square" lIns="0" tIns="0" rIns="0" bIns="0" rtlCol="0" anchor="ctr"/>
          <a:lstStyle/>
          <a:p>
            <a:pPr marL="0" indent="0">
              <a:buNone/>
            </a:pPr>
            <a:r>
              <a:rPr lang="en-US" sz="1000" dirty="0">
                <a:solidFill>
                  <a:srgbClr val="5C6E71"/>
                </a:solidFill>
                <a:latin typeface="Calibri" pitchFamily="34" charset="0"/>
                <a:ea typeface="Calibri" pitchFamily="34" charset="-122"/>
                <a:cs typeface="Calibri" pitchFamily="34" charset="-120"/>
              </a:rPr>
              <a:t>Eleven task types, each with its own CSV columns. The mapping is unknown until I see the real files.</a:t>
            </a:r>
            <a:endParaRPr lang="en-US" sz="1000" dirty="0"/>
          </a:p>
        </p:txBody>
      </p:sp>
      <p:sp>
        <p:nvSpPr>
          <p:cNvPr id="18" name="Shape 16"/>
          <p:cNvSpPr/>
          <p:nvPr/>
        </p:nvSpPr>
        <p:spPr>
          <a:xfrm>
            <a:off x="10652760" y="2350008"/>
            <a:ext cx="777240" cy="237744"/>
          </a:xfrm>
          <a:prstGeom prst="roundRect">
            <a:avLst>
              <a:gd name="adj" fmla="val 19231"/>
            </a:avLst>
          </a:prstGeom>
          <a:solidFill>
            <a:srgbClr val="B4453C"/>
          </a:solidFill>
          <a:ln w="12700">
            <a:solidFill>
              <a:srgbClr val="B4453C"/>
            </a:solidFill>
            <a:prstDash val="solid"/>
          </a:ln>
        </p:spPr>
      </p:sp>
      <p:sp>
        <p:nvSpPr>
          <p:cNvPr id="19" name="Text 17"/>
          <p:cNvSpPr/>
          <p:nvPr/>
        </p:nvSpPr>
        <p:spPr>
          <a:xfrm>
            <a:off x="10652760" y="2350008"/>
            <a:ext cx="777240"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HIGH</a:t>
            </a:r>
            <a:endParaRPr lang="en-US" sz="850" dirty="0"/>
          </a:p>
        </p:txBody>
      </p:sp>
      <p:sp>
        <p:nvSpPr>
          <p:cNvPr id="20" name="Shape 18"/>
          <p:cNvSpPr/>
          <p:nvPr/>
        </p:nvSpPr>
        <p:spPr>
          <a:xfrm>
            <a:off x="548640" y="2670048"/>
            <a:ext cx="11064240" cy="402336"/>
          </a:xfrm>
          <a:prstGeom prst="rect">
            <a:avLst/>
          </a:prstGeom>
          <a:solidFill>
            <a:srgbClr val="FFFFFF"/>
          </a:solidFill>
          <a:ln w="6350">
            <a:solidFill>
              <a:srgbClr val="D5E0E1"/>
            </a:solidFill>
            <a:prstDash val="solid"/>
          </a:ln>
        </p:spPr>
      </p:sp>
      <p:sp>
        <p:nvSpPr>
          <p:cNvPr id="21" name="Text 19"/>
          <p:cNvSpPr/>
          <p:nvPr/>
        </p:nvSpPr>
        <p:spPr>
          <a:xfrm>
            <a:off x="685800" y="2670048"/>
            <a:ext cx="3291840" cy="402336"/>
          </a:xfrm>
          <a:prstGeom prst="rect">
            <a:avLst/>
          </a:prstGeom>
          <a:noFill/>
          <a:ln/>
        </p:spPr>
        <p:txBody>
          <a:bodyPr wrap="square" lIns="0" tIns="0" rIns="0" bIns="0" rtlCol="0" anchor="ctr"/>
          <a:lstStyle/>
          <a:p>
            <a:pPr marL="0" indent="0">
              <a:buNone/>
            </a:pPr>
            <a:r>
              <a:rPr lang="en-US" sz="1050" b="1" dirty="0">
                <a:solidFill>
                  <a:srgbClr val="06474F"/>
                </a:solidFill>
                <a:latin typeface="Calibri" pitchFamily="34" charset="0"/>
                <a:ea typeface="Calibri" pitchFamily="34" charset="-122"/>
                <a:cs typeface="Calibri" pitchFamily="34" charset="-120"/>
              </a:rPr>
              <a:t>Generic, data-driven task engine</a:t>
            </a:r>
            <a:endParaRPr lang="en-US" sz="1050" dirty="0"/>
          </a:p>
        </p:txBody>
      </p:sp>
      <p:sp>
        <p:nvSpPr>
          <p:cNvPr id="22" name="Text 20"/>
          <p:cNvSpPr/>
          <p:nvPr/>
        </p:nvSpPr>
        <p:spPr>
          <a:xfrm>
            <a:off x="4069080" y="2670048"/>
            <a:ext cx="6400800" cy="402336"/>
          </a:xfrm>
          <a:prstGeom prst="rect">
            <a:avLst/>
          </a:prstGeom>
          <a:noFill/>
          <a:ln/>
        </p:spPr>
        <p:txBody>
          <a:bodyPr wrap="square" lIns="0" tIns="0" rIns="0" bIns="0" rtlCol="0" anchor="ctr"/>
          <a:lstStyle/>
          <a:p>
            <a:pPr marL="0" indent="0">
              <a:buNone/>
            </a:pPr>
            <a:r>
              <a:rPr lang="en-US" sz="1000" dirty="0">
                <a:solidFill>
                  <a:srgbClr val="5C6E71"/>
                </a:solidFill>
                <a:latin typeface="Calibri" pitchFamily="34" charset="0"/>
                <a:ea typeface="Calibri" pitchFamily="34" charset="-122"/>
                <a:cs typeface="Calibri" pitchFamily="34" charset="-120"/>
              </a:rPr>
              <a:t>The central architectural bet. If it holds, everything is cheap. Proven or disproven in week 25.</a:t>
            </a:r>
            <a:endParaRPr lang="en-US" sz="1000" dirty="0"/>
          </a:p>
        </p:txBody>
      </p:sp>
      <p:sp>
        <p:nvSpPr>
          <p:cNvPr id="23" name="Shape 21"/>
          <p:cNvSpPr/>
          <p:nvPr/>
        </p:nvSpPr>
        <p:spPr>
          <a:xfrm>
            <a:off x="10652760" y="2752344"/>
            <a:ext cx="777240" cy="237744"/>
          </a:xfrm>
          <a:prstGeom prst="roundRect">
            <a:avLst>
              <a:gd name="adj" fmla="val 19231"/>
            </a:avLst>
          </a:prstGeom>
          <a:solidFill>
            <a:srgbClr val="E08A3C"/>
          </a:solidFill>
          <a:ln w="12700">
            <a:solidFill>
              <a:srgbClr val="E08A3C"/>
            </a:solidFill>
            <a:prstDash val="solid"/>
          </a:ln>
        </p:spPr>
      </p:sp>
      <p:sp>
        <p:nvSpPr>
          <p:cNvPr id="24" name="Text 22"/>
          <p:cNvSpPr/>
          <p:nvPr/>
        </p:nvSpPr>
        <p:spPr>
          <a:xfrm>
            <a:off x="10652760" y="2752344"/>
            <a:ext cx="777240"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MEDIUM</a:t>
            </a:r>
            <a:endParaRPr lang="en-US" sz="850" dirty="0"/>
          </a:p>
        </p:txBody>
      </p:sp>
      <p:sp>
        <p:nvSpPr>
          <p:cNvPr id="25" name="Shape 23"/>
          <p:cNvSpPr/>
          <p:nvPr/>
        </p:nvSpPr>
        <p:spPr>
          <a:xfrm>
            <a:off x="548640" y="3072384"/>
            <a:ext cx="11064240" cy="402336"/>
          </a:xfrm>
          <a:prstGeom prst="rect">
            <a:avLst/>
          </a:prstGeom>
          <a:solidFill>
            <a:srgbClr val="F7FAFA"/>
          </a:solidFill>
          <a:ln w="6350">
            <a:solidFill>
              <a:srgbClr val="D5E0E1"/>
            </a:solidFill>
            <a:prstDash val="solid"/>
          </a:ln>
        </p:spPr>
      </p:sp>
      <p:sp>
        <p:nvSpPr>
          <p:cNvPr id="26" name="Text 24"/>
          <p:cNvSpPr/>
          <p:nvPr/>
        </p:nvSpPr>
        <p:spPr>
          <a:xfrm>
            <a:off x="685800" y="3072384"/>
            <a:ext cx="3291840" cy="402336"/>
          </a:xfrm>
          <a:prstGeom prst="rect">
            <a:avLst/>
          </a:prstGeom>
          <a:noFill/>
          <a:ln/>
        </p:spPr>
        <p:txBody>
          <a:bodyPr wrap="square" lIns="0" tIns="0" rIns="0" bIns="0" rtlCol="0" anchor="ctr"/>
          <a:lstStyle/>
          <a:p>
            <a:pPr marL="0" indent="0">
              <a:buNone/>
            </a:pPr>
            <a:r>
              <a:rPr lang="en-US" sz="1050" b="1" dirty="0">
                <a:solidFill>
                  <a:srgbClr val="06474F"/>
                </a:solidFill>
                <a:latin typeface="Calibri" pitchFamily="34" charset="0"/>
                <a:ea typeface="Calibri" pitchFamily="34" charset="-122"/>
                <a:cs typeface="Calibri" pitchFamily="34" charset="-120"/>
              </a:rPr>
              <a:t>The nine remaining task types</a:t>
            </a:r>
            <a:endParaRPr lang="en-US" sz="1050" dirty="0"/>
          </a:p>
        </p:txBody>
      </p:sp>
      <p:sp>
        <p:nvSpPr>
          <p:cNvPr id="27" name="Text 25"/>
          <p:cNvSpPr/>
          <p:nvPr/>
        </p:nvSpPr>
        <p:spPr>
          <a:xfrm>
            <a:off x="4069080" y="3072384"/>
            <a:ext cx="6400800" cy="402336"/>
          </a:xfrm>
          <a:prstGeom prst="rect">
            <a:avLst/>
          </a:prstGeom>
          <a:noFill/>
          <a:ln/>
        </p:spPr>
        <p:txBody>
          <a:bodyPr wrap="square" lIns="0" tIns="0" rIns="0" bIns="0" rtlCol="0" anchor="ctr"/>
          <a:lstStyle/>
          <a:p>
            <a:pPr marL="0" indent="0">
              <a:buNone/>
            </a:pPr>
            <a:r>
              <a:rPr lang="en-US" sz="1000" dirty="0">
                <a:solidFill>
                  <a:srgbClr val="5C6E71"/>
                </a:solidFill>
                <a:latin typeface="Calibri" pitchFamily="34" charset="0"/>
                <a:ea typeface="Calibri" pitchFamily="34" charset="-122"/>
                <a:cs typeface="Calibri" pitchFamily="34" charset="-120"/>
              </a:rPr>
              <a:t>Volume, not difficulty - once the engine exists. Two exceptions below.</a:t>
            </a:r>
            <a:endParaRPr lang="en-US" sz="1000" dirty="0"/>
          </a:p>
        </p:txBody>
      </p:sp>
      <p:sp>
        <p:nvSpPr>
          <p:cNvPr id="28" name="Shape 26"/>
          <p:cNvSpPr/>
          <p:nvPr/>
        </p:nvSpPr>
        <p:spPr>
          <a:xfrm>
            <a:off x="10652760" y="3154680"/>
            <a:ext cx="777240" cy="237744"/>
          </a:xfrm>
          <a:prstGeom prst="roundRect">
            <a:avLst>
              <a:gd name="adj" fmla="val 19231"/>
            </a:avLst>
          </a:prstGeom>
          <a:solidFill>
            <a:srgbClr val="3E8E5A"/>
          </a:solidFill>
          <a:ln w="12700">
            <a:solidFill>
              <a:srgbClr val="3E8E5A"/>
            </a:solidFill>
            <a:prstDash val="solid"/>
          </a:ln>
        </p:spPr>
      </p:sp>
      <p:sp>
        <p:nvSpPr>
          <p:cNvPr id="29" name="Text 27"/>
          <p:cNvSpPr/>
          <p:nvPr/>
        </p:nvSpPr>
        <p:spPr>
          <a:xfrm>
            <a:off x="10652760" y="3154680"/>
            <a:ext cx="777240"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LOW</a:t>
            </a:r>
            <a:endParaRPr lang="en-US" sz="850" dirty="0"/>
          </a:p>
        </p:txBody>
      </p:sp>
      <p:sp>
        <p:nvSpPr>
          <p:cNvPr id="30" name="Shape 28"/>
          <p:cNvSpPr/>
          <p:nvPr/>
        </p:nvSpPr>
        <p:spPr>
          <a:xfrm>
            <a:off x="548640" y="3474720"/>
            <a:ext cx="11064240" cy="402336"/>
          </a:xfrm>
          <a:prstGeom prst="rect">
            <a:avLst/>
          </a:prstGeom>
          <a:solidFill>
            <a:srgbClr val="FFFFFF"/>
          </a:solidFill>
          <a:ln w="6350">
            <a:solidFill>
              <a:srgbClr val="D5E0E1"/>
            </a:solidFill>
            <a:prstDash val="solid"/>
          </a:ln>
        </p:spPr>
      </p:sp>
      <p:sp>
        <p:nvSpPr>
          <p:cNvPr id="31" name="Text 29"/>
          <p:cNvSpPr/>
          <p:nvPr/>
        </p:nvSpPr>
        <p:spPr>
          <a:xfrm>
            <a:off x="685800" y="3474720"/>
            <a:ext cx="3291840" cy="402336"/>
          </a:xfrm>
          <a:prstGeom prst="rect">
            <a:avLst/>
          </a:prstGeom>
          <a:noFill/>
          <a:ln/>
        </p:spPr>
        <p:txBody>
          <a:bodyPr wrap="square" lIns="0" tIns="0" rIns="0" bIns="0" rtlCol="0" anchor="ctr"/>
          <a:lstStyle/>
          <a:p>
            <a:pPr marL="0" indent="0">
              <a:buNone/>
            </a:pPr>
            <a:r>
              <a:rPr lang="en-US" sz="1050" b="1" dirty="0">
                <a:solidFill>
                  <a:srgbClr val="06474F"/>
                </a:solidFill>
                <a:latin typeface="Calibri" pitchFamily="34" charset="0"/>
                <a:ea typeface="Calibri" pitchFamily="34" charset="-122"/>
                <a:cs typeface="Calibri" pitchFamily="34" charset="-120"/>
              </a:rPr>
              <a:t>Storybook (A) and Memory (U)</a:t>
            </a:r>
            <a:endParaRPr lang="en-US" sz="1050" dirty="0"/>
          </a:p>
        </p:txBody>
      </p:sp>
      <p:sp>
        <p:nvSpPr>
          <p:cNvPr id="32" name="Text 30"/>
          <p:cNvSpPr/>
          <p:nvPr/>
        </p:nvSpPr>
        <p:spPr>
          <a:xfrm>
            <a:off x="4069080" y="3474720"/>
            <a:ext cx="6400800" cy="402336"/>
          </a:xfrm>
          <a:prstGeom prst="rect">
            <a:avLst/>
          </a:prstGeom>
          <a:noFill/>
          <a:ln/>
        </p:spPr>
        <p:txBody>
          <a:bodyPr wrap="square" lIns="0" tIns="0" rIns="0" bIns="0" rtlCol="0" anchor="ctr"/>
          <a:lstStyle/>
          <a:p>
            <a:pPr marL="0" indent="0">
              <a:buNone/>
            </a:pPr>
            <a:r>
              <a:rPr lang="en-US" sz="1000" dirty="0">
                <a:solidFill>
                  <a:srgbClr val="5C6E71"/>
                </a:solidFill>
                <a:latin typeface="Calibri" pitchFamily="34" charset="0"/>
                <a:ea typeface="Calibri" pitchFamily="34" charset="-122"/>
                <a:cs typeface="Calibri" pitchFamily="34" charset="-120"/>
              </a:rPr>
              <a:t>Neither is a simple question-and-answer trial. The engine needs a narrative mode and a recall mode.</a:t>
            </a:r>
            <a:endParaRPr lang="en-US" sz="1000" dirty="0"/>
          </a:p>
        </p:txBody>
      </p:sp>
      <p:sp>
        <p:nvSpPr>
          <p:cNvPr id="33" name="Shape 31"/>
          <p:cNvSpPr/>
          <p:nvPr/>
        </p:nvSpPr>
        <p:spPr>
          <a:xfrm>
            <a:off x="10652760" y="3557016"/>
            <a:ext cx="777240" cy="237744"/>
          </a:xfrm>
          <a:prstGeom prst="roundRect">
            <a:avLst>
              <a:gd name="adj" fmla="val 19231"/>
            </a:avLst>
          </a:prstGeom>
          <a:solidFill>
            <a:srgbClr val="E08A3C"/>
          </a:solidFill>
          <a:ln w="12700">
            <a:solidFill>
              <a:srgbClr val="E08A3C"/>
            </a:solidFill>
            <a:prstDash val="solid"/>
          </a:ln>
        </p:spPr>
      </p:sp>
      <p:sp>
        <p:nvSpPr>
          <p:cNvPr id="34" name="Text 32"/>
          <p:cNvSpPr/>
          <p:nvPr/>
        </p:nvSpPr>
        <p:spPr>
          <a:xfrm>
            <a:off x="10652760" y="3557016"/>
            <a:ext cx="777240"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MEDIUM</a:t>
            </a:r>
            <a:endParaRPr lang="en-US" sz="850" dirty="0"/>
          </a:p>
        </p:txBody>
      </p:sp>
      <p:sp>
        <p:nvSpPr>
          <p:cNvPr id="35" name="Shape 33"/>
          <p:cNvSpPr/>
          <p:nvPr/>
        </p:nvSpPr>
        <p:spPr>
          <a:xfrm>
            <a:off x="548640" y="3877056"/>
            <a:ext cx="11064240" cy="402336"/>
          </a:xfrm>
          <a:prstGeom prst="rect">
            <a:avLst/>
          </a:prstGeom>
          <a:solidFill>
            <a:srgbClr val="F7FAFA"/>
          </a:solidFill>
          <a:ln w="6350">
            <a:solidFill>
              <a:srgbClr val="D5E0E1"/>
            </a:solidFill>
            <a:prstDash val="solid"/>
          </a:ln>
        </p:spPr>
      </p:sp>
      <p:sp>
        <p:nvSpPr>
          <p:cNvPr id="36" name="Text 34"/>
          <p:cNvSpPr/>
          <p:nvPr/>
        </p:nvSpPr>
        <p:spPr>
          <a:xfrm>
            <a:off x="685800" y="3877056"/>
            <a:ext cx="3291840" cy="402336"/>
          </a:xfrm>
          <a:prstGeom prst="rect">
            <a:avLst/>
          </a:prstGeom>
          <a:noFill/>
          <a:ln/>
        </p:spPr>
        <p:txBody>
          <a:bodyPr wrap="square" lIns="0" tIns="0" rIns="0" bIns="0" rtlCol="0" anchor="ctr"/>
          <a:lstStyle/>
          <a:p>
            <a:pPr marL="0" indent="0">
              <a:buNone/>
            </a:pPr>
            <a:r>
              <a:rPr lang="en-US" sz="1050" b="1" dirty="0">
                <a:solidFill>
                  <a:srgbClr val="06474F"/>
                </a:solidFill>
                <a:latin typeface="Calibri" pitchFamily="34" charset="0"/>
                <a:ea typeface="Calibri" pitchFamily="34" charset="-122"/>
                <a:cs typeface="Calibri" pitchFamily="34" charset="-120"/>
              </a:rPr>
              <a:t>Audio-first UI on tablets</a:t>
            </a:r>
            <a:endParaRPr lang="en-US" sz="1050" dirty="0"/>
          </a:p>
        </p:txBody>
      </p:sp>
      <p:sp>
        <p:nvSpPr>
          <p:cNvPr id="37" name="Text 35"/>
          <p:cNvSpPr/>
          <p:nvPr/>
        </p:nvSpPr>
        <p:spPr>
          <a:xfrm>
            <a:off x="4069080" y="3877056"/>
            <a:ext cx="6400800" cy="402336"/>
          </a:xfrm>
          <a:prstGeom prst="rect">
            <a:avLst/>
          </a:prstGeom>
          <a:noFill/>
          <a:ln/>
        </p:spPr>
        <p:txBody>
          <a:bodyPr wrap="square" lIns="0" tIns="0" rIns="0" bIns="0" rtlCol="0" anchor="ctr"/>
          <a:lstStyle/>
          <a:p>
            <a:pPr marL="0" indent="0">
              <a:buNone/>
            </a:pPr>
            <a:r>
              <a:rPr lang="en-US" sz="1000" dirty="0">
                <a:solidFill>
                  <a:srgbClr val="5C6E71"/>
                </a:solidFill>
                <a:latin typeface="Calibri" pitchFamily="34" charset="0"/>
                <a:ea typeface="Calibri" pitchFamily="34" charset="-122"/>
                <a:cs typeface="Calibri" pitchFamily="34" charset="-120"/>
              </a:rPr>
              <a:t>iPad Safari will not play audio without a user tap. A reading-free child UI depends on getting this right.</a:t>
            </a:r>
            <a:endParaRPr lang="en-US" sz="1000" dirty="0"/>
          </a:p>
        </p:txBody>
      </p:sp>
      <p:sp>
        <p:nvSpPr>
          <p:cNvPr id="38" name="Shape 36"/>
          <p:cNvSpPr/>
          <p:nvPr/>
        </p:nvSpPr>
        <p:spPr>
          <a:xfrm>
            <a:off x="10652760" y="3959352"/>
            <a:ext cx="777240" cy="237744"/>
          </a:xfrm>
          <a:prstGeom prst="roundRect">
            <a:avLst>
              <a:gd name="adj" fmla="val 19231"/>
            </a:avLst>
          </a:prstGeom>
          <a:solidFill>
            <a:srgbClr val="E08A3C"/>
          </a:solidFill>
          <a:ln w="12700">
            <a:solidFill>
              <a:srgbClr val="E08A3C"/>
            </a:solidFill>
            <a:prstDash val="solid"/>
          </a:ln>
        </p:spPr>
      </p:sp>
      <p:sp>
        <p:nvSpPr>
          <p:cNvPr id="39" name="Text 37"/>
          <p:cNvSpPr/>
          <p:nvPr/>
        </p:nvSpPr>
        <p:spPr>
          <a:xfrm>
            <a:off x="10652760" y="3959352"/>
            <a:ext cx="777240"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MEDIUM</a:t>
            </a:r>
            <a:endParaRPr lang="en-US" sz="850" dirty="0"/>
          </a:p>
        </p:txBody>
      </p:sp>
      <p:sp>
        <p:nvSpPr>
          <p:cNvPr id="40" name="Shape 38"/>
          <p:cNvSpPr/>
          <p:nvPr/>
        </p:nvSpPr>
        <p:spPr>
          <a:xfrm>
            <a:off x="548640" y="4279392"/>
            <a:ext cx="11064240" cy="402336"/>
          </a:xfrm>
          <a:prstGeom prst="rect">
            <a:avLst/>
          </a:prstGeom>
          <a:solidFill>
            <a:srgbClr val="FFFFFF"/>
          </a:solidFill>
          <a:ln w="6350">
            <a:solidFill>
              <a:srgbClr val="D5E0E1"/>
            </a:solidFill>
            <a:prstDash val="solid"/>
          </a:ln>
        </p:spPr>
      </p:sp>
      <p:sp>
        <p:nvSpPr>
          <p:cNvPr id="41" name="Text 39"/>
          <p:cNvSpPr/>
          <p:nvPr/>
        </p:nvSpPr>
        <p:spPr>
          <a:xfrm>
            <a:off x="685800" y="4279392"/>
            <a:ext cx="3291840" cy="402336"/>
          </a:xfrm>
          <a:prstGeom prst="rect">
            <a:avLst/>
          </a:prstGeom>
          <a:noFill/>
          <a:ln/>
        </p:spPr>
        <p:txBody>
          <a:bodyPr wrap="square" lIns="0" tIns="0" rIns="0" bIns="0" rtlCol="0" anchor="ctr"/>
          <a:lstStyle/>
          <a:p>
            <a:pPr marL="0" indent="0">
              <a:buNone/>
            </a:pPr>
            <a:r>
              <a:rPr lang="en-US" sz="1050" b="1" dirty="0">
                <a:solidFill>
                  <a:srgbClr val="06474F"/>
                </a:solidFill>
                <a:latin typeface="Calibri" pitchFamily="34" charset="0"/>
                <a:ea typeface="Calibri" pitchFamily="34" charset="-122"/>
                <a:cs typeface="Calibri" pitchFamily="34" charset="-120"/>
              </a:rPr>
              <a:t>Remediation, scoring, resume</a:t>
            </a:r>
            <a:endParaRPr lang="en-US" sz="1050" dirty="0"/>
          </a:p>
        </p:txBody>
      </p:sp>
      <p:sp>
        <p:nvSpPr>
          <p:cNvPr id="42" name="Text 40"/>
          <p:cNvSpPr/>
          <p:nvPr/>
        </p:nvSpPr>
        <p:spPr>
          <a:xfrm>
            <a:off x="4069080" y="4279392"/>
            <a:ext cx="6400800" cy="402336"/>
          </a:xfrm>
          <a:prstGeom prst="rect">
            <a:avLst/>
          </a:prstGeom>
          <a:noFill/>
          <a:ln/>
        </p:spPr>
        <p:txBody>
          <a:bodyPr wrap="square" lIns="0" tIns="0" rIns="0" bIns="0" rtlCol="0" anchor="ctr"/>
          <a:lstStyle/>
          <a:p>
            <a:pPr marL="0" indent="0">
              <a:buNone/>
            </a:pPr>
            <a:r>
              <a:rPr lang="en-US" sz="1000" dirty="0">
                <a:solidFill>
                  <a:srgbClr val="5C6E71"/>
                </a:solidFill>
                <a:latin typeface="Calibri" pitchFamily="34" charset="0"/>
                <a:ea typeface="Calibri" pitchFamily="34" charset="-122"/>
                <a:cs typeface="Calibri" pitchFamily="34" charset="-120"/>
              </a:rPr>
              <a:t>Server-side rules, cleanly isolated and unit-testable. Nothing novel.</a:t>
            </a:r>
            <a:endParaRPr lang="en-US" sz="1000" dirty="0"/>
          </a:p>
        </p:txBody>
      </p:sp>
      <p:sp>
        <p:nvSpPr>
          <p:cNvPr id="43" name="Shape 41"/>
          <p:cNvSpPr/>
          <p:nvPr/>
        </p:nvSpPr>
        <p:spPr>
          <a:xfrm>
            <a:off x="10652760" y="4361688"/>
            <a:ext cx="777240" cy="237744"/>
          </a:xfrm>
          <a:prstGeom prst="roundRect">
            <a:avLst>
              <a:gd name="adj" fmla="val 19231"/>
            </a:avLst>
          </a:prstGeom>
          <a:solidFill>
            <a:srgbClr val="3E8E5A"/>
          </a:solidFill>
          <a:ln w="12700">
            <a:solidFill>
              <a:srgbClr val="3E8E5A"/>
            </a:solidFill>
            <a:prstDash val="solid"/>
          </a:ln>
        </p:spPr>
      </p:sp>
      <p:sp>
        <p:nvSpPr>
          <p:cNvPr id="44" name="Text 42"/>
          <p:cNvSpPr/>
          <p:nvPr/>
        </p:nvSpPr>
        <p:spPr>
          <a:xfrm>
            <a:off x="10652760" y="4361688"/>
            <a:ext cx="777240"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LOW</a:t>
            </a:r>
            <a:endParaRPr lang="en-US" sz="850" dirty="0"/>
          </a:p>
        </p:txBody>
      </p:sp>
      <p:sp>
        <p:nvSpPr>
          <p:cNvPr id="45" name="Shape 43"/>
          <p:cNvSpPr/>
          <p:nvPr/>
        </p:nvSpPr>
        <p:spPr>
          <a:xfrm>
            <a:off x="548640" y="4681728"/>
            <a:ext cx="11064240" cy="402336"/>
          </a:xfrm>
          <a:prstGeom prst="rect">
            <a:avLst/>
          </a:prstGeom>
          <a:solidFill>
            <a:srgbClr val="F7FAFA"/>
          </a:solidFill>
          <a:ln w="6350">
            <a:solidFill>
              <a:srgbClr val="D5E0E1"/>
            </a:solidFill>
            <a:prstDash val="solid"/>
          </a:ln>
        </p:spPr>
      </p:sp>
      <p:sp>
        <p:nvSpPr>
          <p:cNvPr id="46" name="Text 44"/>
          <p:cNvSpPr/>
          <p:nvPr/>
        </p:nvSpPr>
        <p:spPr>
          <a:xfrm>
            <a:off x="685800" y="4681728"/>
            <a:ext cx="3291840" cy="402336"/>
          </a:xfrm>
          <a:prstGeom prst="rect">
            <a:avLst/>
          </a:prstGeom>
          <a:noFill/>
          <a:ln/>
        </p:spPr>
        <p:txBody>
          <a:bodyPr wrap="square" lIns="0" tIns="0" rIns="0" bIns="0" rtlCol="0" anchor="ctr"/>
          <a:lstStyle/>
          <a:p>
            <a:pPr marL="0" indent="0">
              <a:buNone/>
            </a:pPr>
            <a:r>
              <a:rPr lang="en-US" sz="1050" b="1" dirty="0">
                <a:solidFill>
                  <a:srgbClr val="06474F"/>
                </a:solidFill>
                <a:latin typeface="Calibri" pitchFamily="34" charset="0"/>
                <a:ea typeface="Calibri" pitchFamily="34" charset="-122"/>
                <a:cs typeface="Calibri" pitchFamily="34" charset="-120"/>
              </a:rPr>
              <a:t>Teacher and admin dashboards</a:t>
            </a:r>
            <a:endParaRPr lang="en-US" sz="1050" dirty="0"/>
          </a:p>
        </p:txBody>
      </p:sp>
      <p:sp>
        <p:nvSpPr>
          <p:cNvPr id="47" name="Text 45"/>
          <p:cNvSpPr/>
          <p:nvPr/>
        </p:nvSpPr>
        <p:spPr>
          <a:xfrm>
            <a:off x="4069080" y="4681728"/>
            <a:ext cx="6400800" cy="402336"/>
          </a:xfrm>
          <a:prstGeom prst="rect">
            <a:avLst/>
          </a:prstGeom>
          <a:noFill/>
          <a:ln/>
        </p:spPr>
        <p:txBody>
          <a:bodyPr wrap="square" lIns="0" tIns="0" rIns="0" bIns="0" rtlCol="0" anchor="ctr"/>
          <a:lstStyle/>
          <a:p>
            <a:pPr marL="0" indent="0">
              <a:buNone/>
            </a:pPr>
            <a:r>
              <a:rPr lang="en-US" sz="1000" dirty="0">
                <a:solidFill>
                  <a:srgbClr val="5C6E71"/>
                </a:solidFill>
                <a:latin typeface="Calibri" pitchFamily="34" charset="0"/>
                <a:ea typeface="Calibri" pitchFamily="34" charset="-122"/>
                <a:cs typeface="Calibri" pitchFamily="34" charset="-120"/>
              </a:rPr>
              <a:t>Aggregation queries and charts. Routine.</a:t>
            </a:r>
            <a:endParaRPr lang="en-US" sz="1000" dirty="0"/>
          </a:p>
        </p:txBody>
      </p:sp>
      <p:sp>
        <p:nvSpPr>
          <p:cNvPr id="48" name="Shape 46"/>
          <p:cNvSpPr/>
          <p:nvPr/>
        </p:nvSpPr>
        <p:spPr>
          <a:xfrm>
            <a:off x="10652760" y="4764024"/>
            <a:ext cx="777240" cy="237744"/>
          </a:xfrm>
          <a:prstGeom prst="roundRect">
            <a:avLst>
              <a:gd name="adj" fmla="val 19231"/>
            </a:avLst>
          </a:prstGeom>
          <a:solidFill>
            <a:srgbClr val="3E8E5A"/>
          </a:solidFill>
          <a:ln w="12700">
            <a:solidFill>
              <a:srgbClr val="3E8E5A"/>
            </a:solidFill>
            <a:prstDash val="solid"/>
          </a:ln>
        </p:spPr>
      </p:sp>
      <p:sp>
        <p:nvSpPr>
          <p:cNvPr id="49" name="Text 47"/>
          <p:cNvSpPr/>
          <p:nvPr/>
        </p:nvSpPr>
        <p:spPr>
          <a:xfrm>
            <a:off x="10652760" y="4764024"/>
            <a:ext cx="777240"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LOW</a:t>
            </a:r>
            <a:endParaRPr lang="en-US" sz="850" dirty="0"/>
          </a:p>
        </p:txBody>
      </p:sp>
      <p:sp>
        <p:nvSpPr>
          <p:cNvPr id="50" name="Shape 48"/>
          <p:cNvSpPr/>
          <p:nvPr/>
        </p:nvSpPr>
        <p:spPr>
          <a:xfrm>
            <a:off x="548640" y="5084064"/>
            <a:ext cx="11064240" cy="402336"/>
          </a:xfrm>
          <a:prstGeom prst="rect">
            <a:avLst/>
          </a:prstGeom>
          <a:solidFill>
            <a:srgbClr val="FFFFFF"/>
          </a:solidFill>
          <a:ln w="6350">
            <a:solidFill>
              <a:srgbClr val="D5E0E1"/>
            </a:solidFill>
            <a:prstDash val="solid"/>
          </a:ln>
        </p:spPr>
      </p:sp>
      <p:sp>
        <p:nvSpPr>
          <p:cNvPr id="51" name="Text 49"/>
          <p:cNvSpPr/>
          <p:nvPr/>
        </p:nvSpPr>
        <p:spPr>
          <a:xfrm>
            <a:off x="685800" y="5084064"/>
            <a:ext cx="3291840" cy="402336"/>
          </a:xfrm>
          <a:prstGeom prst="rect">
            <a:avLst/>
          </a:prstGeom>
          <a:noFill/>
          <a:ln/>
        </p:spPr>
        <p:txBody>
          <a:bodyPr wrap="square" lIns="0" tIns="0" rIns="0" bIns="0" rtlCol="0" anchor="ctr"/>
          <a:lstStyle/>
          <a:p>
            <a:pPr marL="0" indent="0">
              <a:buNone/>
            </a:pPr>
            <a:r>
              <a:rPr lang="en-US" sz="1050" b="1" dirty="0">
                <a:solidFill>
                  <a:srgbClr val="06474F"/>
                </a:solidFill>
                <a:latin typeface="Calibri" pitchFamily="34" charset="0"/>
                <a:ea typeface="Calibri" pitchFamily="34" charset="-122"/>
                <a:cs typeface="Calibri" pitchFamily="34" charset="-120"/>
              </a:rPr>
              <a:t>Recording children's speech (R47)</a:t>
            </a:r>
            <a:endParaRPr lang="en-US" sz="1050" dirty="0"/>
          </a:p>
        </p:txBody>
      </p:sp>
      <p:sp>
        <p:nvSpPr>
          <p:cNvPr id="52" name="Text 50"/>
          <p:cNvSpPr/>
          <p:nvPr/>
        </p:nvSpPr>
        <p:spPr>
          <a:xfrm>
            <a:off x="4069080" y="5084064"/>
            <a:ext cx="6400800" cy="402336"/>
          </a:xfrm>
          <a:prstGeom prst="rect">
            <a:avLst/>
          </a:prstGeom>
          <a:noFill/>
          <a:ln/>
        </p:spPr>
        <p:txBody>
          <a:bodyPr wrap="square" lIns="0" tIns="0" rIns="0" bIns="0" rtlCol="0" anchor="ctr"/>
          <a:lstStyle/>
          <a:p>
            <a:pPr marL="0" indent="0">
              <a:buNone/>
            </a:pPr>
            <a:r>
              <a:rPr lang="en-US" sz="1000" dirty="0">
                <a:solidFill>
                  <a:srgbClr val="5C6E71"/>
                </a:solidFill>
                <a:latin typeface="Calibri" pitchFamily="34" charset="0"/>
                <a:ea typeface="Calibri" pitchFamily="34" charset="-122"/>
                <a:cs typeface="Calibri" pitchFamily="34" charset="-120"/>
              </a:rPr>
              <a:t>Trivial to build. The risk is legal, not technical.</a:t>
            </a:r>
            <a:endParaRPr lang="en-US" sz="1000" dirty="0"/>
          </a:p>
        </p:txBody>
      </p:sp>
      <p:sp>
        <p:nvSpPr>
          <p:cNvPr id="53" name="Shape 51"/>
          <p:cNvSpPr/>
          <p:nvPr/>
        </p:nvSpPr>
        <p:spPr>
          <a:xfrm>
            <a:off x="10652760" y="5166360"/>
            <a:ext cx="777240" cy="237744"/>
          </a:xfrm>
          <a:prstGeom prst="roundRect">
            <a:avLst>
              <a:gd name="adj" fmla="val 19231"/>
            </a:avLst>
          </a:prstGeom>
          <a:solidFill>
            <a:srgbClr val="B4453C"/>
          </a:solidFill>
          <a:ln w="12700">
            <a:solidFill>
              <a:srgbClr val="B4453C"/>
            </a:solidFill>
            <a:prstDash val="solid"/>
          </a:ln>
        </p:spPr>
      </p:sp>
      <p:sp>
        <p:nvSpPr>
          <p:cNvPr id="54" name="Text 52"/>
          <p:cNvSpPr/>
          <p:nvPr/>
        </p:nvSpPr>
        <p:spPr>
          <a:xfrm>
            <a:off x="10652760" y="5166360"/>
            <a:ext cx="777240"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HIGH</a:t>
            </a:r>
            <a:endParaRPr lang="en-US" sz="850" dirty="0"/>
          </a:p>
        </p:txBody>
      </p:sp>
      <p:sp>
        <p:nvSpPr>
          <p:cNvPr id="55" name="Shape 53"/>
          <p:cNvSpPr/>
          <p:nvPr/>
        </p:nvSpPr>
        <p:spPr>
          <a:xfrm>
            <a:off x="548640" y="5486400"/>
            <a:ext cx="11064240" cy="402336"/>
          </a:xfrm>
          <a:prstGeom prst="rect">
            <a:avLst/>
          </a:prstGeom>
          <a:solidFill>
            <a:srgbClr val="F7FAFA"/>
          </a:solidFill>
          <a:ln w="6350">
            <a:solidFill>
              <a:srgbClr val="D5E0E1"/>
            </a:solidFill>
            <a:prstDash val="solid"/>
          </a:ln>
        </p:spPr>
      </p:sp>
      <p:sp>
        <p:nvSpPr>
          <p:cNvPr id="56" name="Text 54"/>
          <p:cNvSpPr/>
          <p:nvPr/>
        </p:nvSpPr>
        <p:spPr>
          <a:xfrm>
            <a:off x="685800" y="5486400"/>
            <a:ext cx="3291840" cy="402336"/>
          </a:xfrm>
          <a:prstGeom prst="rect">
            <a:avLst/>
          </a:prstGeom>
          <a:noFill/>
          <a:ln/>
        </p:spPr>
        <p:txBody>
          <a:bodyPr wrap="square" lIns="0" tIns="0" rIns="0" bIns="0" rtlCol="0" anchor="ctr"/>
          <a:lstStyle/>
          <a:p>
            <a:pPr marL="0" indent="0">
              <a:buNone/>
            </a:pPr>
            <a:r>
              <a:rPr lang="en-US" sz="1050" b="1" dirty="0">
                <a:solidFill>
                  <a:srgbClr val="06474F"/>
                </a:solidFill>
                <a:latin typeface="Calibri" pitchFamily="34" charset="0"/>
                <a:ea typeface="Calibri" pitchFamily="34" charset="-122"/>
                <a:cs typeface="Calibri" pitchFamily="34" charset="-120"/>
              </a:rPr>
              <a:t>Delivering all of it at 6 hours a week</a:t>
            </a:r>
            <a:endParaRPr lang="en-US" sz="1050" dirty="0"/>
          </a:p>
        </p:txBody>
      </p:sp>
      <p:sp>
        <p:nvSpPr>
          <p:cNvPr id="57" name="Text 55"/>
          <p:cNvSpPr/>
          <p:nvPr/>
        </p:nvSpPr>
        <p:spPr>
          <a:xfrm>
            <a:off x="4069080" y="5486400"/>
            <a:ext cx="6400800" cy="402336"/>
          </a:xfrm>
          <a:prstGeom prst="rect">
            <a:avLst/>
          </a:prstGeom>
          <a:noFill/>
          <a:ln/>
        </p:spPr>
        <p:txBody>
          <a:bodyPr wrap="square" lIns="0" tIns="0" rIns="0" bIns="0" rtlCol="0" anchor="ctr"/>
          <a:lstStyle/>
          <a:p>
            <a:pPr marL="0" indent="0">
              <a:buNone/>
            </a:pPr>
            <a:r>
              <a:rPr lang="en-US" sz="1000" dirty="0">
                <a:solidFill>
                  <a:srgbClr val="5C6E71"/>
                </a:solidFill>
                <a:latin typeface="Calibri" pitchFamily="34" charset="0"/>
                <a:ea typeface="Calibri" pitchFamily="34" charset="-122"/>
                <a:cs typeface="Calibri" pitchFamily="34" charset="-120"/>
              </a:rPr>
              <a:t>This is the real constraint. Not the code.</a:t>
            </a:r>
            <a:endParaRPr lang="en-US" sz="1000" dirty="0"/>
          </a:p>
        </p:txBody>
      </p:sp>
      <p:sp>
        <p:nvSpPr>
          <p:cNvPr id="58" name="Shape 56"/>
          <p:cNvSpPr/>
          <p:nvPr/>
        </p:nvSpPr>
        <p:spPr>
          <a:xfrm>
            <a:off x="10652760" y="5568696"/>
            <a:ext cx="777240" cy="237744"/>
          </a:xfrm>
          <a:prstGeom prst="roundRect">
            <a:avLst>
              <a:gd name="adj" fmla="val 19231"/>
            </a:avLst>
          </a:prstGeom>
          <a:solidFill>
            <a:srgbClr val="B4453C"/>
          </a:solidFill>
          <a:ln w="12700">
            <a:solidFill>
              <a:srgbClr val="B4453C"/>
            </a:solidFill>
            <a:prstDash val="solid"/>
          </a:ln>
        </p:spPr>
      </p:sp>
      <p:sp>
        <p:nvSpPr>
          <p:cNvPr id="59" name="Text 57"/>
          <p:cNvSpPr/>
          <p:nvPr/>
        </p:nvSpPr>
        <p:spPr>
          <a:xfrm>
            <a:off x="10652760" y="5568696"/>
            <a:ext cx="777240" cy="237744"/>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HIGH</a:t>
            </a:r>
            <a:endParaRPr lang="en-US" sz="850" dirty="0"/>
          </a:p>
        </p:txBody>
      </p:sp>
      <p:sp>
        <p:nvSpPr>
          <p:cNvPr id="60" name="Text 58"/>
          <p:cNvSpPr/>
          <p:nvPr/>
        </p:nvSpPr>
        <p:spPr>
          <a:xfrm>
            <a:off x="548640" y="5998464"/>
            <a:ext cx="11064240" cy="274320"/>
          </a:xfrm>
          <a:prstGeom prst="rect">
            <a:avLst/>
          </a:prstGeom>
          <a:noFill/>
          <a:ln/>
        </p:spPr>
        <p:txBody>
          <a:bodyPr wrap="square" lIns="0" tIns="0" rIns="0" bIns="0" rtlCol="0" anchor="ctr"/>
          <a:lstStyle/>
          <a:p>
            <a:pPr marL="0" indent="0">
              <a:buNone/>
            </a:pPr>
            <a:r>
              <a:rPr lang="en-US" sz="1200" b="1" i="1" dirty="0">
                <a:solidFill>
                  <a:srgbClr val="00A896"/>
                </a:solidFill>
                <a:latin typeface="Calibri" pitchFamily="34" charset="0"/>
                <a:ea typeface="Calibri" pitchFamily="34" charset="-122"/>
                <a:cs typeface="Calibri" pitchFamily="34" charset="-120"/>
              </a:rPr>
              <a:t>Verdict: every requirement in the SRS is buildable with this stack. Nothing needs to be dropped for technical reasons.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200" b="1" dirty="0">
                <a:solidFill>
                  <a:srgbClr val="06474F"/>
                </a:solidFill>
                <a:latin typeface="Cambria" pitchFamily="34" charset="0"/>
                <a:ea typeface="Cambria" pitchFamily="34" charset="-122"/>
                <a:cs typeface="Cambria" pitchFamily="34" charset="-120"/>
              </a:rPr>
              <a:t>The three risks that can actually hurt us</a:t>
            </a:r>
            <a:endParaRPr lang="en-US" sz="3200" dirty="0"/>
          </a:p>
        </p:txBody>
      </p:sp>
      <p:sp>
        <p:nvSpPr>
          <p:cNvPr id="3" name="Text 1"/>
          <p:cNvSpPr/>
          <p:nvPr/>
        </p:nvSpPr>
        <p:spPr>
          <a:xfrm>
            <a:off x="548640" y="941832"/>
            <a:ext cx="11064240" cy="310896"/>
          </a:xfrm>
          <a:prstGeom prst="rect">
            <a:avLst/>
          </a:prstGeom>
          <a:noFill/>
          <a:ln/>
        </p:spPr>
        <p:txBody>
          <a:bodyPr wrap="square" lIns="0" tIns="0" rIns="0" bIns="0" rtlCol="0" anchor="ctr"/>
          <a:lstStyle/>
          <a:p>
            <a:pPr marL="0" indent="0">
              <a:buNone/>
            </a:pPr>
            <a:r>
              <a:rPr lang="en-US" sz="1400" i="1" dirty="0">
                <a:solidFill>
                  <a:srgbClr val="5C6E71"/>
                </a:solidFill>
                <a:latin typeface="Calibri" pitchFamily="34" charset="0"/>
                <a:ea typeface="Calibri" pitchFamily="34" charset="-122"/>
                <a:cs typeface="Calibri" pitchFamily="34" charset="-120"/>
              </a:rPr>
              <a:t>And what is already in the plan to contain them</a:t>
            </a:r>
            <a:endParaRPr lang="en-US" sz="1400" dirty="0"/>
          </a:p>
        </p:txBody>
      </p:sp>
      <p:sp>
        <p:nvSpPr>
          <p:cNvPr id="4" name="Text 2"/>
          <p:cNvSpPr/>
          <p:nvPr/>
        </p:nvSpPr>
        <p:spPr>
          <a:xfrm>
            <a:off x="548640" y="6473952"/>
            <a:ext cx="5486400" cy="237744"/>
          </a:xfrm>
          <a:prstGeom prst="rect">
            <a:avLst/>
          </a:prstGeom>
          <a:noFill/>
          <a:ln/>
        </p:spPr>
        <p:txBody>
          <a:bodyPr wrap="square" lIns="0" tIns="0" rIns="0" bIns="0" rtlCol="0" anchor="ctr"/>
          <a:lstStyle/>
          <a:p>
            <a:pPr marL="0" indent="0">
              <a:buNone/>
            </a:pPr>
            <a:r>
              <a:rPr lang="en-US" sz="900" dirty="0">
                <a:solidFill>
                  <a:srgbClr val="B9C4C6"/>
                </a:solidFill>
                <a:latin typeface="Calibri" pitchFamily="34" charset="0"/>
                <a:ea typeface="Calibri" pitchFamily="34" charset="-122"/>
                <a:cs typeface="Calibri" pitchFamily="34" charset="-120"/>
              </a:rPr>
              <a:t>SPEAK  |  Status &amp; Delivery Plan  |  12 July 2026</a:t>
            </a:r>
            <a:endParaRPr lang="en-US" sz="900" dirty="0"/>
          </a:p>
        </p:txBody>
      </p:sp>
      <p:sp>
        <p:nvSpPr>
          <p:cNvPr id="5" name="Text 3"/>
          <p:cNvSpPr/>
          <p:nvPr/>
        </p:nvSpPr>
        <p:spPr>
          <a:xfrm>
            <a:off x="11064240" y="6473952"/>
            <a:ext cx="548640" cy="237744"/>
          </a:xfrm>
          <a:prstGeom prst="rect">
            <a:avLst/>
          </a:prstGeom>
          <a:noFill/>
          <a:ln/>
        </p:spPr>
        <p:txBody>
          <a:bodyPr wrap="square" lIns="0" tIns="0" rIns="0" bIns="0" rtlCol="0" anchor="ctr"/>
          <a:lstStyle/>
          <a:p>
            <a:pPr marL="0" indent="0" algn="r">
              <a:buNone/>
            </a:pPr>
            <a:r>
              <a:rPr lang="en-US" sz="900" dirty="0">
                <a:solidFill>
                  <a:srgbClr val="B9C4C6"/>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548640" y="1463040"/>
            <a:ext cx="11064240" cy="1463040"/>
          </a:xfrm>
          <a:prstGeom prst="roundRect">
            <a:avLst>
              <a:gd name="adj" fmla="val 5000"/>
            </a:avLst>
          </a:prstGeom>
          <a:solidFill>
            <a:srgbClr val="EEF4F4"/>
          </a:solidFill>
          <a:ln w="9525">
            <a:solidFill>
              <a:srgbClr val="EEF4F4"/>
            </a:solidFill>
            <a:prstDash val="solid"/>
          </a:ln>
          <a:effectLst>
            <a:outerShdw blurRad="101600" dist="25400" dir="5400000" algn="bl" rotWithShape="0">
              <a:srgbClr val="0A2B31">
                <a:alpha val="10000"/>
              </a:srgbClr>
            </a:outerShdw>
          </a:effectLst>
        </p:spPr>
      </p:sp>
      <p:sp>
        <p:nvSpPr>
          <p:cNvPr id="7" name="Shape 5"/>
          <p:cNvSpPr/>
          <p:nvPr/>
        </p:nvSpPr>
        <p:spPr>
          <a:xfrm>
            <a:off x="804672" y="1737360"/>
            <a:ext cx="457200" cy="457200"/>
          </a:xfrm>
          <a:prstGeom prst="ellipse">
            <a:avLst/>
          </a:prstGeom>
          <a:solidFill>
            <a:srgbClr val="B4453C"/>
          </a:solidFill>
          <a:ln w="12700">
            <a:solidFill>
              <a:srgbClr val="B4453C"/>
            </a:solidFill>
            <a:prstDash val="solid"/>
          </a:ln>
        </p:spPr>
      </p:sp>
      <p:sp>
        <p:nvSpPr>
          <p:cNvPr id="8" name="Text 6"/>
          <p:cNvSpPr/>
          <p:nvPr/>
        </p:nvSpPr>
        <p:spPr>
          <a:xfrm>
            <a:off x="804672" y="173736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444752" y="1600200"/>
            <a:ext cx="10058400" cy="292608"/>
          </a:xfrm>
          <a:prstGeom prst="rect">
            <a:avLst/>
          </a:prstGeom>
          <a:noFill/>
          <a:ln/>
        </p:spPr>
        <p:txBody>
          <a:bodyPr wrap="square" lIns="0" tIns="0" rIns="0" bIns="0" rtlCol="0" anchor="ctr"/>
          <a:lstStyle/>
          <a:p>
            <a:pPr marL="0" indent="0">
              <a:buNone/>
            </a:pPr>
            <a:r>
              <a:rPr lang="en-US" sz="1450" b="1" dirty="0">
                <a:solidFill>
                  <a:srgbClr val="06474F"/>
                </a:solidFill>
                <a:latin typeface="Calibri" pitchFamily="34" charset="0"/>
                <a:ea typeface="Calibri" pitchFamily="34" charset="-122"/>
                <a:cs typeface="Calibri" pitchFamily="34" charset="-120"/>
              </a:rPr>
              <a:t>The CSV files are not as regular as they look</a:t>
            </a:r>
            <a:endParaRPr lang="en-US" sz="1450" dirty="0"/>
          </a:p>
        </p:txBody>
      </p:sp>
      <p:sp>
        <p:nvSpPr>
          <p:cNvPr id="10" name="Text 8"/>
          <p:cNvSpPr/>
          <p:nvPr/>
        </p:nvSpPr>
        <p:spPr>
          <a:xfrm>
            <a:off x="1444752" y="1901952"/>
            <a:ext cx="10058400" cy="502920"/>
          </a:xfrm>
          <a:prstGeom prst="rect">
            <a:avLst/>
          </a:prstGeom>
          <a:noFill/>
          <a:ln/>
        </p:spPr>
        <p:txBody>
          <a:bodyPr wrap="square" lIns="0" tIns="0" rIns="0" bIns="0" rtlCol="0" anchor="ctr"/>
          <a:lstStyle/>
          <a:p>
            <a:pPr marL="0" indent="0">
              <a:lnSpc>
                <a:spcPts val="1300"/>
              </a:lnSpc>
              <a:buNone/>
            </a:pPr>
            <a:r>
              <a:rPr lang="en-US" sz="1050" dirty="0">
                <a:solidFill>
                  <a:srgbClr val="5C6E71"/>
                </a:solidFill>
                <a:latin typeface="Calibri" pitchFamily="34" charset="0"/>
                <a:ea typeface="Calibri" pitchFamily="34" charset="-122"/>
                <a:cs typeface="Calibri" pitchFamily="34" charset="-120"/>
              </a:rPr>
              <a:t>Appendix A of the design document says every task type reduces to one trial model. That claim is based on the file inventory, not on eleven parsed files. If Grammar's G1/G2/V_3 columns diverge sharply from Vocabulary's, the importer grows and Phase 2 slips.</a:t>
            </a:r>
            <a:endParaRPr lang="en-US" sz="1050" dirty="0"/>
          </a:p>
        </p:txBody>
      </p:sp>
      <p:sp>
        <p:nvSpPr>
          <p:cNvPr id="11" name="Text 9"/>
          <p:cNvSpPr/>
          <p:nvPr/>
        </p:nvSpPr>
        <p:spPr>
          <a:xfrm>
            <a:off x="1444752" y="2414016"/>
            <a:ext cx="10058400" cy="457200"/>
          </a:xfrm>
          <a:prstGeom prst="rect">
            <a:avLst/>
          </a:prstGeom>
          <a:noFill/>
          <a:ln/>
        </p:spPr>
        <p:txBody>
          <a:bodyPr wrap="square" lIns="0" tIns="0" rIns="0" bIns="0" rtlCol="0" anchor="ctr"/>
          <a:lstStyle/>
          <a:p>
            <a:pPr marL="0" indent="0">
              <a:lnSpc>
                <a:spcPts val="1300"/>
              </a:lnSpc>
              <a:buNone/>
            </a:pPr>
            <a:r>
              <a:rPr lang="en-US" sz="1050" b="1" dirty="0">
                <a:solidFill>
                  <a:srgbClr val="00A896"/>
                </a:solidFill>
                <a:latin typeface="Calibri" pitchFamily="34" charset="0"/>
                <a:ea typeface="Calibri" pitchFamily="34" charset="-122"/>
                <a:cs typeface="Calibri" pitchFamily="34" charset="-120"/>
              </a:rPr>
              <a:t>Mitigation: </a:t>
            </a:r>
            <a:r>
              <a:rPr lang="en-US" sz="1050" dirty="0">
                <a:solidFill>
                  <a:srgbClr val="31474B"/>
                </a:solidFill>
                <a:latin typeface="Calibri" pitchFamily="34" charset="0"/>
                <a:ea typeface="Calibri" pitchFamily="34" charset="-122"/>
                <a:cs typeface="Calibri" pitchFamily="34" charset="-120"/>
              </a:rPr>
              <a:t>weeks 11-12 are a CSV survey - I map all eleven column sets before writing a single line of parser. If it goes badly, we find out in September, not in March. A two-day spike on the real files before we start would sharpen this estimate considerably.</a:t>
            </a:r>
            <a:endParaRPr lang="en-US" sz="1050" dirty="0"/>
          </a:p>
        </p:txBody>
      </p:sp>
      <p:sp>
        <p:nvSpPr>
          <p:cNvPr id="12" name="Shape 10"/>
          <p:cNvSpPr/>
          <p:nvPr/>
        </p:nvSpPr>
        <p:spPr>
          <a:xfrm>
            <a:off x="548640" y="3063240"/>
            <a:ext cx="11064240" cy="1463040"/>
          </a:xfrm>
          <a:prstGeom prst="roundRect">
            <a:avLst>
              <a:gd name="adj" fmla="val 5000"/>
            </a:avLst>
          </a:prstGeom>
          <a:solidFill>
            <a:srgbClr val="EEF4F4"/>
          </a:solidFill>
          <a:ln w="9525">
            <a:solidFill>
              <a:srgbClr val="EEF4F4"/>
            </a:solidFill>
            <a:prstDash val="solid"/>
          </a:ln>
          <a:effectLst>
            <a:outerShdw blurRad="101600" dist="25400" dir="5400000" algn="bl" rotWithShape="0">
              <a:srgbClr val="0A2B31">
                <a:alpha val="10000"/>
              </a:srgbClr>
            </a:outerShdw>
          </a:effectLst>
        </p:spPr>
      </p:sp>
      <p:sp>
        <p:nvSpPr>
          <p:cNvPr id="13" name="Shape 11"/>
          <p:cNvSpPr/>
          <p:nvPr/>
        </p:nvSpPr>
        <p:spPr>
          <a:xfrm>
            <a:off x="804672" y="3337560"/>
            <a:ext cx="457200" cy="457200"/>
          </a:xfrm>
          <a:prstGeom prst="ellipse">
            <a:avLst/>
          </a:prstGeom>
          <a:solidFill>
            <a:srgbClr val="E08A3C"/>
          </a:solidFill>
          <a:ln w="12700">
            <a:solidFill>
              <a:srgbClr val="E08A3C"/>
            </a:solidFill>
            <a:prstDash val="solid"/>
          </a:ln>
        </p:spPr>
      </p:sp>
      <p:sp>
        <p:nvSpPr>
          <p:cNvPr id="14" name="Text 12"/>
          <p:cNvSpPr/>
          <p:nvPr/>
        </p:nvSpPr>
        <p:spPr>
          <a:xfrm>
            <a:off x="804672" y="333756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1444752" y="3200400"/>
            <a:ext cx="10058400" cy="292608"/>
          </a:xfrm>
          <a:prstGeom prst="rect">
            <a:avLst/>
          </a:prstGeom>
          <a:noFill/>
          <a:ln/>
        </p:spPr>
        <p:txBody>
          <a:bodyPr wrap="square" lIns="0" tIns="0" rIns="0" bIns="0" rtlCol="0" anchor="ctr"/>
          <a:lstStyle/>
          <a:p>
            <a:pPr marL="0" indent="0">
              <a:buNone/>
            </a:pPr>
            <a:r>
              <a:rPr lang="en-US" sz="1450" b="1" dirty="0">
                <a:solidFill>
                  <a:srgbClr val="06474F"/>
                </a:solidFill>
                <a:latin typeface="Calibri" pitchFamily="34" charset="0"/>
                <a:ea typeface="Calibri" pitchFamily="34" charset="-122"/>
                <a:cs typeface="Calibri" pitchFamily="34" charset="-120"/>
              </a:rPr>
              <a:t>The one-engine bet does not fully hold</a:t>
            </a:r>
            <a:endParaRPr lang="en-US" sz="1450" dirty="0"/>
          </a:p>
        </p:txBody>
      </p:sp>
      <p:sp>
        <p:nvSpPr>
          <p:cNvPr id="16" name="Text 14"/>
          <p:cNvSpPr/>
          <p:nvPr/>
        </p:nvSpPr>
        <p:spPr>
          <a:xfrm>
            <a:off x="1444752" y="3502152"/>
            <a:ext cx="10058400" cy="502920"/>
          </a:xfrm>
          <a:prstGeom prst="rect">
            <a:avLst/>
          </a:prstGeom>
          <a:noFill/>
          <a:ln/>
        </p:spPr>
        <p:txBody>
          <a:bodyPr wrap="square" lIns="0" tIns="0" rIns="0" bIns="0" rtlCol="0" anchor="ctr"/>
          <a:lstStyle/>
          <a:p>
            <a:pPr marL="0" indent="0">
              <a:lnSpc>
                <a:spcPts val="1300"/>
              </a:lnSpc>
              <a:buNone/>
            </a:pPr>
            <a:r>
              <a:rPr lang="en-US" sz="1050" dirty="0">
                <a:solidFill>
                  <a:srgbClr val="5C6E71"/>
                </a:solidFill>
                <a:latin typeface="Calibri" pitchFamily="34" charset="0"/>
                <a:ea typeface="Calibri" pitchFamily="34" charset="-122"/>
                <a:cs typeface="Calibri" pitchFamily="34" charset="-120"/>
              </a:rPr>
              <a:t>Storybook (A) is a narration, not a question. Memory / suitcase (U) is a multi-item recall, not a single choice. Both are already flagged and budgeted, but if a third type also refuses the model, the saving described on the previous slide starts to erode.</a:t>
            </a:r>
            <a:endParaRPr lang="en-US" sz="1050" dirty="0"/>
          </a:p>
        </p:txBody>
      </p:sp>
      <p:sp>
        <p:nvSpPr>
          <p:cNvPr id="17" name="Text 15"/>
          <p:cNvSpPr/>
          <p:nvPr/>
        </p:nvSpPr>
        <p:spPr>
          <a:xfrm>
            <a:off x="1444752" y="4014216"/>
            <a:ext cx="10058400" cy="457200"/>
          </a:xfrm>
          <a:prstGeom prst="rect">
            <a:avLst/>
          </a:prstGeom>
          <a:noFill/>
          <a:ln/>
        </p:spPr>
        <p:txBody>
          <a:bodyPr wrap="square" lIns="0" tIns="0" rIns="0" bIns="0" rtlCol="0" anchor="ctr"/>
          <a:lstStyle/>
          <a:p>
            <a:pPr marL="0" indent="0">
              <a:lnSpc>
                <a:spcPts val="1300"/>
              </a:lnSpc>
              <a:buNone/>
            </a:pPr>
            <a:r>
              <a:rPr lang="en-US" sz="1050" b="1" dirty="0">
                <a:solidFill>
                  <a:srgbClr val="00A896"/>
                </a:solidFill>
                <a:latin typeface="Calibri" pitchFamily="34" charset="0"/>
                <a:ea typeface="Calibri" pitchFamily="34" charset="-122"/>
                <a:cs typeface="Calibri" pitchFamily="34" charset="-120"/>
              </a:rPr>
              <a:t>Mitigation: </a:t>
            </a:r>
            <a:r>
              <a:rPr lang="en-US" sz="1050" dirty="0">
                <a:solidFill>
                  <a:srgbClr val="31474B"/>
                </a:solidFill>
                <a:latin typeface="Calibri" pitchFamily="34" charset="0"/>
                <a:ea typeface="Calibri" pitchFamily="34" charset="-122"/>
                <a:cs typeface="Calibri" pitchFamily="34" charset="-120"/>
              </a:rPr>
              <a:t>Phase 3 deliberately builds the engine plus the two most different types (A and B) first. By week 25 - January - we will know whether the abstraction survives contact with real content, with most of the budget still unspent.</a:t>
            </a:r>
            <a:endParaRPr lang="en-US" sz="1050" dirty="0"/>
          </a:p>
        </p:txBody>
      </p:sp>
      <p:sp>
        <p:nvSpPr>
          <p:cNvPr id="18" name="Shape 16"/>
          <p:cNvSpPr/>
          <p:nvPr/>
        </p:nvSpPr>
        <p:spPr>
          <a:xfrm>
            <a:off x="548640" y="4663440"/>
            <a:ext cx="11064240" cy="1463040"/>
          </a:xfrm>
          <a:prstGeom prst="roundRect">
            <a:avLst>
              <a:gd name="adj" fmla="val 5000"/>
            </a:avLst>
          </a:prstGeom>
          <a:solidFill>
            <a:srgbClr val="EEF4F4"/>
          </a:solidFill>
          <a:ln w="9525">
            <a:solidFill>
              <a:srgbClr val="EEF4F4"/>
            </a:solidFill>
            <a:prstDash val="solid"/>
          </a:ln>
          <a:effectLst>
            <a:outerShdw blurRad="101600" dist="25400" dir="5400000" algn="bl" rotWithShape="0">
              <a:srgbClr val="0A2B31">
                <a:alpha val="10000"/>
              </a:srgbClr>
            </a:outerShdw>
          </a:effectLst>
        </p:spPr>
      </p:sp>
      <p:sp>
        <p:nvSpPr>
          <p:cNvPr id="19" name="Shape 17"/>
          <p:cNvSpPr/>
          <p:nvPr/>
        </p:nvSpPr>
        <p:spPr>
          <a:xfrm>
            <a:off x="804672" y="4937760"/>
            <a:ext cx="457200" cy="457200"/>
          </a:xfrm>
          <a:prstGeom prst="ellipse">
            <a:avLst/>
          </a:prstGeom>
          <a:solidFill>
            <a:srgbClr val="B4453C"/>
          </a:solidFill>
          <a:ln w="12700">
            <a:solidFill>
              <a:srgbClr val="B4453C"/>
            </a:solidFill>
            <a:prstDash val="solid"/>
          </a:ln>
        </p:spPr>
      </p:sp>
      <p:sp>
        <p:nvSpPr>
          <p:cNvPr id="20" name="Text 18"/>
          <p:cNvSpPr/>
          <p:nvPr/>
        </p:nvSpPr>
        <p:spPr>
          <a:xfrm>
            <a:off x="804672" y="4937760"/>
            <a:ext cx="457200" cy="45720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9"/>
          <p:cNvSpPr/>
          <p:nvPr/>
        </p:nvSpPr>
        <p:spPr>
          <a:xfrm>
            <a:off x="1444752" y="4800600"/>
            <a:ext cx="10058400" cy="292608"/>
          </a:xfrm>
          <a:prstGeom prst="rect">
            <a:avLst/>
          </a:prstGeom>
          <a:noFill/>
          <a:ln/>
        </p:spPr>
        <p:txBody>
          <a:bodyPr wrap="square" lIns="0" tIns="0" rIns="0" bIns="0" rtlCol="0" anchor="ctr"/>
          <a:lstStyle/>
          <a:p>
            <a:pPr marL="0" indent="0">
              <a:buNone/>
            </a:pPr>
            <a:r>
              <a:rPr lang="en-US" sz="1450" b="1" dirty="0">
                <a:solidFill>
                  <a:srgbClr val="06474F"/>
                </a:solidFill>
                <a:latin typeface="Calibri" pitchFamily="34" charset="0"/>
                <a:ea typeface="Calibri" pitchFamily="34" charset="-122"/>
                <a:cs typeface="Calibri" pitchFamily="34" charset="-120"/>
              </a:rPr>
              <a:t>Six hours a week has no slack in it</a:t>
            </a:r>
            <a:endParaRPr lang="en-US" sz="1450" dirty="0"/>
          </a:p>
        </p:txBody>
      </p:sp>
      <p:sp>
        <p:nvSpPr>
          <p:cNvPr id="22" name="Text 20"/>
          <p:cNvSpPr/>
          <p:nvPr/>
        </p:nvSpPr>
        <p:spPr>
          <a:xfrm>
            <a:off x="1444752" y="5102352"/>
            <a:ext cx="10058400" cy="502920"/>
          </a:xfrm>
          <a:prstGeom prst="rect">
            <a:avLst/>
          </a:prstGeom>
          <a:noFill/>
          <a:ln/>
        </p:spPr>
        <p:txBody>
          <a:bodyPr wrap="square" lIns="0" tIns="0" rIns="0" bIns="0" rtlCol="0" anchor="ctr"/>
          <a:lstStyle/>
          <a:p>
            <a:pPr marL="0" indent="0">
              <a:lnSpc>
                <a:spcPts val="1300"/>
              </a:lnSpc>
              <a:buNone/>
            </a:pPr>
            <a:r>
              <a:rPr lang="en-US" sz="1050" dirty="0">
                <a:solidFill>
                  <a:srgbClr val="5C6E71"/>
                </a:solidFill>
                <a:latin typeface="Calibri" pitchFamily="34" charset="0"/>
                <a:ea typeface="Calibri" pitchFamily="34" charset="-122"/>
                <a:cs typeface="Calibri" pitchFamily="34" charset="-120"/>
              </a:rPr>
              <a:t>One developer, six hours. A week of illness, a school holiday, or a client decision that takes three weeks to arrive moves the end date by exactly that much. There is no second person to absorb it.</a:t>
            </a:r>
            <a:endParaRPr lang="en-US" sz="1050" dirty="0"/>
          </a:p>
        </p:txBody>
      </p:sp>
      <p:sp>
        <p:nvSpPr>
          <p:cNvPr id="23" name="Text 21"/>
          <p:cNvSpPr/>
          <p:nvPr/>
        </p:nvSpPr>
        <p:spPr>
          <a:xfrm>
            <a:off x="1444752" y="5614416"/>
            <a:ext cx="10058400" cy="457200"/>
          </a:xfrm>
          <a:prstGeom prst="rect">
            <a:avLst/>
          </a:prstGeom>
          <a:noFill/>
          <a:ln/>
        </p:spPr>
        <p:txBody>
          <a:bodyPr wrap="square" lIns="0" tIns="0" rIns="0" bIns="0" rtlCol="0" anchor="ctr"/>
          <a:lstStyle/>
          <a:p>
            <a:pPr marL="0" indent="0">
              <a:lnSpc>
                <a:spcPts val="1300"/>
              </a:lnSpc>
              <a:buNone/>
            </a:pPr>
            <a:r>
              <a:rPr lang="en-US" sz="1050" b="1" dirty="0">
                <a:solidFill>
                  <a:srgbClr val="00A896"/>
                </a:solidFill>
                <a:latin typeface="Calibri" pitchFamily="34" charset="0"/>
                <a:ea typeface="Calibri" pitchFamily="34" charset="-122"/>
                <a:cs typeface="Calibri" pitchFamily="34" charset="-120"/>
              </a:rPr>
              <a:t>Mitigation: </a:t>
            </a:r>
            <a:r>
              <a:rPr lang="en-US" sz="1050" dirty="0">
                <a:solidFill>
                  <a:srgbClr val="31474B"/>
                </a:solidFill>
                <a:latin typeface="Calibri" pitchFamily="34" charset="0"/>
                <a:ea typeface="Calibri" pitchFamily="34" charset="-122"/>
                <a:cs typeface="Calibri" pitchFamily="34" charset="-120"/>
              </a:rPr>
              <a:t>an eight-week contingency buffer is already inside the 60-week figure, the work is phase-gated so a partial system is always demonstrable, and the delivery options on slide 16 let you buy time back with scope or with hours.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200" b="1" dirty="0">
                <a:solidFill>
                  <a:srgbClr val="06474F"/>
                </a:solidFill>
                <a:latin typeface="Cambria" pitchFamily="34" charset="0"/>
                <a:ea typeface="Cambria" pitchFamily="34" charset="-122"/>
                <a:cs typeface="Cambria" pitchFamily="34" charset="-120"/>
              </a:rPr>
              <a:t>The effort model</a:t>
            </a:r>
            <a:endParaRPr lang="en-US" sz="3200" dirty="0"/>
          </a:p>
        </p:txBody>
      </p:sp>
      <p:sp>
        <p:nvSpPr>
          <p:cNvPr id="3" name="Text 1"/>
          <p:cNvSpPr/>
          <p:nvPr/>
        </p:nvSpPr>
        <p:spPr>
          <a:xfrm>
            <a:off x="548640" y="941832"/>
            <a:ext cx="11064240" cy="310896"/>
          </a:xfrm>
          <a:prstGeom prst="rect">
            <a:avLst/>
          </a:prstGeom>
          <a:noFill/>
          <a:ln/>
        </p:spPr>
        <p:txBody>
          <a:bodyPr wrap="square" lIns="0" tIns="0" rIns="0" bIns="0" rtlCol="0" anchor="ctr"/>
          <a:lstStyle/>
          <a:p>
            <a:pPr marL="0" indent="0">
              <a:buNone/>
            </a:pPr>
            <a:r>
              <a:rPr lang="en-US" sz="1400" i="1" dirty="0">
                <a:solidFill>
                  <a:srgbClr val="5C6E71"/>
                </a:solidFill>
                <a:latin typeface="Calibri" pitchFamily="34" charset="0"/>
                <a:ea typeface="Calibri" pitchFamily="34" charset="-122"/>
                <a:cs typeface="Calibri" pitchFamily="34" charset="-120"/>
              </a:rPr>
              <a:t>Everything that follows is arithmetic on these five numbers. If you disagree with a number, say so now.</a:t>
            </a:r>
            <a:endParaRPr lang="en-US" sz="1400" dirty="0"/>
          </a:p>
        </p:txBody>
      </p:sp>
      <p:sp>
        <p:nvSpPr>
          <p:cNvPr id="4" name="Text 2"/>
          <p:cNvSpPr/>
          <p:nvPr/>
        </p:nvSpPr>
        <p:spPr>
          <a:xfrm>
            <a:off x="548640" y="6473952"/>
            <a:ext cx="5486400" cy="237744"/>
          </a:xfrm>
          <a:prstGeom prst="rect">
            <a:avLst/>
          </a:prstGeom>
          <a:noFill/>
          <a:ln/>
        </p:spPr>
        <p:txBody>
          <a:bodyPr wrap="square" lIns="0" tIns="0" rIns="0" bIns="0" rtlCol="0" anchor="ctr"/>
          <a:lstStyle/>
          <a:p>
            <a:pPr marL="0" indent="0">
              <a:buNone/>
            </a:pPr>
            <a:r>
              <a:rPr lang="en-US" sz="900" dirty="0">
                <a:solidFill>
                  <a:srgbClr val="B9C4C6"/>
                </a:solidFill>
                <a:latin typeface="Calibri" pitchFamily="34" charset="0"/>
                <a:ea typeface="Calibri" pitchFamily="34" charset="-122"/>
                <a:cs typeface="Calibri" pitchFamily="34" charset="-120"/>
              </a:rPr>
              <a:t>SPEAK  |  Status &amp; Delivery Plan  |  12 July 2026</a:t>
            </a:r>
            <a:endParaRPr lang="en-US" sz="900" dirty="0"/>
          </a:p>
        </p:txBody>
      </p:sp>
      <p:sp>
        <p:nvSpPr>
          <p:cNvPr id="5" name="Text 3"/>
          <p:cNvSpPr/>
          <p:nvPr/>
        </p:nvSpPr>
        <p:spPr>
          <a:xfrm>
            <a:off x="11064240" y="6473952"/>
            <a:ext cx="548640" cy="237744"/>
          </a:xfrm>
          <a:prstGeom prst="rect">
            <a:avLst/>
          </a:prstGeom>
          <a:noFill/>
          <a:ln/>
        </p:spPr>
        <p:txBody>
          <a:bodyPr wrap="square" lIns="0" tIns="0" rIns="0" bIns="0" rtlCol="0" anchor="ctr"/>
          <a:lstStyle/>
          <a:p>
            <a:pPr marL="0" indent="0" algn="r">
              <a:buNone/>
            </a:pPr>
            <a:r>
              <a:rPr lang="en-US" sz="900" dirty="0">
                <a:solidFill>
                  <a:srgbClr val="B9C4C6"/>
                </a:solidFill>
                <a:latin typeface="Calibri" pitchFamily="34" charset="0"/>
                <a:ea typeface="Calibri" pitchFamily="34" charset="-122"/>
                <a:cs typeface="Calibri" pitchFamily="34" charset="-120"/>
              </a:rPr>
              <a:t>9</a:t>
            </a:r>
            <a:endParaRPr lang="en-US" sz="900" dirty="0"/>
          </a:p>
        </p:txBody>
      </p:sp>
      <p:sp>
        <p:nvSpPr>
          <p:cNvPr id="6" name="Shape 4"/>
          <p:cNvSpPr/>
          <p:nvPr/>
        </p:nvSpPr>
        <p:spPr>
          <a:xfrm>
            <a:off x="548640" y="1554480"/>
            <a:ext cx="2048256" cy="1554480"/>
          </a:xfrm>
          <a:prstGeom prst="roundRect">
            <a:avLst>
              <a:gd name="adj" fmla="val 4706"/>
            </a:avLst>
          </a:prstGeom>
          <a:solidFill>
            <a:srgbClr val="EEF4F4"/>
          </a:solidFill>
          <a:ln w="9525">
            <a:solidFill>
              <a:srgbClr val="EEF4F4"/>
            </a:solidFill>
            <a:prstDash val="solid"/>
          </a:ln>
          <a:effectLst>
            <a:outerShdw blurRad="101600" dist="25400" dir="5400000" algn="bl" rotWithShape="0">
              <a:srgbClr val="0A2B31">
                <a:alpha val="10000"/>
              </a:srgbClr>
            </a:outerShdw>
          </a:effectLst>
        </p:spPr>
      </p:sp>
      <p:sp>
        <p:nvSpPr>
          <p:cNvPr id="7" name="Text 5"/>
          <p:cNvSpPr/>
          <p:nvPr/>
        </p:nvSpPr>
        <p:spPr>
          <a:xfrm>
            <a:off x="676656" y="1691640"/>
            <a:ext cx="1828800" cy="548640"/>
          </a:xfrm>
          <a:prstGeom prst="rect">
            <a:avLst/>
          </a:prstGeom>
          <a:noFill/>
          <a:ln/>
        </p:spPr>
        <p:txBody>
          <a:bodyPr wrap="square" lIns="0" tIns="0" rIns="0" bIns="0" rtlCol="0" anchor="ctr"/>
          <a:lstStyle/>
          <a:p>
            <a:pPr marL="0" indent="0">
              <a:buNone/>
            </a:pPr>
            <a:r>
              <a:rPr lang="en-US" sz="2500" b="1" dirty="0">
                <a:solidFill>
                  <a:srgbClr val="06474F"/>
                </a:solidFill>
                <a:latin typeface="Cambria" pitchFamily="34" charset="0"/>
                <a:ea typeface="Cambria" pitchFamily="34" charset="-122"/>
                <a:cs typeface="Cambria" pitchFamily="34" charset="-120"/>
              </a:rPr>
              <a:t>6.0 h</a:t>
            </a:r>
            <a:endParaRPr lang="en-US" sz="2500" dirty="0"/>
          </a:p>
        </p:txBody>
      </p:sp>
      <p:sp>
        <p:nvSpPr>
          <p:cNvPr id="8" name="Text 6"/>
          <p:cNvSpPr/>
          <p:nvPr/>
        </p:nvSpPr>
        <p:spPr>
          <a:xfrm>
            <a:off x="676656" y="2240280"/>
            <a:ext cx="1828800" cy="457200"/>
          </a:xfrm>
          <a:prstGeom prst="rect">
            <a:avLst/>
          </a:prstGeom>
          <a:noFill/>
          <a:ln/>
        </p:spPr>
        <p:txBody>
          <a:bodyPr wrap="square" lIns="0" tIns="0" rIns="0" bIns="0" rtlCol="0" anchor="ctr"/>
          <a:lstStyle/>
          <a:p>
            <a:pPr marL="0" indent="0">
              <a:lnSpc>
                <a:spcPts val="1300"/>
              </a:lnSpc>
              <a:buNone/>
            </a:pPr>
            <a:r>
              <a:rPr lang="en-US" sz="1150" b="1" dirty="0">
                <a:solidFill>
                  <a:srgbClr val="06474F"/>
                </a:solidFill>
                <a:latin typeface="Calibri" pitchFamily="34" charset="0"/>
                <a:ea typeface="Calibri" pitchFamily="34" charset="-122"/>
                <a:cs typeface="Calibri" pitchFamily="34" charset="-120"/>
              </a:rPr>
              <a:t>contracted per week</a:t>
            </a:r>
            <a:endParaRPr lang="en-US" sz="1150" dirty="0"/>
          </a:p>
        </p:txBody>
      </p:sp>
      <p:sp>
        <p:nvSpPr>
          <p:cNvPr id="9" name="Text 7"/>
          <p:cNvSpPr/>
          <p:nvPr/>
        </p:nvSpPr>
        <p:spPr>
          <a:xfrm>
            <a:off x="676656" y="2697480"/>
            <a:ext cx="1828800" cy="274320"/>
          </a:xfrm>
          <a:prstGeom prst="rect">
            <a:avLst/>
          </a:prstGeom>
          <a:noFill/>
          <a:ln/>
        </p:spPr>
        <p:txBody>
          <a:bodyPr wrap="square" lIns="0" tIns="0" rIns="0" bIns="0" rtlCol="0" anchor="ctr"/>
          <a:lstStyle/>
          <a:p>
            <a:pPr marL="0" indent="0">
              <a:buNone/>
            </a:pPr>
            <a:r>
              <a:rPr lang="en-US" sz="1000" i="1" dirty="0">
                <a:solidFill>
                  <a:srgbClr val="5C6E71"/>
                </a:solidFill>
                <a:latin typeface="Calibri" pitchFamily="34" charset="0"/>
                <a:ea typeface="Calibri" pitchFamily="34" charset="-122"/>
                <a:cs typeface="Calibri" pitchFamily="34" charset="-120"/>
              </a:rPr>
              <a:t>One developer</a:t>
            </a:r>
            <a:endParaRPr lang="en-US" sz="1000" dirty="0"/>
          </a:p>
        </p:txBody>
      </p:sp>
      <p:sp>
        <p:nvSpPr>
          <p:cNvPr id="10" name="Shape 8"/>
          <p:cNvSpPr/>
          <p:nvPr/>
        </p:nvSpPr>
        <p:spPr>
          <a:xfrm>
            <a:off x="2779776" y="1554480"/>
            <a:ext cx="2048256" cy="1554480"/>
          </a:xfrm>
          <a:prstGeom prst="roundRect">
            <a:avLst>
              <a:gd name="adj" fmla="val 4706"/>
            </a:avLst>
          </a:prstGeom>
          <a:solidFill>
            <a:srgbClr val="EEF4F4"/>
          </a:solidFill>
          <a:ln w="9525">
            <a:solidFill>
              <a:srgbClr val="EEF4F4"/>
            </a:solidFill>
            <a:prstDash val="solid"/>
          </a:ln>
          <a:effectLst>
            <a:outerShdw blurRad="101600" dist="25400" dir="5400000" algn="bl" rotWithShape="0">
              <a:srgbClr val="0A2B31">
                <a:alpha val="10000"/>
              </a:srgbClr>
            </a:outerShdw>
          </a:effectLst>
        </p:spPr>
      </p:sp>
      <p:sp>
        <p:nvSpPr>
          <p:cNvPr id="11" name="Text 9"/>
          <p:cNvSpPr/>
          <p:nvPr/>
        </p:nvSpPr>
        <p:spPr>
          <a:xfrm>
            <a:off x="2907792" y="1691640"/>
            <a:ext cx="1828800" cy="548640"/>
          </a:xfrm>
          <a:prstGeom prst="rect">
            <a:avLst/>
          </a:prstGeom>
          <a:noFill/>
          <a:ln/>
        </p:spPr>
        <p:txBody>
          <a:bodyPr wrap="square" lIns="0" tIns="0" rIns="0" bIns="0" rtlCol="0" anchor="ctr"/>
          <a:lstStyle/>
          <a:p>
            <a:pPr marL="0" indent="0">
              <a:buNone/>
            </a:pPr>
            <a:r>
              <a:rPr lang="en-US" sz="2500" b="1" dirty="0">
                <a:solidFill>
                  <a:srgbClr val="50808E"/>
                </a:solidFill>
                <a:latin typeface="Cambria" pitchFamily="34" charset="0"/>
                <a:ea typeface="Cambria" pitchFamily="34" charset="-122"/>
                <a:cs typeface="Cambria" pitchFamily="34" charset="-120"/>
              </a:rPr>
              <a:t>- 0.5 h</a:t>
            </a:r>
            <a:endParaRPr lang="en-US" sz="2500" dirty="0"/>
          </a:p>
        </p:txBody>
      </p:sp>
      <p:sp>
        <p:nvSpPr>
          <p:cNvPr id="12" name="Text 10"/>
          <p:cNvSpPr/>
          <p:nvPr/>
        </p:nvSpPr>
        <p:spPr>
          <a:xfrm>
            <a:off x="2907792" y="2240280"/>
            <a:ext cx="1828800" cy="457200"/>
          </a:xfrm>
          <a:prstGeom prst="rect">
            <a:avLst/>
          </a:prstGeom>
          <a:noFill/>
          <a:ln/>
        </p:spPr>
        <p:txBody>
          <a:bodyPr wrap="square" lIns="0" tIns="0" rIns="0" bIns="0" rtlCol="0" anchor="ctr"/>
          <a:lstStyle/>
          <a:p>
            <a:pPr marL="0" indent="0">
              <a:lnSpc>
                <a:spcPts val="1300"/>
              </a:lnSpc>
              <a:buNone/>
            </a:pPr>
            <a:r>
              <a:rPr lang="en-US" sz="1150" b="1" dirty="0">
                <a:solidFill>
                  <a:srgbClr val="06474F"/>
                </a:solidFill>
                <a:latin typeface="Calibri" pitchFamily="34" charset="0"/>
                <a:ea typeface="Calibri" pitchFamily="34" charset="-122"/>
                <a:cs typeface="Calibri" pitchFamily="34" charset="-120"/>
              </a:rPr>
              <a:t>meetings &amp; reporting</a:t>
            </a:r>
            <a:endParaRPr lang="en-US" sz="1150" dirty="0"/>
          </a:p>
        </p:txBody>
      </p:sp>
      <p:sp>
        <p:nvSpPr>
          <p:cNvPr id="13" name="Text 11"/>
          <p:cNvSpPr/>
          <p:nvPr/>
        </p:nvSpPr>
        <p:spPr>
          <a:xfrm>
            <a:off x="2907792" y="2697480"/>
            <a:ext cx="1828800" cy="274320"/>
          </a:xfrm>
          <a:prstGeom prst="rect">
            <a:avLst/>
          </a:prstGeom>
          <a:noFill/>
          <a:ln/>
        </p:spPr>
        <p:txBody>
          <a:bodyPr wrap="square" lIns="0" tIns="0" rIns="0" bIns="0" rtlCol="0" anchor="ctr"/>
          <a:lstStyle/>
          <a:p>
            <a:pPr marL="0" indent="0">
              <a:buNone/>
            </a:pPr>
            <a:r>
              <a:rPr lang="en-US" sz="1000" i="1" dirty="0">
                <a:solidFill>
                  <a:srgbClr val="5C6E71"/>
                </a:solidFill>
                <a:latin typeface="Calibri" pitchFamily="34" charset="0"/>
                <a:ea typeface="Calibri" pitchFamily="34" charset="-122"/>
                <a:cs typeface="Calibri" pitchFamily="34" charset="-120"/>
              </a:rPr>
              <a:t>45 min every 2 weeks</a:t>
            </a:r>
            <a:endParaRPr lang="en-US" sz="1000" dirty="0"/>
          </a:p>
        </p:txBody>
      </p:sp>
      <p:sp>
        <p:nvSpPr>
          <p:cNvPr id="14" name="Shape 12"/>
          <p:cNvSpPr/>
          <p:nvPr/>
        </p:nvSpPr>
        <p:spPr>
          <a:xfrm>
            <a:off x="5010912" y="1554480"/>
            <a:ext cx="2048256" cy="1554480"/>
          </a:xfrm>
          <a:prstGeom prst="roundRect">
            <a:avLst>
              <a:gd name="adj" fmla="val 4706"/>
            </a:avLst>
          </a:prstGeom>
          <a:solidFill>
            <a:srgbClr val="EEF4F4"/>
          </a:solidFill>
          <a:ln w="9525">
            <a:solidFill>
              <a:srgbClr val="EEF4F4"/>
            </a:solidFill>
            <a:prstDash val="solid"/>
          </a:ln>
          <a:effectLst>
            <a:outerShdw blurRad="101600" dist="25400" dir="5400000" algn="bl" rotWithShape="0">
              <a:srgbClr val="0A2B31">
                <a:alpha val="10000"/>
              </a:srgbClr>
            </a:outerShdw>
          </a:effectLst>
        </p:spPr>
      </p:sp>
      <p:sp>
        <p:nvSpPr>
          <p:cNvPr id="15" name="Text 13"/>
          <p:cNvSpPr/>
          <p:nvPr/>
        </p:nvSpPr>
        <p:spPr>
          <a:xfrm>
            <a:off x="5138928" y="1691640"/>
            <a:ext cx="1828800" cy="548640"/>
          </a:xfrm>
          <a:prstGeom prst="rect">
            <a:avLst/>
          </a:prstGeom>
          <a:noFill/>
          <a:ln/>
        </p:spPr>
        <p:txBody>
          <a:bodyPr wrap="square" lIns="0" tIns="0" rIns="0" bIns="0" rtlCol="0" anchor="ctr"/>
          <a:lstStyle/>
          <a:p>
            <a:pPr marL="0" indent="0">
              <a:buNone/>
            </a:pPr>
            <a:r>
              <a:rPr lang="en-US" sz="2500" b="1" dirty="0">
                <a:solidFill>
                  <a:srgbClr val="00A896"/>
                </a:solidFill>
                <a:latin typeface="Cambria" pitchFamily="34" charset="0"/>
                <a:ea typeface="Cambria" pitchFamily="34" charset="-122"/>
                <a:cs typeface="Cambria" pitchFamily="34" charset="-120"/>
              </a:rPr>
              <a:t>= 5.5 h</a:t>
            </a:r>
            <a:endParaRPr lang="en-US" sz="2500" dirty="0"/>
          </a:p>
        </p:txBody>
      </p:sp>
      <p:sp>
        <p:nvSpPr>
          <p:cNvPr id="16" name="Text 14"/>
          <p:cNvSpPr/>
          <p:nvPr/>
        </p:nvSpPr>
        <p:spPr>
          <a:xfrm>
            <a:off x="5138928" y="2240280"/>
            <a:ext cx="1828800" cy="457200"/>
          </a:xfrm>
          <a:prstGeom prst="rect">
            <a:avLst/>
          </a:prstGeom>
          <a:noFill/>
          <a:ln/>
        </p:spPr>
        <p:txBody>
          <a:bodyPr wrap="square" lIns="0" tIns="0" rIns="0" bIns="0" rtlCol="0" anchor="ctr"/>
          <a:lstStyle/>
          <a:p>
            <a:pPr marL="0" indent="0">
              <a:lnSpc>
                <a:spcPts val="1300"/>
              </a:lnSpc>
              <a:buNone/>
            </a:pPr>
            <a:r>
              <a:rPr lang="en-US" sz="1150" b="1" dirty="0">
                <a:solidFill>
                  <a:srgbClr val="06474F"/>
                </a:solidFill>
                <a:latin typeface="Calibri" pitchFamily="34" charset="0"/>
                <a:ea typeface="Calibri" pitchFamily="34" charset="-122"/>
                <a:cs typeface="Calibri" pitchFamily="34" charset="-120"/>
              </a:rPr>
              <a:t>net build time / week</a:t>
            </a:r>
            <a:endParaRPr lang="en-US" sz="1150" dirty="0"/>
          </a:p>
        </p:txBody>
      </p:sp>
      <p:sp>
        <p:nvSpPr>
          <p:cNvPr id="17" name="Text 15"/>
          <p:cNvSpPr/>
          <p:nvPr/>
        </p:nvSpPr>
        <p:spPr>
          <a:xfrm>
            <a:off x="5138928" y="2697480"/>
            <a:ext cx="1828800" cy="274320"/>
          </a:xfrm>
          <a:prstGeom prst="rect">
            <a:avLst/>
          </a:prstGeom>
          <a:noFill/>
          <a:ln/>
        </p:spPr>
        <p:txBody>
          <a:bodyPr wrap="square" lIns="0" tIns="0" rIns="0" bIns="0" rtlCol="0" anchor="ctr"/>
          <a:lstStyle/>
          <a:p>
            <a:pPr marL="0" indent="0">
              <a:buNone/>
            </a:pPr>
            <a:r>
              <a:rPr lang="en-US" sz="1000" i="1" dirty="0">
                <a:solidFill>
                  <a:srgbClr val="5C6E71"/>
                </a:solidFill>
                <a:latin typeface="Calibri" pitchFamily="34" charset="0"/>
                <a:ea typeface="Calibri" pitchFamily="34" charset="-122"/>
                <a:cs typeface="Calibri" pitchFamily="34" charset="-120"/>
              </a:rPr>
              <a:t>The real throughput</a:t>
            </a:r>
            <a:endParaRPr lang="en-US" sz="1000" dirty="0"/>
          </a:p>
        </p:txBody>
      </p:sp>
      <p:sp>
        <p:nvSpPr>
          <p:cNvPr id="18" name="Shape 16"/>
          <p:cNvSpPr/>
          <p:nvPr/>
        </p:nvSpPr>
        <p:spPr>
          <a:xfrm>
            <a:off x="7242048" y="1554480"/>
            <a:ext cx="2048256" cy="1554480"/>
          </a:xfrm>
          <a:prstGeom prst="roundRect">
            <a:avLst>
              <a:gd name="adj" fmla="val 4706"/>
            </a:avLst>
          </a:prstGeom>
          <a:solidFill>
            <a:srgbClr val="EEF4F4"/>
          </a:solidFill>
          <a:ln w="9525">
            <a:solidFill>
              <a:srgbClr val="EEF4F4"/>
            </a:solidFill>
            <a:prstDash val="solid"/>
          </a:ln>
          <a:effectLst>
            <a:outerShdw blurRad="101600" dist="25400" dir="5400000" algn="bl" rotWithShape="0">
              <a:srgbClr val="0A2B31">
                <a:alpha val="10000"/>
              </a:srgbClr>
            </a:outerShdw>
          </a:effectLst>
        </p:spPr>
      </p:sp>
      <p:sp>
        <p:nvSpPr>
          <p:cNvPr id="19" name="Text 17"/>
          <p:cNvSpPr/>
          <p:nvPr/>
        </p:nvSpPr>
        <p:spPr>
          <a:xfrm>
            <a:off x="7370064" y="1691640"/>
            <a:ext cx="1828800" cy="548640"/>
          </a:xfrm>
          <a:prstGeom prst="rect">
            <a:avLst/>
          </a:prstGeom>
          <a:noFill/>
          <a:ln/>
        </p:spPr>
        <p:txBody>
          <a:bodyPr wrap="square" lIns="0" tIns="0" rIns="0" bIns="0" rtlCol="0" anchor="ctr"/>
          <a:lstStyle/>
          <a:p>
            <a:pPr marL="0" indent="0">
              <a:buNone/>
            </a:pPr>
            <a:r>
              <a:rPr lang="en-US" sz="2500" b="1" dirty="0">
                <a:solidFill>
                  <a:srgbClr val="E08A3C"/>
                </a:solidFill>
                <a:latin typeface="Cambria" pitchFamily="34" charset="0"/>
                <a:ea typeface="Cambria" pitchFamily="34" charset="-122"/>
                <a:cs typeface="Cambria" pitchFamily="34" charset="-120"/>
              </a:rPr>
              <a:t>327 h</a:t>
            </a:r>
            <a:endParaRPr lang="en-US" sz="2500" dirty="0"/>
          </a:p>
        </p:txBody>
      </p:sp>
      <p:sp>
        <p:nvSpPr>
          <p:cNvPr id="20" name="Text 18"/>
          <p:cNvSpPr/>
          <p:nvPr/>
        </p:nvSpPr>
        <p:spPr>
          <a:xfrm>
            <a:off x="7370064" y="2240280"/>
            <a:ext cx="1828800" cy="457200"/>
          </a:xfrm>
          <a:prstGeom prst="rect">
            <a:avLst/>
          </a:prstGeom>
          <a:noFill/>
          <a:ln/>
        </p:spPr>
        <p:txBody>
          <a:bodyPr wrap="square" lIns="0" tIns="0" rIns="0" bIns="0" rtlCol="0" anchor="ctr"/>
          <a:lstStyle/>
          <a:p>
            <a:pPr marL="0" indent="0">
              <a:lnSpc>
                <a:spcPts val="1300"/>
              </a:lnSpc>
              <a:buNone/>
            </a:pPr>
            <a:r>
              <a:rPr lang="en-US" sz="1150" b="1" dirty="0">
                <a:solidFill>
                  <a:srgbClr val="06474F"/>
                </a:solidFill>
                <a:latin typeface="Calibri" pitchFamily="34" charset="0"/>
                <a:ea typeface="Calibri" pitchFamily="34" charset="-122"/>
                <a:cs typeface="Calibri" pitchFamily="34" charset="-120"/>
              </a:rPr>
              <a:t>total build effort</a:t>
            </a:r>
            <a:endParaRPr lang="en-US" sz="1150" dirty="0"/>
          </a:p>
        </p:txBody>
      </p:sp>
      <p:sp>
        <p:nvSpPr>
          <p:cNvPr id="21" name="Text 19"/>
          <p:cNvSpPr/>
          <p:nvPr/>
        </p:nvSpPr>
        <p:spPr>
          <a:xfrm>
            <a:off x="7370064" y="2697480"/>
            <a:ext cx="1828800" cy="274320"/>
          </a:xfrm>
          <a:prstGeom prst="rect">
            <a:avLst/>
          </a:prstGeom>
          <a:noFill/>
          <a:ln/>
        </p:spPr>
        <p:txBody>
          <a:bodyPr wrap="square" lIns="0" tIns="0" rIns="0" bIns="0" rtlCol="0" anchor="ctr"/>
          <a:lstStyle/>
          <a:p>
            <a:pPr marL="0" indent="0">
              <a:buNone/>
            </a:pPr>
            <a:r>
              <a:rPr lang="en-US" sz="1000" i="1" dirty="0">
                <a:solidFill>
                  <a:srgbClr val="5C6E71"/>
                </a:solidFill>
                <a:latin typeface="Calibri" pitchFamily="34" charset="0"/>
                <a:ea typeface="Calibri" pitchFamily="34" charset="-122"/>
                <a:cs typeface="Calibri" pitchFamily="34" charset="-120"/>
              </a:rPr>
              <a:t>284 h + 15% contingency</a:t>
            </a:r>
            <a:endParaRPr lang="en-US" sz="1000" dirty="0"/>
          </a:p>
        </p:txBody>
      </p:sp>
      <p:sp>
        <p:nvSpPr>
          <p:cNvPr id="22" name="Shape 20"/>
          <p:cNvSpPr/>
          <p:nvPr/>
        </p:nvSpPr>
        <p:spPr>
          <a:xfrm>
            <a:off x="9473184" y="1554480"/>
            <a:ext cx="2048256" cy="1554480"/>
          </a:xfrm>
          <a:prstGeom prst="roundRect">
            <a:avLst>
              <a:gd name="adj" fmla="val 4706"/>
            </a:avLst>
          </a:prstGeom>
          <a:solidFill>
            <a:srgbClr val="FBEEEC"/>
          </a:solidFill>
          <a:ln w="9525">
            <a:solidFill>
              <a:srgbClr val="FBEEEC"/>
            </a:solidFill>
            <a:prstDash val="solid"/>
          </a:ln>
          <a:effectLst>
            <a:outerShdw blurRad="101600" dist="25400" dir="5400000" algn="bl" rotWithShape="0">
              <a:srgbClr val="0A2B31">
                <a:alpha val="10000"/>
              </a:srgbClr>
            </a:outerShdw>
          </a:effectLst>
        </p:spPr>
      </p:sp>
      <p:sp>
        <p:nvSpPr>
          <p:cNvPr id="23" name="Text 21"/>
          <p:cNvSpPr/>
          <p:nvPr/>
        </p:nvSpPr>
        <p:spPr>
          <a:xfrm>
            <a:off x="9601200" y="1691640"/>
            <a:ext cx="1828800" cy="548640"/>
          </a:xfrm>
          <a:prstGeom prst="rect">
            <a:avLst/>
          </a:prstGeom>
          <a:noFill/>
          <a:ln/>
        </p:spPr>
        <p:txBody>
          <a:bodyPr wrap="square" lIns="0" tIns="0" rIns="0" bIns="0" rtlCol="0" anchor="ctr"/>
          <a:lstStyle/>
          <a:p>
            <a:pPr marL="0" indent="0">
              <a:buNone/>
            </a:pPr>
            <a:r>
              <a:rPr lang="en-US" sz="2500" b="1" dirty="0">
                <a:solidFill>
                  <a:srgbClr val="B4453C"/>
                </a:solidFill>
                <a:latin typeface="Cambria" pitchFamily="34" charset="0"/>
                <a:ea typeface="Cambria" pitchFamily="34" charset="-122"/>
                <a:cs typeface="Cambria" pitchFamily="34" charset="-120"/>
              </a:rPr>
              <a:t>60 weeks</a:t>
            </a:r>
            <a:endParaRPr lang="en-US" sz="2500" dirty="0"/>
          </a:p>
        </p:txBody>
      </p:sp>
      <p:sp>
        <p:nvSpPr>
          <p:cNvPr id="24" name="Text 22"/>
          <p:cNvSpPr/>
          <p:nvPr/>
        </p:nvSpPr>
        <p:spPr>
          <a:xfrm>
            <a:off x="9601200" y="2240280"/>
            <a:ext cx="1828800" cy="457200"/>
          </a:xfrm>
          <a:prstGeom prst="rect">
            <a:avLst/>
          </a:prstGeom>
          <a:noFill/>
          <a:ln/>
        </p:spPr>
        <p:txBody>
          <a:bodyPr wrap="square" lIns="0" tIns="0" rIns="0" bIns="0" rtlCol="0" anchor="ctr"/>
          <a:lstStyle/>
          <a:p>
            <a:pPr marL="0" indent="0">
              <a:lnSpc>
                <a:spcPts val="1300"/>
              </a:lnSpc>
              <a:buNone/>
            </a:pPr>
            <a:r>
              <a:rPr lang="en-US" sz="1150" b="1" dirty="0">
                <a:solidFill>
                  <a:srgbClr val="06474F"/>
                </a:solidFill>
                <a:latin typeface="Calibri" pitchFamily="34" charset="0"/>
                <a:ea typeface="Calibri" pitchFamily="34" charset="-122"/>
                <a:cs typeface="Calibri" pitchFamily="34" charset="-120"/>
              </a:rPr>
              <a:t>to client acceptance</a:t>
            </a:r>
            <a:endParaRPr lang="en-US" sz="1150" dirty="0"/>
          </a:p>
        </p:txBody>
      </p:sp>
      <p:sp>
        <p:nvSpPr>
          <p:cNvPr id="25" name="Text 23"/>
          <p:cNvSpPr/>
          <p:nvPr/>
        </p:nvSpPr>
        <p:spPr>
          <a:xfrm>
            <a:off x="9601200" y="2697480"/>
            <a:ext cx="1828800" cy="274320"/>
          </a:xfrm>
          <a:prstGeom prst="rect">
            <a:avLst/>
          </a:prstGeom>
          <a:noFill/>
          <a:ln/>
        </p:spPr>
        <p:txBody>
          <a:bodyPr wrap="square" lIns="0" tIns="0" rIns="0" bIns="0" rtlCol="0" anchor="ctr"/>
          <a:lstStyle/>
          <a:p>
            <a:pPr marL="0" indent="0">
              <a:buNone/>
            </a:pPr>
            <a:r>
              <a:rPr lang="en-US" sz="1000" i="1" dirty="0">
                <a:solidFill>
                  <a:srgbClr val="5C6E71"/>
                </a:solidFill>
                <a:latin typeface="Calibri" pitchFamily="34" charset="0"/>
                <a:ea typeface="Calibri" pitchFamily="34" charset="-122"/>
                <a:cs typeface="Calibri" pitchFamily="34" charset="-120"/>
              </a:rPr>
              <a:t>~14 months</a:t>
            </a:r>
            <a:endParaRPr lang="en-US" sz="1000" dirty="0"/>
          </a:p>
        </p:txBody>
      </p:sp>
      <p:sp>
        <p:nvSpPr>
          <p:cNvPr id="26" name="Shape 24"/>
          <p:cNvSpPr/>
          <p:nvPr/>
        </p:nvSpPr>
        <p:spPr>
          <a:xfrm>
            <a:off x="548640" y="3337560"/>
            <a:ext cx="3547872" cy="2331720"/>
          </a:xfrm>
          <a:prstGeom prst="roundRect">
            <a:avLst>
              <a:gd name="adj" fmla="val 3137"/>
            </a:avLst>
          </a:prstGeom>
          <a:solidFill>
            <a:srgbClr val="FFFFFF"/>
          </a:solidFill>
          <a:ln w="9525">
            <a:solidFill>
              <a:srgbClr val="FFFFFF"/>
            </a:solidFill>
            <a:prstDash val="solid"/>
          </a:ln>
        </p:spPr>
      </p:sp>
      <p:sp>
        <p:nvSpPr>
          <p:cNvPr id="27" name="Shape 25"/>
          <p:cNvSpPr/>
          <p:nvPr/>
        </p:nvSpPr>
        <p:spPr>
          <a:xfrm>
            <a:off x="548640" y="3337560"/>
            <a:ext cx="3547872" cy="2331720"/>
          </a:xfrm>
          <a:prstGeom prst="rect">
            <a:avLst/>
          </a:prstGeom>
          <a:solidFill>
            <a:srgbClr val="FFFFFF"/>
          </a:solidFill>
          <a:ln w="12700">
            <a:solidFill>
              <a:srgbClr val="D5E0E1"/>
            </a:solidFill>
            <a:prstDash val="solid"/>
          </a:ln>
        </p:spPr>
      </p:sp>
      <p:sp>
        <p:nvSpPr>
          <p:cNvPr id="28" name="Shape 26"/>
          <p:cNvSpPr/>
          <p:nvPr/>
        </p:nvSpPr>
        <p:spPr>
          <a:xfrm>
            <a:off x="731520" y="3520440"/>
            <a:ext cx="310896" cy="310896"/>
          </a:xfrm>
          <a:prstGeom prst="ellipse">
            <a:avLst/>
          </a:prstGeom>
          <a:solidFill>
            <a:srgbClr val="00A896"/>
          </a:solidFill>
          <a:ln w="12700">
            <a:solidFill>
              <a:srgbClr val="00A896"/>
            </a:solidFill>
            <a:prstDash val="solid"/>
          </a:ln>
        </p:spPr>
      </p:sp>
      <p:sp>
        <p:nvSpPr>
          <p:cNvPr id="29" name="Text 27"/>
          <p:cNvSpPr/>
          <p:nvPr/>
        </p:nvSpPr>
        <p:spPr>
          <a:xfrm>
            <a:off x="731520" y="352044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0" name="Text 28"/>
          <p:cNvSpPr/>
          <p:nvPr/>
        </p:nvSpPr>
        <p:spPr>
          <a:xfrm>
            <a:off x="1133856" y="3529584"/>
            <a:ext cx="2834640" cy="292608"/>
          </a:xfrm>
          <a:prstGeom prst="rect">
            <a:avLst/>
          </a:prstGeom>
          <a:noFill/>
          <a:ln/>
        </p:spPr>
        <p:txBody>
          <a:bodyPr wrap="square" lIns="0" tIns="0" rIns="0" bIns="0" rtlCol="0" anchor="ctr"/>
          <a:lstStyle/>
          <a:p>
            <a:pPr marL="0" indent="0">
              <a:buNone/>
            </a:pPr>
            <a:r>
              <a:rPr lang="en-US" sz="1250" b="1" dirty="0">
                <a:solidFill>
                  <a:srgbClr val="06474F"/>
                </a:solidFill>
                <a:latin typeface="Calibri" pitchFamily="34" charset="0"/>
                <a:ea typeface="Calibri" pitchFamily="34" charset="-122"/>
                <a:cs typeface="Calibri" pitchFamily="34" charset="-120"/>
              </a:rPr>
              <a:t>What is inside the 284 hours</a:t>
            </a:r>
            <a:endParaRPr lang="en-US" sz="1250" dirty="0"/>
          </a:p>
        </p:txBody>
      </p:sp>
      <p:sp>
        <p:nvSpPr>
          <p:cNvPr id="31" name="Text 29"/>
          <p:cNvSpPr/>
          <p:nvPr/>
        </p:nvSpPr>
        <p:spPr>
          <a:xfrm>
            <a:off x="731520" y="3950208"/>
            <a:ext cx="3200400" cy="1600200"/>
          </a:xfrm>
          <a:prstGeom prst="rect">
            <a:avLst/>
          </a:prstGeom>
          <a:noFill/>
          <a:ln/>
        </p:spPr>
        <p:txBody>
          <a:bodyPr wrap="square" lIns="0" tIns="0" rIns="0" bIns="0" rtlCol="0" anchor="ctr"/>
          <a:lstStyle/>
          <a:p>
            <a:pPr marL="0" indent="0">
              <a:lnSpc>
                <a:spcPts val="1400"/>
              </a:lnSpc>
              <a:buNone/>
            </a:pPr>
            <a:r>
              <a:rPr lang="en-US" sz="1050" dirty="0">
                <a:solidFill>
                  <a:srgbClr val="5C6E71"/>
                </a:solidFill>
                <a:latin typeface="Calibri" pitchFamily="34" charset="0"/>
                <a:ea typeface="Calibri" pitchFamily="34" charset="-122"/>
                <a:cs typeface="Calibri" pitchFamily="34" charset="-120"/>
              </a:rPr>
              <a:t>Writing the code, writing its tests, writing the database migrations, and reviewing it. Under the design document's Definition of Done, a feature is not done until its tests pass and the traceability matrix is updated - so testing is not a separate line item, it is inside every estimate.</a:t>
            </a:r>
            <a:endParaRPr lang="en-US" sz="1050" dirty="0"/>
          </a:p>
        </p:txBody>
      </p:sp>
      <p:sp>
        <p:nvSpPr>
          <p:cNvPr id="32" name="Shape 30"/>
          <p:cNvSpPr/>
          <p:nvPr/>
        </p:nvSpPr>
        <p:spPr>
          <a:xfrm>
            <a:off x="4279392" y="3337560"/>
            <a:ext cx="3547872" cy="2331720"/>
          </a:xfrm>
          <a:prstGeom prst="roundRect">
            <a:avLst>
              <a:gd name="adj" fmla="val 3137"/>
            </a:avLst>
          </a:prstGeom>
          <a:solidFill>
            <a:srgbClr val="FFFFFF"/>
          </a:solidFill>
          <a:ln w="9525">
            <a:solidFill>
              <a:srgbClr val="FFFFFF"/>
            </a:solidFill>
            <a:prstDash val="solid"/>
          </a:ln>
        </p:spPr>
      </p:sp>
      <p:sp>
        <p:nvSpPr>
          <p:cNvPr id="33" name="Shape 31"/>
          <p:cNvSpPr/>
          <p:nvPr/>
        </p:nvSpPr>
        <p:spPr>
          <a:xfrm>
            <a:off x="4279392" y="3337560"/>
            <a:ext cx="3547872" cy="2331720"/>
          </a:xfrm>
          <a:prstGeom prst="rect">
            <a:avLst/>
          </a:prstGeom>
          <a:solidFill>
            <a:srgbClr val="FFFFFF"/>
          </a:solidFill>
          <a:ln w="12700">
            <a:solidFill>
              <a:srgbClr val="D5E0E1"/>
            </a:solidFill>
            <a:prstDash val="solid"/>
          </a:ln>
        </p:spPr>
      </p:sp>
      <p:sp>
        <p:nvSpPr>
          <p:cNvPr id="34" name="Shape 32"/>
          <p:cNvSpPr/>
          <p:nvPr/>
        </p:nvSpPr>
        <p:spPr>
          <a:xfrm>
            <a:off x="4462272" y="3520440"/>
            <a:ext cx="310896" cy="310896"/>
          </a:xfrm>
          <a:prstGeom prst="ellipse">
            <a:avLst/>
          </a:prstGeom>
          <a:solidFill>
            <a:srgbClr val="E08A3C"/>
          </a:solidFill>
          <a:ln w="12700">
            <a:solidFill>
              <a:srgbClr val="E08A3C"/>
            </a:solidFill>
            <a:prstDash val="solid"/>
          </a:ln>
        </p:spPr>
      </p:sp>
      <p:sp>
        <p:nvSpPr>
          <p:cNvPr id="35" name="Text 33"/>
          <p:cNvSpPr/>
          <p:nvPr/>
        </p:nvSpPr>
        <p:spPr>
          <a:xfrm>
            <a:off x="4462272" y="352044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6" name="Text 34"/>
          <p:cNvSpPr/>
          <p:nvPr/>
        </p:nvSpPr>
        <p:spPr>
          <a:xfrm>
            <a:off x="4864608" y="3529584"/>
            <a:ext cx="2834640" cy="292608"/>
          </a:xfrm>
          <a:prstGeom prst="rect">
            <a:avLst/>
          </a:prstGeom>
          <a:noFill/>
          <a:ln/>
        </p:spPr>
        <p:txBody>
          <a:bodyPr wrap="square" lIns="0" tIns="0" rIns="0" bIns="0" rtlCol="0" anchor="ctr"/>
          <a:lstStyle/>
          <a:p>
            <a:pPr marL="0" indent="0">
              <a:buNone/>
            </a:pPr>
            <a:r>
              <a:rPr lang="en-US" sz="1250" b="1" dirty="0">
                <a:solidFill>
                  <a:srgbClr val="06474F"/>
                </a:solidFill>
                <a:latin typeface="Calibri" pitchFamily="34" charset="0"/>
                <a:ea typeface="Calibri" pitchFamily="34" charset="-122"/>
                <a:cs typeface="Calibri" pitchFamily="34" charset="-120"/>
              </a:rPr>
              <a:t>What the 15% contingency covers</a:t>
            </a:r>
            <a:endParaRPr lang="en-US" sz="1250" dirty="0"/>
          </a:p>
        </p:txBody>
      </p:sp>
      <p:sp>
        <p:nvSpPr>
          <p:cNvPr id="37" name="Text 35"/>
          <p:cNvSpPr/>
          <p:nvPr/>
        </p:nvSpPr>
        <p:spPr>
          <a:xfrm>
            <a:off x="4462272" y="3950208"/>
            <a:ext cx="3200400" cy="1600200"/>
          </a:xfrm>
          <a:prstGeom prst="rect">
            <a:avLst/>
          </a:prstGeom>
          <a:noFill/>
          <a:ln/>
        </p:spPr>
        <p:txBody>
          <a:bodyPr wrap="square" lIns="0" tIns="0" rIns="0" bIns="0" rtlCol="0" anchor="ctr"/>
          <a:lstStyle/>
          <a:p>
            <a:pPr marL="0" indent="0">
              <a:lnSpc>
                <a:spcPts val="1400"/>
              </a:lnSpc>
              <a:buNone/>
            </a:pPr>
            <a:r>
              <a:rPr lang="en-US" sz="1050" dirty="0">
                <a:solidFill>
                  <a:srgbClr val="5C6E71"/>
                </a:solidFill>
                <a:latin typeface="Calibri" pitchFamily="34" charset="0"/>
                <a:ea typeface="Calibri" pitchFamily="34" charset="-122"/>
                <a:cs typeface="Calibri" pitchFamily="34" charset="-120"/>
              </a:rPr>
              <a:t>Unknowns in the CSV files, tablet audio quirks, dependency upgrades, and the ordinary re-work of a first build. It does not cover new requirements. It does not cover a scope change.</a:t>
            </a:r>
            <a:endParaRPr lang="en-US" sz="1050" dirty="0"/>
          </a:p>
        </p:txBody>
      </p:sp>
      <p:sp>
        <p:nvSpPr>
          <p:cNvPr id="38" name="Shape 36"/>
          <p:cNvSpPr/>
          <p:nvPr/>
        </p:nvSpPr>
        <p:spPr>
          <a:xfrm>
            <a:off x="8010144" y="3337560"/>
            <a:ext cx="3547872" cy="2331720"/>
          </a:xfrm>
          <a:prstGeom prst="roundRect">
            <a:avLst>
              <a:gd name="adj" fmla="val 3137"/>
            </a:avLst>
          </a:prstGeom>
          <a:solidFill>
            <a:srgbClr val="FFFFFF"/>
          </a:solidFill>
          <a:ln w="9525">
            <a:solidFill>
              <a:srgbClr val="FFFFFF"/>
            </a:solidFill>
            <a:prstDash val="solid"/>
          </a:ln>
        </p:spPr>
      </p:sp>
      <p:sp>
        <p:nvSpPr>
          <p:cNvPr id="39" name="Shape 37"/>
          <p:cNvSpPr/>
          <p:nvPr/>
        </p:nvSpPr>
        <p:spPr>
          <a:xfrm>
            <a:off x="8010144" y="3337560"/>
            <a:ext cx="3547872" cy="2331720"/>
          </a:xfrm>
          <a:prstGeom prst="rect">
            <a:avLst/>
          </a:prstGeom>
          <a:solidFill>
            <a:srgbClr val="FFFFFF"/>
          </a:solidFill>
          <a:ln w="12700">
            <a:solidFill>
              <a:srgbClr val="D5E0E1"/>
            </a:solidFill>
            <a:prstDash val="solid"/>
          </a:ln>
        </p:spPr>
      </p:sp>
      <p:sp>
        <p:nvSpPr>
          <p:cNvPr id="40" name="Shape 38"/>
          <p:cNvSpPr/>
          <p:nvPr/>
        </p:nvSpPr>
        <p:spPr>
          <a:xfrm>
            <a:off x="8193024" y="3520440"/>
            <a:ext cx="310896" cy="310896"/>
          </a:xfrm>
          <a:prstGeom prst="ellipse">
            <a:avLst/>
          </a:prstGeom>
          <a:solidFill>
            <a:srgbClr val="B4453C"/>
          </a:solidFill>
          <a:ln w="12700">
            <a:solidFill>
              <a:srgbClr val="B4453C"/>
            </a:solidFill>
            <a:prstDash val="solid"/>
          </a:ln>
        </p:spPr>
      </p:sp>
      <p:sp>
        <p:nvSpPr>
          <p:cNvPr id="41" name="Text 39"/>
          <p:cNvSpPr/>
          <p:nvPr/>
        </p:nvSpPr>
        <p:spPr>
          <a:xfrm>
            <a:off x="8193024" y="352044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2" name="Text 40"/>
          <p:cNvSpPr/>
          <p:nvPr/>
        </p:nvSpPr>
        <p:spPr>
          <a:xfrm>
            <a:off x="8595360" y="3529584"/>
            <a:ext cx="2834640" cy="292608"/>
          </a:xfrm>
          <a:prstGeom prst="rect">
            <a:avLst/>
          </a:prstGeom>
          <a:noFill/>
          <a:ln/>
        </p:spPr>
        <p:txBody>
          <a:bodyPr wrap="square" lIns="0" tIns="0" rIns="0" bIns="0" rtlCol="0" anchor="ctr"/>
          <a:lstStyle/>
          <a:p>
            <a:pPr marL="0" indent="0">
              <a:buNone/>
            </a:pPr>
            <a:r>
              <a:rPr lang="en-US" sz="1250" b="1" dirty="0">
                <a:solidFill>
                  <a:srgbClr val="06474F"/>
                </a:solidFill>
                <a:latin typeface="Calibri" pitchFamily="34" charset="0"/>
                <a:ea typeface="Calibri" pitchFamily="34" charset="-122"/>
                <a:cs typeface="Calibri" pitchFamily="34" charset="-120"/>
              </a:rPr>
              <a:t>What would break this model</a:t>
            </a:r>
            <a:endParaRPr lang="en-US" sz="1250" dirty="0"/>
          </a:p>
        </p:txBody>
      </p:sp>
      <p:sp>
        <p:nvSpPr>
          <p:cNvPr id="43" name="Text 41"/>
          <p:cNvSpPr/>
          <p:nvPr/>
        </p:nvSpPr>
        <p:spPr>
          <a:xfrm>
            <a:off x="8193024" y="3950208"/>
            <a:ext cx="3200400" cy="1600200"/>
          </a:xfrm>
          <a:prstGeom prst="rect">
            <a:avLst/>
          </a:prstGeom>
          <a:noFill/>
          <a:ln/>
        </p:spPr>
        <p:txBody>
          <a:bodyPr wrap="square" lIns="0" tIns="0" rIns="0" bIns="0" rtlCol="0" anchor="ctr"/>
          <a:lstStyle/>
          <a:p>
            <a:pPr marL="0" indent="0">
              <a:lnSpc>
                <a:spcPts val="1400"/>
              </a:lnSpc>
              <a:buNone/>
            </a:pPr>
            <a:r>
              <a:rPr lang="en-US" sz="1050" dirty="0">
                <a:solidFill>
                  <a:srgbClr val="5C6E71"/>
                </a:solidFill>
                <a:latin typeface="Calibri" pitchFamily="34" charset="0"/>
                <a:ea typeface="Calibri" pitchFamily="34" charset="-122"/>
                <a:cs typeface="Calibri" pitchFamily="34" charset="-120"/>
              </a:rPr>
              <a:t>Late content, late decisions, or new requirements. A decision that takes three weeks costs three weeks - it does not cost a phone call, because there is no parallel work to switch to.</a:t>
            </a:r>
            <a:endParaRPr lang="en-US" sz="1050" dirty="0"/>
          </a:p>
        </p:txBody>
      </p:sp>
      <p:sp>
        <p:nvSpPr>
          <p:cNvPr id="44" name="Shape 42"/>
          <p:cNvSpPr/>
          <p:nvPr/>
        </p:nvSpPr>
        <p:spPr>
          <a:xfrm>
            <a:off x="548640" y="5852160"/>
            <a:ext cx="11064240" cy="457200"/>
          </a:xfrm>
          <a:prstGeom prst="roundRect">
            <a:avLst>
              <a:gd name="adj" fmla="val 16000"/>
            </a:avLst>
          </a:prstGeom>
          <a:solidFill>
            <a:srgbClr val="FBF2E7"/>
          </a:solidFill>
          <a:ln w="9525">
            <a:solidFill>
              <a:srgbClr val="FBF2E7"/>
            </a:solidFill>
            <a:prstDash val="solid"/>
          </a:ln>
          <a:effectLst>
            <a:outerShdw blurRad="101600" dist="25400" dir="5400000" algn="bl" rotWithShape="0">
              <a:srgbClr val="0A2B31">
                <a:alpha val="10000"/>
              </a:srgbClr>
            </a:outerShdw>
          </a:effectLst>
        </p:spPr>
      </p:sp>
      <p:sp>
        <p:nvSpPr>
          <p:cNvPr id="45" name="Text 43"/>
          <p:cNvSpPr/>
          <p:nvPr/>
        </p:nvSpPr>
        <p:spPr>
          <a:xfrm>
            <a:off x="777240" y="5852160"/>
            <a:ext cx="10789920" cy="457200"/>
          </a:xfrm>
          <a:prstGeom prst="rect">
            <a:avLst/>
          </a:prstGeom>
          <a:noFill/>
          <a:ln/>
        </p:spPr>
        <p:txBody>
          <a:bodyPr wrap="square" lIns="0" tIns="0" rIns="0" bIns="0" rtlCol="0" anchor="ctr"/>
          <a:lstStyle/>
          <a:p>
            <a:pPr marL="0" indent="0">
              <a:buNone/>
            </a:pPr>
            <a:r>
              <a:rPr lang="en-US" sz="1150" i="1" dirty="0">
                <a:solidFill>
                  <a:srgbClr val="5C6E71"/>
                </a:solidFill>
                <a:latin typeface="Calibri" pitchFamily="34" charset="0"/>
                <a:ea typeface="Calibri" pitchFamily="34" charset="-122"/>
                <a:cs typeface="Calibri" pitchFamily="34" charset="-120"/>
              </a:rPr>
              <a:t>Meetings are inside the six hours, not on top of them. Every hour we spend talking is an hour not spent building - which is why the cadence on slide 14 is deliberately lean.</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200" b="1" dirty="0">
                <a:solidFill>
                  <a:srgbClr val="06474F"/>
                </a:solidFill>
                <a:latin typeface="Cambria" pitchFamily="34" charset="0"/>
                <a:ea typeface="Cambria" pitchFamily="34" charset="-122"/>
                <a:cs typeface="Cambria" pitchFamily="34" charset="-120"/>
              </a:rPr>
              <a:t>Project timeline: 13 July 2026 - 5 September 2027</a:t>
            </a:r>
            <a:endParaRPr lang="en-US" sz="3200" dirty="0"/>
          </a:p>
        </p:txBody>
      </p:sp>
      <p:sp>
        <p:nvSpPr>
          <p:cNvPr id="3" name="Text 1"/>
          <p:cNvSpPr/>
          <p:nvPr/>
        </p:nvSpPr>
        <p:spPr>
          <a:xfrm>
            <a:off x="548640" y="941832"/>
            <a:ext cx="11064240" cy="310896"/>
          </a:xfrm>
          <a:prstGeom prst="rect">
            <a:avLst/>
          </a:prstGeom>
          <a:noFill/>
          <a:ln/>
        </p:spPr>
        <p:txBody>
          <a:bodyPr wrap="square" lIns="0" tIns="0" rIns="0" bIns="0" rtlCol="0" anchor="ctr"/>
          <a:lstStyle/>
          <a:p>
            <a:pPr marL="0" indent="0">
              <a:buNone/>
            </a:pPr>
            <a:r>
              <a:rPr lang="en-US" sz="1400" i="1" dirty="0">
                <a:solidFill>
                  <a:srgbClr val="5C6E71"/>
                </a:solidFill>
                <a:latin typeface="Calibri" pitchFamily="34" charset="0"/>
                <a:ea typeface="Calibri" pitchFamily="34" charset="-122"/>
                <a:cs typeface="Calibri" pitchFamily="34" charset="-120"/>
              </a:rPr>
              <a:t>One developer, 6 hours a week. 60 weeks to client acceptance.</a:t>
            </a:r>
            <a:endParaRPr lang="en-US" sz="1400" dirty="0"/>
          </a:p>
        </p:txBody>
      </p:sp>
      <p:sp>
        <p:nvSpPr>
          <p:cNvPr id="4" name="Text 2"/>
          <p:cNvSpPr/>
          <p:nvPr/>
        </p:nvSpPr>
        <p:spPr>
          <a:xfrm>
            <a:off x="548640" y="6473952"/>
            <a:ext cx="5486400" cy="237744"/>
          </a:xfrm>
          <a:prstGeom prst="rect">
            <a:avLst/>
          </a:prstGeom>
          <a:noFill/>
          <a:ln/>
        </p:spPr>
        <p:txBody>
          <a:bodyPr wrap="square" lIns="0" tIns="0" rIns="0" bIns="0" rtlCol="0" anchor="ctr"/>
          <a:lstStyle/>
          <a:p>
            <a:pPr marL="0" indent="0">
              <a:buNone/>
            </a:pPr>
            <a:r>
              <a:rPr lang="en-US" sz="900" dirty="0">
                <a:solidFill>
                  <a:srgbClr val="B9C4C6"/>
                </a:solidFill>
                <a:latin typeface="Calibri" pitchFamily="34" charset="0"/>
                <a:ea typeface="Calibri" pitchFamily="34" charset="-122"/>
                <a:cs typeface="Calibri" pitchFamily="34" charset="-120"/>
              </a:rPr>
              <a:t>SPEAK  |  Status &amp; Delivery Plan  |  12 July 2026</a:t>
            </a:r>
            <a:endParaRPr lang="en-US" sz="900" dirty="0"/>
          </a:p>
        </p:txBody>
      </p:sp>
      <p:sp>
        <p:nvSpPr>
          <p:cNvPr id="5" name="Text 3"/>
          <p:cNvSpPr/>
          <p:nvPr/>
        </p:nvSpPr>
        <p:spPr>
          <a:xfrm>
            <a:off x="11064240" y="6473952"/>
            <a:ext cx="548640" cy="237744"/>
          </a:xfrm>
          <a:prstGeom prst="rect">
            <a:avLst/>
          </a:prstGeom>
          <a:noFill/>
          <a:ln/>
        </p:spPr>
        <p:txBody>
          <a:bodyPr wrap="square" lIns="0" tIns="0" rIns="0" bIns="0" rtlCol="0" anchor="ctr"/>
          <a:lstStyle/>
          <a:p>
            <a:pPr marL="0" indent="0" algn="r">
              <a:buNone/>
            </a:pPr>
            <a:r>
              <a:rPr lang="en-US" sz="900" dirty="0">
                <a:solidFill>
                  <a:srgbClr val="B9C4C6"/>
                </a:solidFill>
                <a:latin typeface="Calibri" pitchFamily="34" charset="0"/>
                <a:ea typeface="Calibri" pitchFamily="34" charset="-122"/>
                <a:cs typeface="Calibri" pitchFamily="34" charset="-120"/>
              </a:rPr>
              <a:t>10</a:t>
            </a:r>
            <a:endParaRPr lang="en-US" sz="900" dirty="0"/>
          </a:p>
        </p:txBody>
      </p:sp>
      <p:sp>
        <p:nvSpPr>
          <p:cNvPr id="6" name="Shape 4"/>
          <p:cNvSpPr/>
          <p:nvPr/>
        </p:nvSpPr>
        <p:spPr>
          <a:xfrm>
            <a:off x="4160520" y="1874520"/>
            <a:ext cx="0" cy="4206240"/>
          </a:xfrm>
          <a:prstGeom prst="line">
            <a:avLst/>
          </a:prstGeom>
          <a:noFill/>
          <a:ln w="9525">
            <a:solidFill>
              <a:srgbClr val="E4EBEB"/>
            </a:solidFill>
            <a:prstDash val="solid"/>
          </a:ln>
        </p:spPr>
      </p:sp>
      <p:sp>
        <p:nvSpPr>
          <p:cNvPr id="7" name="Text 5"/>
          <p:cNvSpPr/>
          <p:nvPr/>
        </p:nvSpPr>
        <p:spPr>
          <a:xfrm>
            <a:off x="3784939" y="1581912"/>
            <a:ext cx="768096" cy="237744"/>
          </a:xfrm>
          <a:prstGeom prst="rect">
            <a:avLst/>
          </a:prstGeom>
          <a:noFill/>
          <a:ln/>
        </p:spPr>
        <p:txBody>
          <a:bodyPr wrap="square" lIns="0" tIns="0" rIns="0" bIns="0" rtlCol="0" anchor="ctr"/>
          <a:lstStyle/>
          <a:p>
            <a:pPr marL="0" indent="0" algn="ctr">
              <a:buNone/>
            </a:pPr>
            <a:r>
              <a:rPr lang="en-US" sz="900" b="1" dirty="0">
                <a:solidFill>
                  <a:srgbClr val="5C6E71"/>
                </a:solidFill>
                <a:latin typeface="Calibri" pitchFamily="34" charset="0"/>
                <a:ea typeface="Calibri" pitchFamily="34" charset="-122"/>
                <a:cs typeface="Calibri" pitchFamily="34" charset="-120"/>
              </a:rPr>
              <a:t>Jul '26</a:t>
            </a:r>
            <a:endParaRPr lang="en-US" sz="900" dirty="0"/>
          </a:p>
        </p:txBody>
      </p:sp>
      <p:sp>
        <p:nvSpPr>
          <p:cNvPr id="8" name="Shape 6"/>
          <p:cNvSpPr/>
          <p:nvPr/>
        </p:nvSpPr>
        <p:spPr>
          <a:xfrm>
            <a:off x="5040630" y="1874520"/>
            <a:ext cx="0" cy="4206240"/>
          </a:xfrm>
          <a:prstGeom prst="line">
            <a:avLst/>
          </a:prstGeom>
          <a:noFill/>
          <a:ln w="9525">
            <a:solidFill>
              <a:srgbClr val="E4EBEB"/>
            </a:solidFill>
            <a:prstDash val="solid"/>
          </a:ln>
        </p:spPr>
      </p:sp>
      <p:sp>
        <p:nvSpPr>
          <p:cNvPr id="9" name="Text 7"/>
          <p:cNvSpPr/>
          <p:nvPr/>
        </p:nvSpPr>
        <p:spPr>
          <a:xfrm>
            <a:off x="4656582" y="1581912"/>
            <a:ext cx="768096" cy="237744"/>
          </a:xfrm>
          <a:prstGeom prst="rect">
            <a:avLst/>
          </a:prstGeom>
          <a:noFill/>
          <a:ln/>
        </p:spPr>
        <p:txBody>
          <a:bodyPr wrap="square" lIns="0" tIns="0" rIns="0" bIns="0" rtlCol="0" anchor="ctr"/>
          <a:lstStyle/>
          <a:p>
            <a:pPr marL="0" indent="0" algn="ctr">
              <a:buNone/>
            </a:pPr>
            <a:r>
              <a:rPr lang="en-US" sz="900" b="1" dirty="0">
                <a:solidFill>
                  <a:srgbClr val="5C6E71"/>
                </a:solidFill>
                <a:latin typeface="Calibri" pitchFamily="34" charset="0"/>
                <a:ea typeface="Calibri" pitchFamily="34" charset="-122"/>
                <a:cs typeface="Calibri" pitchFamily="34" charset="-120"/>
              </a:rPr>
              <a:t>Sep '26</a:t>
            </a:r>
            <a:endParaRPr lang="en-US" sz="900" dirty="0"/>
          </a:p>
        </p:txBody>
      </p:sp>
      <p:sp>
        <p:nvSpPr>
          <p:cNvPr id="10" name="Shape 8"/>
          <p:cNvSpPr/>
          <p:nvPr/>
        </p:nvSpPr>
        <p:spPr>
          <a:xfrm>
            <a:off x="6172200" y="1874520"/>
            <a:ext cx="0" cy="4206240"/>
          </a:xfrm>
          <a:prstGeom prst="line">
            <a:avLst/>
          </a:prstGeom>
          <a:noFill/>
          <a:ln w="9525">
            <a:solidFill>
              <a:srgbClr val="E4EBEB"/>
            </a:solidFill>
            <a:prstDash val="solid"/>
          </a:ln>
        </p:spPr>
      </p:sp>
      <p:sp>
        <p:nvSpPr>
          <p:cNvPr id="11" name="Text 9"/>
          <p:cNvSpPr/>
          <p:nvPr/>
        </p:nvSpPr>
        <p:spPr>
          <a:xfrm>
            <a:off x="5788152" y="1581912"/>
            <a:ext cx="768096" cy="237744"/>
          </a:xfrm>
          <a:prstGeom prst="rect">
            <a:avLst/>
          </a:prstGeom>
          <a:noFill/>
          <a:ln/>
        </p:spPr>
        <p:txBody>
          <a:bodyPr wrap="square" lIns="0" tIns="0" rIns="0" bIns="0" rtlCol="0" anchor="ctr"/>
          <a:lstStyle/>
          <a:p>
            <a:pPr marL="0" indent="0" algn="ctr">
              <a:buNone/>
            </a:pPr>
            <a:r>
              <a:rPr lang="en-US" sz="900" b="1" dirty="0">
                <a:solidFill>
                  <a:srgbClr val="5C6E71"/>
                </a:solidFill>
                <a:latin typeface="Calibri" pitchFamily="34" charset="0"/>
                <a:ea typeface="Calibri" pitchFamily="34" charset="-122"/>
                <a:cs typeface="Calibri" pitchFamily="34" charset="-120"/>
              </a:rPr>
              <a:t>Nov '26</a:t>
            </a:r>
            <a:endParaRPr lang="en-US" sz="900" dirty="0"/>
          </a:p>
        </p:txBody>
      </p:sp>
      <p:sp>
        <p:nvSpPr>
          <p:cNvPr id="12" name="Shape 10"/>
          <p:cNvSpPr/>
          <p:nvPr/>
        </p:nvSpPr>
        <p:spPr>
          <a:xfrm>
            <a:off x="7303770" y="1874520"/>
            <a:ext cx="0" cy="4206240"/>
          </a:xfrm>
          <a:prstGeom prst="line">
            <a:avLst/>
          </a:prstGeom>
          <a:noFill/>
          <a:ln w="9525">
            <a:solidFill>
              <a:srgbClr val="E4EBEB"/>
            </a:solidFill>
            <a:prstDash val="solid"/>
          </a:ln>
        </p:spPr>
      </p:sp>
      <p:sp>
        <p:nvSpPr>
          <p:cNvPr id="13" name="Text 11"/>
          <p:cNvSpPr/>
          <p:nvPr/>
        </p:nvSpPr>
        <p:spPr>
          <a:xfrm>
            <a:off x="6919722" y="1581912"/>
            <a:ext cx="768096" cy="237744"/>
          </a:xfrm>
          <a:prstGeom prst="rect">
            <a:avLst/>
          </a:prstGeom>
          <a:noFill/>
          <a:ln/>
        </p:spPr>
        <p:txBody>
          <a:bodyPr wrap="square" lIns="0" tIns="0" rIns="0" bIns="0" rtlCol="0" anchor="ctr"/>
          <a:lstStyle/>
          <a:p>
            <a:pPr marL="0" indent="0" algn="ctr">
              <a:buNone/>
            </a:pPr>
            <a:r>
              <a:rPr lang="en-US" sz="900" b="1" dirty="0">
                <a:solidFill>
                  <a:srgbClr val="5C6E71"/>
                </a:solidFill>
                <a:latin typeface="Calibri" pitchFamily="34" charset="0"/>
                <a:ea typeface="Calibri" pitchFamily="34" charset="-122"/>
                <a:cs typeface="Calibri" pitchFamily="34" charset="-120"/>
              </a:rPr>
              <a:t>Jan '27</a:t>
            </a:r>
            <a:endParaRPr lang="en-US" sz="900" dirty="0"/>
          </a:p>
        </p:txBody>
      </p:sp>
      <p:sp>
        <p:nvSpPr>
          <p:cNvPr id="14" name="Shape 12"/>
          <p:cNvSpPr/>
          <p:nvPr/>
        </p:nvSpPr>
        <p:spPr>
          <a:xfrm>
            <a:off x="8309610" y="1874520"/>
            <a:ext cx="0" cy="4206240"/>
          </a:xfrm>
          <a:prstGeom prst="line">
            <a:avLst/>
          </a:prstGeom>
          <a:noFill/>
          <a:ln w="9525">
            <a:solidFill>
              <a:srgbClr val="E4EBEB"/>
            </a:solidFill>
            <a:prstDash val="solid"/>
          </a:ln>
        </p:spPr>
      </p:sp>
      <p:sp>
        <p:nvSpPr>
          <p:cNvPr id="15" name="Text 13"/>
          <p:cNvSpPr/>
          <p:nvPr/>
        </p:nvSpPr>
        <p:spPr>
          <a:xfrm>
            <a:off x="7925562" y="1581912"/>
            <a:ext cx="768096" cy="237744"/>
          </a:xfrm>
          <a:prstGeom prst="rect">
            <a:avLst/>
          </a:prstGeom>
          <a:noFill/>
          <a:ln/>
        </p:spPr>
        <p:txBody>
          <a:bodyPr wrap="square" lIns="0" tIns="0" rIns="0" bIns="0" rtlCol="0" anchor="ctr"/>
          <a:lstStyle/>
          <a:p>
            <a:pPr marL="0" indent="0" algn="ctr">
              <a:buNone/>
            </a:pPr>
            <a:r>
              <a:rPr lang="en-US" sz="900" b="1" dirty="0">
                <a:solidFill>
                  <a:srgbClr val="5C6E71"/>
                </a:solidFill>
                <a:latin typeface="Calibri" pitchFamily="34" charset="0"/>
                <a:ea typeface="Calibri" pitchFamily="34" charset="-122"/>
                <a:cs typeface="Calibri" pitchFamily="34" charset="-120"/>
              </a:rPr>
              <a:t>Mar '27</a:t>
            </a:r>
            <a:endParaRPr lang="en-US" sz="900" dirty="0"/>
          </a:p>
        </p:txBody>
      </p:sp>
      <p:sp>
        <p:nvSpPr>
          <p:cNvPr id="16" name="Shape 14"/>
          <p:cNvSpPr/>
          <p:nvPr/>
        </p:nvSpPr>
        <p:spPr>
          <a:xfrm>
            <a:off x="9441180" y="1874520"/>
            <a:ext cx="0" cy="4206240"/>
          </a:xfrm>
          <a:prstGeom prst="line">
            <a:avLst/>
          </a:prstGeom>
          <a:noFill/>
          <a:ln w="9525">
            <a:solidFill>
              <a:srgbClr val="E4EBEB"/>
            </a:solidFill>
            <a:prstDash val="solid"/>
          </a:ln>
        </p:spPr>
      </p:sp>
      <p:sp>
        <p:nvSpPr>
          <p:cNvPr id="17" name="Text 15"/>
          <p:cNvSpPr/>
          <p:nvPr/>
        </p:nvSpPr>
        <p:spPr>
          <a:xfrm>
            <a:off x="9057132" y="1581912"/>
            <a:ext cx="768096" cy="237744"/>
          </a:xfrm>
          <a:prstGeom prst="rect">
            <a:avLst/>
          </a:prstGeom>
          <a:noFill/>
          <a:ln/>
        </p:spPr>
        <p:txBody>
          <a:bodyPr wrap="square" lIns="0" tIns="0" rIns="0" bIns="0" rtlCol="0" anchor="ctr"/>
          <a:lstStyle/>
          <a:p>
            <a:pPr marL="0" indent="0" algn="ctr">
              <a:buNone/>
            </a:pPr>
            <a:r>
              <a:rPr lang="en-US" sz="900" b="1" dirty="0">
                <a:solidFill>
                  <a:srgbClr val="5C6E71"/>
                </a:solidFill>
                <a:latin typeface="Calibri" pitchFamily="34" charset="0"/>
                <a:ea typeface="Calibri" pitchFamily="34" charset="-122"/>
                <a:cs typeface="Calibri" pitchFamily="34" charset="-120"/>
              </a:rPr>
              <a:t>May '27</a:t>
            </a:r>
            <a:endParaRPr lang="en-US" sz="900" dirty="0"/>
          </a:p>
        </p:txBody>
      </p:sp>
      <p:sp>
        <p:nvSpPr>
          <p:cNvPr id="18" name="Shape 16"/>
          <p:cNvSpPr/>
          <p:nvPr/>
        </p:nvSpPr>
        <p:spPr>
          <a:xfrm>
            <a:off x="10447020" y="1874520"/>
            <a:ext cx="0" cy="4206240"/>
          </a:xfrm>
          <a:prstGeom prst="line">
            <a:avLst/>
          </a:prstGeom>
          <a:noFill/>
          <a:ln w="9525">
            <a:solidFill>
              <a:srgbClr val="E4EBEB"/>
            </a:solidFill>
            <a:prstDash val="solid"/>
          </a:ln>
        </p:spPr>
      </p:sp>
      <p:sp>
        <p:nvSpPr>
          <p:cNvPr id="19" name="Text 17"/>
          <p:cNvSpPr/>
          <p:nvPr/>
        </p:nvSpPr>
        <p:spPr>
          <a:xfrm>
            <a:off x="10062972" y="1581912"/>
            <a:ext cx="768096" cy="237744"/>
          </a:xfrm>
          <a:prstGeom prst="rect">
            <a:avLst/>
          </a:prstGeom>
          <a:noFill/>
          <a:ln/>
        </p:spPr>
        <p:txBody>
          <a:bodyPr wrap="square" lIns="0" tIns="0" rIns="0" bIns="0" rtlCol="0" anchor="ctr"/>
          <a:lstStyle/>
          <a:p>
            <a:pPr marL="0" indent="0" algn="ctr">
              <a:buNone/>
            </a:pPr>
            <a:r>
              <a:rPr lang="en-US" sz="900" b="1" dirty="0">
                <a:solidFill>
                  <a:srgbClr val="5C6E71"/>
                </a:solidFill>
                <a:latin typeface="Calibri" pitchFamily="34" charset="0"/>
                <a:ea typeface="Calibri" pitchFamily="34" charset="-122"/>
                <a:cs typeface="Calibri" pitchFamily="34" charset="-120"/>
              </a:rPr>
              <a:t>Jul '27</a:t>
            </a:r>
            <a:endParaRPr lang="en-US" sz="900" dirty="0"/>
          </a:p>
        </p:txBody>
      </p:sp>
      <p:sp>
        <p:nvSpPr>
          <p:cNvPr id="20" name="Shape 18"/>
          <p:cNvSpPr/>
          <p:nvPr/>
        </p:nvSpPr>
        <p:spPr>
          <a:xfrm>
            <a:off x="11578590" y="1874520"/>
            <a:ext cx="0" cy="4206240"/>
          </a:xfrm>
          <a:prstGeom prst="line">
            <a:avLst/>
          </a:prstGeom>
          <a:noFill/>
          <a:ln w="9525">
            <a:solidFill>
              <a:srgbClr val="E4EBEB"/>
            </a:solidFill>
            <a:prstDash val="solid"/>
          </a:ln>
        </p:spPr>
      </p:sp>
      <p:sp>
        <p:nvSpPr>
          <p:cNvPr id="21" name="Text 19"/>
          <p:cNvSpPr/>
          <p:nvPr/>
        </p:nvSpPr>
        <p:spPr>
          <a:xfrm>
            <a:off x="11194542" y="1581912"/>
            <a:ext cx="768096" cy="237744"/>
          </a:xfrm>
          <a:prstGeom prst="rect">
            <a:avLst/>
          </a:prstGeom>
          <a:noFill/>
          <a:ln/>
        </p:spPr>
        <p:txBody>
          <a:bodyPr wrap="square" lIns="0" tIns="0" rIns="0" bIns="0" rtlCol="0" anchor="ctr"/>
          <a:lstStyle/>
          <a:p>
            <a:pPr marL="0" indent="0" algn="ctr">
              <a:buNone/>
            </a:pPr>
            <a:r>
              <a:rPr lang="en-US" sz="900" b="1" dirty="0">
                <a:solidFill>
                  <a:srgbClr val="5C6E71"/>
                </a:solidFill>
                <a:latin typeface="Calibri" pitchFamily="34" charset="0"/>
                <a:ea typeface="Calibri" pitchFamily="34" charset="-122"/>
                <a:cs typeface="Calibri" pitchFamily="34" charset="-120"/>
              </a:rPr>
              <a:t>Sep '27</a:t>
            </a:r>
            <a:endParaRPr lang="en-US" sz="900" dirty="0"/>
          </a:p>
        </p:txBody>
      </p:sp>
      <p:sp>
        <p:nvSpPr>
          <p:cNvPr id="22" name="Shape 20"/>
          <p:cNvSpPr/>
          <p:nvPr/>
        </p:nvSpPr>
        <p:spPr>
          <a:xfrm>
            <a:off x="4160520" y="1874520"/>
            <a:ext cx="7543800" cy="0"/>
          </a:xfrm>
          <a:prstGeom prst="line">
            <a:avLst/>
          </a:prstGeom>
          <a:noFill/>
          <a:ln w="12700">
            <a:solidFill>
              <a:srgbClr val="D5E0E1"/>
            </a:solidFill>
            <a:prstDash val="solid"/>
          </a:ln>
        </p:spPr>
      </p:sp>
      <p:sp>
        <p:nvSpPr>
          <p:cNvPr id="23" name="Text 21"/>
          <p:cNvSpPr/>
          <p:nvPr/>
        </p:nvSpPr>
        <p:spPr>
          <a:xfrm>
            <a:off x="548640" y="1581912"/>
            <a:ext cx="2743200" cy="237744"/>
          </a:xfrm>
          <a:prstGeom prst="rect">
            <a:avLst/>
          </a:prstGeom>
          <a:noFill/>
          <a:ln/>
        </p:spPr>
        <p:txBody>
          <a:bodyPr wrap="square" lIns="0" tIns="0" rIns="0" bIns="0" rtlCol="0" anchor="ctr"/>
          <a:lstStyle/>
          <a:p>
            <a:pPr marL="0" indent="0">
              <a:buNone/>
            </a:pPr>
            <a:r>
              <a:rPr lang="en-US" sz="900" b="1" dirty="0">
                <a:solidFill>
                  <a:srgbClr val="5C6E71"/>
                </a:solidFill>
                <a:latin typeface="Calibri" pitchFamily="34" charset="0"/>
                <a:ea typeface="Calibri" pitchFamily="34" charset="-122"/>
                <a:cs typeface="Calibri" pitchFamily="34" charset="-120"/>
              </a:rPr>
              <a:t>Workstream</a:t>
            </a:r>
            <a:endParaRPr lang="en-US" sz="900" dirty="0"/>
          </a:p>
        </p:txBody>
      </p:sp>
      <p:sp>
        <p:nvSpPr>
          <p:cNvPr id="24" name="Text 22"/>
          <p:cNvSpPr/>
          <p:nvPr/>
        </p:nvSpPr>
        <p:spPr>
          <a:xfrm>
            <a:off x="3293529" y="1581912"/>
            <a:ext cx="640080" cy="237744"/>
          </a:xfrm>
          <a:prstGeom prst="rect">
            <a:avLst/>
          </a:prstGeom>
          <a:noFill/>
          <a:ln/>
        </p:spPr>
        <p:txBody>
          <a:bodyPr wrap="square" lIns="0" tIns="0" rIns="0" bIns="0" rtlCol="0" anchor="ctr"/>
          <a:lstStyle/>
          <a:p>
            <a:pPr marL="0" indent="0" algn="r">
              <a:buNone/>
            </a:pPr>
            <a:r>
              <a:rPr lang="en-US" sz="900" b="1" dirty="0">
                <a:solidFill>
                  <a:srgbClr val="5C6E71"/>
                </a:solidFill>
                <a:latin typeface="Calibri" pitchFamily="34" charset="0"/>
                <a:ea typeface="Calibri" pitchFamily="34" charset="-122"/>
                <a:cs typeface="Calibri" pitchFamily="34" charset="-120"/>
              </a:rPr>
              <a:t>Effort</a:t>
            </a:r>
            <a:endParaRPr lang="en-US" sz="900" dirty="0"/>
          </a:p>
        </p:txBody>
      </p:sp>
      <p:sp>
        <p:nvSpPr>
          <p:cNvPr id="25" name="Shape 23"/>
          <p:cNvSpPr/>
          <p:nvPr/>
        </p:nvSpPr>
        <p:spPr>
          <a:xfrm>
            <a:off x="548640" y="1920240"/>
            <a:ext cx="11155680" cy="457200"/>
          </a:xfrm>
          <a:prstGeom prst="rect">
            <a:avLst/>
          </a:prstGeom>
          <a:solidFill>
            <a:srgbClr val="F7FAFA"/>
          </a:solidFill>
          <a:ln w="12700">
            <a:solidFill>
              <a:srgbClr val="F7FAFA"/>
            </a:solidFill>
            <a:prstDash val="solid"/>
          </a:ln>
        </p:spPr>
      </p:sp>
      <p:sp>
        <p:nvSpPr>
          <p:cNvPr id="26" name="Text 24"/>
          <p:cNvSpPr/>
          <p:nvPr/>
        </p:nvSpPr>
        <p:spPr>
          <a:xfrm>
            <a:off x="548640" y="1947672"/>
            <a:ext cx="2880360" cy="402336"/>
          </a:xfrm>
          <a:prstGeom prst="rect">
            <a:avLst/>
          </a:prstGeom>
          <a:noFill/>
          <a:ln/>
        </p:spPr>
        <p:txBody>
          <a:bodyPr wrap="square" lIns="0" tIns="0" rIns="0" bIns="0" rtlCol="0" anchor="ctr"/>
          <a:lstStyle/>
          <a:p>
            <a:pPr marL="0" indent="0">
              <a:buNone/>
            </a:pPr>
            <a:r>
              <a:rPr lang="en-US" sz="1050" b="1" dirty="0">
                <a:solidFill>
                  <a:srgbClr val="06474F"/>
                </a:solidFill>
                <a:latin typeface="Calibri" pitchFamily="34" charset="0"/>
                <a:ea typeface="Calibri" pitchFamily="34" charset="-122"/>
                <a:cs typeface="Calibri" pitchFamily="34" charset="-120"/>
              </a:rPr>
              <a:t>Phase 0  Foundation, Docker &amp; CI</a:t>
            </a:r>
            <a:endParaRPr lang="en-US" sz="1050" dirty="0"/>
          </a:p>
        </p:txBody>
      </p:sp>
      <p:sp>
        <p:nvSpPr>
          <p:cNvPr id="27" name="Text 25"/>
          <p:cNvSpPr/>
          <p:nvPr/>
        </p:nvSpPr>
        <p:spPr>
          <a:xfrm>
            <a:off x="3429000" y="1947672"/>
            <a:ext cx="640080" cy="402336"/>
          </a:xfrm>
          <a:prstGeom prst="rect">
            <a:avLst/>
          </a:prstGeom>
          <a:noFill/>
          <a:ln/>
        </p:spPr>
        <p:txBody>
          <a:bodyPr wrap="square" lIns="0" tIns="0" rIns="0" bIns="0" rtlCol="0" anchor="ctr"/>
          <a:lstStyle/>
          <a:p>
            <a:pPr marL="0" indent="0" algn="r">
              <a:buNone/>
            </a:pPr>
            <a:r>
              <a:rPr lang="en-US" sz="1000" dirty="0">
                <a:solidFill>
                  <a:srgbClr val="5C6E71"/>
                </a:solidFill>
                <a:latin typeface="Calibri" pitchFamily="34" charset="0"/>
                <a:ea typeface="Calibri" pitchFamily="34" charset="-122"/>
                <a:cs typeface="Calibri" pitchFamily="34" charset="-120"/>
              </a:rPr>
              <a:t>18 h</a:t>
            </a:r>
            <a:endParaRPr lang="en-US" sz="1000" dirty="0"/>
          </a:p>
        </p:txBody>
      </p:sp>
      <p:sp>
        <p:nvSpPr>
          <p:cNvPr id="28" name="Shape 26"/>
          <p:cNvSpPr/>
          <p:nvPr/>
        </p:nvSpPr>
        <p:spPr>
          <a:xfrm>
            <a:off x="4160520" y="2002536"/>
            <a:ext cx="349758" cy="292608"/>
          </a:xfrm>
          <a:prstGeom prst="roundRect">
            <a:avLst>
              <a:gd name="adj" fmla="val 93750"/>
            </a:avLst>
          </a:prstGeom>
          <a:solidFill>
            <a:srgbClr val="50808E"/>
          </a:solidFill>
          <a:ln w="12700">
            <a:solidFill>
              <a:srgbClr val="50808E"/>
            </a:solidFill>
            <a:prstDash val="solid"/>
          </a:ln>
        </p:spPr>
      </p:sp>
      <p:sp>
        <p:nvSpPr>
          <p:cNvPr id="29" name="Text 27"/>
          <p:cNvSpPr/>
          <p:nvPr/>
        </p:nvSpPr>
        <p:spPr>
          <a:xfrm>
            <a:off x="4160520" y="2002536"/>
            <a:ext cx="349758"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W1-3</a:t>
            </a:r>
            <a:endParaRPr lang="en-US" sz="850" dirty="0"/>
          </a:p>
        </p:txBody>
      </p:sp>
      <p:sp>
        <p:nvSpPr>
          <p:cNvPr id="30" name="Text 28"/>
          <p:cNvSpPr/>
          <p:nvPr/>
        </p:nvSpPr>
        <p:spPr>
          <a:xfrm>
            <a:off x="548640" y="2404872"/>
            <a:ext cx="2880360" cy="402336"/>
          </a:xfrm>
          <a:prstGeom prst="rect">
            <a:avLst/>
          </a:prstGeom>
          <a:noFill/>
          <a:ln/>
        </p:spPr>
        <p:txBody>
          <a:bodyPr wrap="square" lIns="0" tIns="0" rIns="0" bIns="0" rtlCol="0" anchor="ctr"/>
          <a:lstStyle/>
          <a:p>
            <a:pPr marL="0" indent="0">
              <a:buNone/>
            </a:pPr>
            <a:r>
              <a:rPr lang="en-US" sz="1050" b="1" dirty="0">
                <a:solidFill>
                  <a:srgbClr val="06474F"/>
                </a:solidFill>
                <a:latin typeface="Calibri" pitchFamily="34" charset="0"/>
                <a:ea typeface="Calibri" pitchFamily="34" charset="-122"/>
                <a:cs typeface="Calibri" pitchFamily="34" charset="-120"/>
              </a:rPr>
              <a:t>Phase 1  Accounts &amp; access control</a:t>
            </a:r>
            <a:endParaRPr lang="en-US" sz="1050" dirty="0"/>
          </a:p>
        </p:txBody>
      </p:sp>
      <p:sp>
        <p:nvSpPr>
          <p:cNvPr id="31" name="Text 29"/>
          <p:cNvSpPr/>
          <p:nvPr/>
        </p:nvSpPr>
        <p:spPr>
          <a:xfrm>
            <a:off x="3429000" y="2404872"/>
            <a:ext cx="640080" cy="402336"/>
          </a:xfrm>
          <a:prstGeom prst="rect">
            <a:avLst/>
          </a:prstGeom>
          <a:noFill/>
          <a:ln/>
        </p:spPr>
        <p:txBody>
          <a:bodyPr wrap="square" lIns="0" tIns="0" rIns="0" bIns="0" rtlCol="0" anchor="ctr"/>
          <a:lstStyle/>
          <a:p>
            <a:pPr marL="0" indent="0" algn="r">
              <a:buNone/>
            </a:pPr>
            <a:r>
              <a:rPr lang="en-US" sz="1000" dirty="0">
                <a:solidFill>
                  <a:srgbClr val="5C6E71"/>
                </a:solidFill>
                <a:latin typeface="Calibri" pitchFamily="34" charset="0"/>
                <a:ea typeface="Calibri" pitchFamily="34" charset="-122"/>
                <a:cs typeface="Calibri" pitchFamily="34" charset="-120"/>
              </a:rPr>
              <a:t>38 h</a:t>
            </a:r>
            <a:endParaRPr lang="en-US" sz="1000" dirty="0"/>
          </a:p>
        </p:txBody>
      </p:sp>
      <p:sp>
        <p:nvSpPr>
          <p:cNvPr id="32" name="Shape 30"/>
          <p:cNvSpPr/>
          <p:nvPr/>
        </p:nvSpPr>
        <p:spPr>
          <a:xfrm>
            <a:off x="4537710" y="2459736"/>
            <a:ext cx="852678" cy="292608"/>
          </a:xfrm>
          <a:prstGeom prst="roundRect">
            <a:avLst>
              <a:gd name="adj" fmla="val 93750"/>
            </a:avLst>
          </a:prstGeom>
          <a:solidFill>
            <a:srgbClr val="06474F"/>
          </a:solidFill>
          <a:ln w="12700">
            <a:solidFill>
              <a:srgbClr val="06474F"/>
            </a:solidFill>
            <a:prstDash val="solid"/>
          </a:ln>
        </p:spPr>
      </p:sp>
      <p:sp>
        <p:nvSpPr>
          <p:cNvPr id="33" name="Text 31"/>
          <p:cNvSpPr/>
          <p:nvPr/>
        </p:nvSpPr>
        <p:spPr>
          <a:xfrm>
            <a:off x="4537710" y="2459736"/>
            <a:ext cx="852678"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W4-10</a:t>
            </a:r>
            <a:endParaRPr lang="en-US" sz="850" dirty="0"/>
          </a:p>
        </p:txBody>
      </p:sp>
      <p:sp>
        <p:nvSpPr>
          <p:cNvPr id="34" name="Shape 32"/>
          <p:cNvSpPr/>
          <p:nvPr/>
        </p:nvSpPr>
        <p:spPr>
          <a:xfrm>
            <a:off x="548640" y="2834640"/>
            <a:ext cx="11155680" cy="457200"/>
          </a:xfrm>
          <a:prstGeom prst="rect">
            <a:avLst/>
          </a:prstGeom>
          <a:solidFill>
            <a:srgbClr val="F7FAFA"/>
          </a:solidFill>
          <a:ln w="12700">
            <a:solidFill>
              <a:srgbClr val="F7FAFA"/>
            </a:solidFill>
            <a:prstDash val="solid"/>
          </a:ln>
        </p:spPr>
      </p:sp>
      <p:sp>
        <p:nvSpPr>
          <p:cNvPr id="35" name="Text 33"/>
          <p:cNvSpPr/>
          <p:nvPr/>
        </p:nvSpPr>
        <p:spPr>
          <a:xfrm>
            <a:off x="548640" y="2862072"/>
            <a:ext cx="2880360" cy="402336"/>
          </a:xfrm>
          <a:prstGeom prst="rect">
            <a:avLst/>
          </a:prstGeom>
          <a:noFill/>
          <a:ln/>
        </p:spPr>
        <p:txBody>
          <a:bodyPr wrap="square" lIns="0" tIns="0" rIns="0" bIns="0" rtlCol="0" anchor="ctr"/>
          <a:lstStyle/>
          <a:p>
            <a:pPr marL="0" indent="0">
              <a:buNone/>
            </a:pPr>
            <a:r>
              <a:rPr lang="en-US" sz="1050" b="1" dirty="0">
                <a:solidFill>
                  <a:srgbClr val="06474F"/>
                </a:solidFill>
                <a:latin typeface="Calibri" pitchFamily="34" charset="0"/>
                <a:ea typeface="Calibri" pitchFamily="34" charset="-122"/>
                <a:cs typeface="Calibri" pitchFamily="34" charset="-120"/>
              </a:rPr>
              <a:t>Phase 2  Content model &amp; importer</a:t>
            </a:r>
            <a:endParaRPr lang="en-US" sz="1050" dirty="0"/>
          </a:p>
        </p:txBody>
      </p:sp>
      <p:sp>
        <p:nvSpPr>
          <p:cNvPr id="36" name="Text 34"/>
          <p:cNvSpPr/>
          <p:nvPr/>
        </p:nvSpPr>
        <p:spPr>
          <a:xfrm>
            <a:off x="3429000" y="2862072"/>
            <a:ext cx="640080" cy="402336"/>
          </a:xfrm>
          <a:prstGeom prst="rect">
            <a:avLst/>
          </a:prstGeom>
          <a:noFill/>
          <a:ln/>
        </p:spPr>
        <p:txBody>
          <a:bodyPr wrap="square" lIns="0" tIns="0" rIns="0" bIns="0" rtlCol="0" anchor="ctr"/>
          <a:lstStyle/>
          <a:p>
            <a:pPr marL="0" indent="0" algn="r">
              <a:buNone/>
            </a:pPr>
            <a:r>
              <a:rPr lang="en-US" sz="1000" dirty="0">
                <a:solidFill>
                  <a:srgbClr val="5C6E71"/>
                </a:solidFill>
                <a:latin typeface="Calibri" pitchFamily="34" charset="0"/>
                <a:ea typeface="Calibri" pitchFamily="34" charset="-122"/>
                <a:cs typeface="Calibri" pitchFamily="34" charset="-120"/>
              </a:rPr>
              <a:t>42 h</a:t>
            </a:r>
            <a:endParaRPr lang="en-US" sz="1000" dirty="0"/>
          </a:p>
        </p:txBody>
      </p:sp>
      <p:sp>
        <p:nvSpPr>
          <p:cNvPr id="37" name="Shape 35"/>
          <p:cNvSpPr/>
          <p:nvPr/>
        </p:nvSpPr>
        <p:spPr>
          <a:xfrm>
            <a:off x="5417820" y="2916936"/>
            <a:ext cx="978408" cy="292608"/>
          </a:xfrm>
          <a:prstGeom prst="roundRect">
            <a:avLst>
              <a:gd name="adj" fmla="val 93750"/>
            </a:avLst>
          </a:prstGeom>
          <a:solidFill>
            <a:srgbClr val="00A896"/>
          </a:solidFill>
          <a:ln w="12700">
            <a:solidFill>
              <a:srgbClr val="00A896"/>
            </a:solidFill>
            <a:prstDash val="solid"/>
          </a:ln>
        </p:spPr>
      </p:sp>
      <p:sp>
        <p:nvSpPr>
          <p:cNvPr id="38" name="Text 36"/>
          <p:cNvSpPr/>
          <p:nvPr/>
        </p:nvSpPr>
        <p:spPr>
          <a:xfrm>
            <a:off x="5417820" y="2916936"/>
            <a:ext cx="978408"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W11-18</a:t>
            </a:r>
            <a:endParaRPr lang="en-US" sz="850" dirty="0"/>
          </a:p>
        </p:txBody>
      </p:sp>
      <p:sp>
        <p:nvSpPr>
          <p:cNvPr id="39" name="Text 37"/>
          <p:cNvSpPr/>
          <p:nvPr/>
        </p:nvSpPr>
        <p:spPr>
          <a:xfrm>
            <a:off x="548640" y="3319272"/>
            <a:ext cx="2880360" cy="402336"/>
          </a:xfrm>
          <a:prstGeom prst="rect">
            <a:avLst/>
          </a:prstGeom>
          <a:noFill/>
          <a:ln/>
        </p:spPr>
        <p:txBody>
          <a:bodyPr wrap="square" lIns="0" tIns="0" rIns="0" bIns="0" rtlCol="0" anchor="ctr"/>
          <a:lstStyle/>
          <a:p>
            <a:pPr marL="0" indent="0">
              <a:buNone/>
            </a:pPr>
            <a:r>
              <a:rPr lang="en-US" sz="1050" b="1" dirty="0">
                <a:solidFill>
                  <a:srgbClr val="06474F"/>
                </a:solidFill>
                <a:latin typeface="Calibri" pitchFamily="34" charset="0"/>
                <a:ea typeface="Calibri" pitchFamily="34" charset="-122"/>
                <a:cs typeface="Calibri" pitchFamily="34" charset="-120"/>
              </a:rPr>
              <a:t>Phase 3  Task engine + types A, B</a:t>
            </a:r>
            <a:endParaRPr lang="en-US" sz="1050" dirty="0"/>
          </a:p>
        </p:txBody>
      </p:sp>
      <p:sp>
        <p:nvSpPr>
          <p:cNvPr id="40" name="Text 38"/>
          <p:cNvSpPr/>
          <p:nvPr/>
        </p:nvSpPr>
        <p:spPr>
          <a:xfrm>
            <a:off x="3429000" y="3319272"/>
            <a:ext cx="640080" cy="402336"/>
          </a:xfrm>
          <a:prstGeom prst="rect">
            <a:avLst/>
          </a:prstGeom>
          <a:noFill/>
          <a:ln/>
        </p:spPr>
        <p:txBody>
          <a:bodyPr wrap="square" lIns="0" tIns="0" rIns="0" bIns="0" rtlCol="0" anchor="ctr"/>
          <a:lstStyle/>
          <a:p>
            <a:pPr marL="0" indent="0" algn="r">
              <a:buNone/>
            </a:pPr>
            <a:r>
              <a:rPr lang="en-US" sz="1000" dirty="0">
                <a:solidFill>
                  <a:srgbClr val="5C6E71"/>
                </a:solidFill>
                <a:latin typeface="Calibri" pitchFamily="34" charset="0"/>
                <a:ea typeface="Calibri" pitchFamily="34" charset="-122"/>
                <a:cs typeface="Calibri" pitchFamily="34" charset="-120"/>
              </a:rPr>
              <a:t>36 h</a:t>
            </a:r>
            <a:endParaRPr lang="en-US" sz="1000" dirty="0"/>
          </a:p>
        </p:txBody>
      </p:sp>
      <p:sp>
        <p:nvSpPr>
          <p:cNvPr id="41" name="Shape 39"/>
          <p:cNvSpPr/>
          <p:nvPr/>
        </p:nvSpPr>
        <p:spPr>
          <a:xfrm>
            <a:off x="6423660" y="3374136"/>
            <a:ext cx="852678" cy="292608"/>
          </a:xfrm>
          <a:prstGeom prst="roundRect">
            <a:avLst>
              <a:gd name="adj" fmla="val 93750"/>
            </a:avLst>
          </a:prstGeom>
          <a:solidFill>
            <a:srgbClr val="E08A3C"/>
          </a:solidFill>
          <a:ln w="12700">
            <a:solidFill>
              <a:srgbClr val="E08A3C"/>
            </a:solidFill>
            <a:prstDash val="solid"/>
          </a:ln>
        </p:spPr>
      </p:sp>
      <p:sp>
        <p:nvSpPr>
          <p:cNvPr id="42" name="Text 40"/>
          <p:cNvSpPr/>
          <p:nvPr/>
        </p:nvSpPr>
        <p:spPr>
          <a:xfrm>
            <a:off x="6423660" y="3374136"/>
            <a:ext cx="852678" cy="292608"/>
          </a:xfrm>
          <a:prstGeom prst="rect">
            <a:avLst/>
          </a:prstGeom>
          <a:noFill/>
          <a:ln/>
        </p:spPr>
        <p:txBody>
          <a:bodyPr wrap="square" lIns="0" tIns="0" rIns="0" bIns="0" rtlCol="0" anchor="ctr"/>
          <a:lstStyle/>
          <a:p>
            <a:pPr marL="0" indent="0" algn="ctr">
              <a:buNone/>
            </a:pPr>
            <a:r>
              <a:rPr lang="en-US" sz="850" b="1" dirty="0">
                <a:solidFill>
                  <a:srgbClr val="3A2A16"/>
                </a:solidFill>
                <a:latin typeface="Calibri" pitchFamily="34" charset="0"/>
                <a:ea typeface="Calibri" pitchFamily="34" charset="-122"/>
                <a:cs typeface="Calibri" pitchFamily="34" charset="-120"/>
              </a:rPr>
              <a:t>W19-25</a:t>
            </a:r>
            <a:endParaRPr lang="en-US" sz="850" dirty="0"/>
          </a:p>
        </p:txBody>
      </p:sp>
      <p:sp>
        <p:nvSpPr>
          <p:cNvPr id="43" name="Shape 41"/>
          <p:cNvSpPr/>
          <p:nvPr/>
        </p:nvSpPr>
        <p:spPr>
          <a:xfrm>
            <a:off x="548640" y="3749040"/>
            <a:ext cx="11155680" cy="457200"/>
          </a:xfrm>
          <a:prstGeom prst="rect">
            <a:avLst/>
          </a:prstGeom>
          <a:solidFill>
            <a:srgbClr val="F7FAFA"/>
          </a:solidFill>
          <a:ln w="12700">
            <a:solidFill>
              <a:srgbClr val="F7FAFA"/>
            </a:solidFill>
            <a:prstDash val="solid"/>
          </a:ln>
        </p:spPr>
      </p:sp>
      <p:sp>
        <p:nvSpPr>
          <p:cNvPr id="44" name="Text 42"/>
          <p:cNvSpPr/>
          <p:nvPr/>
        </p:nvSpPr>
        <p:spPr>
          <a:xfrm>
            <a:off x="548640" y="3776472"/>
            <a:ext cx="2880360" cy="402336"/>
          </a:xfrm>
          <a:prstGeom prst="rect">
            <a:avLst/>
          </a:prstGeom>
          <a:noFill/>
          <a:ln/>
        </p:spPr>
        <p:txBody>
          <a:bodyPr wrap="square" lIns="0" tIns="0" rIns="0" bIns="0" rtlCol="0" anchor="ctr"/>
          <a:lstStyle/>
          <a:p>
            <a:pPr marL="0" indent="0">
              <a:buNone/>
            </a:pPr>
            <a:r>
              <a:rPr lang="en-US" sz="1050" b="1" dirty="0">
                <a:solidFill>
                  <a:srgbClr val="06474F"/>
                </a:solidFill>
                <a:latin typeface="Calibri" pitchFamily="34" charset="0"/>
                <a:ea typeface="Calibri" pitchFamily="34" charset="-122"/>
                <a:cs typeface="Calibri" pitchFamily="34" charset="-120"/>
              </a:rPr>
              <a:t>Phase 4  The nine remaining task types</a:t>
            </a:r>
            <a:endParaRPr lang="en-US" sz="1050" dirty="0"/>
          </a:p>
        </p:txBody>
      </p:sp>
      <p:sp>
        <p:nvSpPr>
          <p:cNvPr id="45" name="Text 43"/>
          <p:cNvSpPr/>
          <p:nvPr/>
        </p:nvSpPr>
        <p:spPr>
          <a:xfrm>
            <a:off x="3429000" y="3776472"/>
            <a:ext cx="640080" cy="402336"/>
          </a:xfrm>
          <a:prstGeom prst="rect">
            <a:avLst/>
          </a:prstGeom>
          <a:noFill/>
          <a:ln/>
        </p:spPr>
        <p:txBody>
          <a:bodyPr wrap="square" lIns="0" tIns="0" rIns="0" bIns="0" rtlCol="0" anchor="ctr"/>
          <a:lstStyle/>
          <a:p>
            <a:pPr marL="0" indent="0" algn="r">
              <a:buNone/>
            </a:pPr>
            <a:r>
              <a:rPr lang="en-US" sz="1000" dirty="0">
                <a:solidFill>
                  <a:srgbClr val="5C6E71"/>
                </a:solidFill>
                <a:latin typeface="Calibri" pitchFamily="34" charset="0"/>
                <a:ea typeface="Calibri" pitchFamily="34" charset="-122"/>
                <a:cs typeface="Calibri" pitchFamily="34" charset="-120"/>
              </a:rPr>
              <a:t>52 h</a:t>
            </a:r>
            <a:endParaRPr lang="en-US" sz="1000" dirty="0"/>
          </a:p>
        </p:txBody>
      </p:sp>
      <p:sp>
        <p:nvSpPr>
          <p:cNvPr id="46" name="Shape 44"/>
          <p:cNvSpPr/>
          <p:nvPr/>
        </p:nvSpPr>
        <p:spPr>
          <a:xfrm>
            <a:off x="7303770" y="3831336"/>
            <a:ext cx="1104138" cy="292608"/>
          </a:xfrm>
          <a:prstGeom prst="roundRect">
            <a:avLst>
              <a:gd name="adj" fmla="val 93750"/>
            </a:avLst>
          </a:prstGeom>
          <a:solidFill>
            <a:srgbClr val="E08A3C"/>
          </a:solidFill>
          <a:ln w="12700">
            <a:solidFill>
              <a:srgbClr val="E08A3C"/>
            </a:solidFill>
            <a:prstDash val="solid"/>
          </a:ln>
        </p:spPr>
      </p:sp>
      <p:sp>
        <p:nvSpPr>
          <p:cNvPr id="47" name="Text 45"/>
          <p:cNvSpPr/>
          <p:nvPr/>
        </p:nvSpPr>
        <p:spPr>
          <a:xfrm>
            <a:off x="7303770" y="3831336"/>
            <a:ext cx="1104138" cy="292608"/>
          </a:xfrm>
          <a:prstGeom prst="rect">
            <a:avLst/>
          </a:prstGeom>
          <a:noFill/>
          <a:ln/>
        </p:spPr>
        <p:txBody>
          <a:bodyPr wrap="square" lIns="0" tIns="0" rIns="0" bIns="0" rtlCol="0" anchor="ctr"/>
          <a:lstStyle/>
          <a:p>
            <a:pPr marL="0" indent="0" algn="ctr">
              <a:buNone/>
            </a:pPr>
            <a:r>
              <a:rPr lang="en-US" sz="850" b="1" dirty="0">
                <a:solidFill>
                  <a:srgbClr val="3A2A16"/>
                </a:solidFill>
                <a:latin typeface="Calibri" pitchFamily="34" charset="0"/>
                <a:ea typeface="Calibri" pitchFamily="34" charset="-122"/>
                <a:cs typeface="Calibri" pitchFamily="34" charset="-120"/>
              </a:rPr>
              <a:t>W26-34</a:t>
            </a:r>
            <a:endParaRPr lang="en-US" sz="850" dirty="0"/>
          </a:p>
        </p:txBody>
      </p:sp>
      <p:sp>
        <p:nvSpPr>
          <p:cNvPr id="48" name="Text 46"/>
          <p:cNvSpPr/>
          <p:nvPr/>
        </p:nvSpPr>
        <p:spPr>
          <a:xfrm>
            <a:off x="548640" y="4233672"/>
            <a:ext cx="2880360" cy="402336"/>
          </a:xfrm>
          <a:prstGeom prst="rect">
            <a:avLst/>
          </a:prstGeom>
          <a:noFill/>
          <a:ln/>
        </p:spPr>
        <p:txBody>
          <a:bodyPr wrap="square" lIns="0" tIns="0" rIns="0" bIns="0" rtlCol="0" anchor="ctr"/>
          <a:lstStyle/>
          <a:p>
            <a:pPr marL="0" indent="0">
              <a:buNone/>
            </a:pPr>
            <a:r>
              <a:rPr lang="en-US" sz="1050" b="1" dirty="0">
                <a:solidFill>
                  <a:srgbClr val="06474F"/>
                </a:solidFill>
                <a:latin typeface="Calibri" pitchFamily="34" charset="0"/>
                <a:ea typeface="Calibri" pitchFamily="34" charset="-122"/>
                <a:cs typeface="Calibri" pitchFamily="34" charset="-120"/>
              </a:rPr>
              <a:t>Phase 5  Adaption, resume &amp; responses</a:t>
            </a:r>
            <a:endParaRPr lang="en-US" sz="1050" dirty="0"/>
          </a:p>
        </p:txBody>
      </p:sp>
      <p:sp>
        <p:nvSpPr>
          <p:cNvPr id="49" name="Text 47"/>
          <p:cNvSpPr/>
          <p:nvPr/>
        </p:nvSpPr>
        <p:spPr>
          <a:xfrm>
            <a:off x="3429000" y="4233672"/>
            <a:ext cx="640080" cy="402336"/>
          </a:xfrm>
          <a:prstGeom prst="rect">
            <a:avLst/>
          </a:prstGeom>
          <a:noFill/>
          <a:ln/>
        </p:spPr>
        <p:txBody>
          <a:bodyPr wrap="square" lIns="0" tIns="0" rIns="0" bIns="0" rtlCol="0" anchor="ctr"/>
          <a:lstStyle/>
          <a:p>
            <a:pPr marL="0" indent="0" algn="r">
              <a:buNone/>
            </a:pPr>
            <a:r>
              <a:rPr lang="en-US" sz="1000" dirty="0">
                <a:solidFill>
                  <a:srgbClr val="5C6E71"/>
                </a:solidFill>
                <a:latin typeface="Calibri" pitchFamily="34" charset="0"/>
                <a:ea typeface="Calibri" pitchFamily="34" charset="-122"/>
                <a:cs typeface="Calibri" pitchFamily="34" charset="-120"/>
              </a:rPr>
              <a:t>24 h</a:t>
            </a:r>
            <a:endParaRPr lang="en-US" sz="1000" dirty="0"/>
          </a:p>
        </p:txBody>
      </p:sp>
      <p:sp>
        <p:nvSpPr>
          <p:cNvPr id="50" name="Shape 48"/>
          <p:cNvSpPr/>
          <p:nvPr/>
        </p:nvSpPr>
        <p:spPr>
          <a:xfrm>
            <a:off x="8435340" y="4288536"/>
            <a:ext cx="475488" cy="292608"/>
          </a:xfrm>
          <a:prstGeom prst="roundRect">
            <a:avLst>
              <a:gd name="adj" fmla="val 93750"/>
            </a:avLst>
          </a:prstGeom>
          <a:solidFill>
            <a:srgbClr val="E08A3C"/>
          </a:solidFill>
          <a:ln w="12700">
            <a:solidFill>
              <a:srgbClr val="E08A3C"/>
            </a:solidFill>
            <a:prstDash val="solid"/>
          </a:ln>
        </p:spPr>
      </p:sp>
      <p:sp>
        <p:nvSpPr>
          <p:cNvPr id="51" name="Text 49"/>
          <p:cNvSpPr/>
          <p:nvPr/>
        </p:nvSpPr>
        <p:spPr>
          <a:xfrm>
            <a:off x="8435340" y="4288536"/>
            <a:ext cx="475488" cy="292608"/>
          </a:xfrm>
          <a:prstGeom prst="rect">
            <a:avLst/>
          </a:prstGeom>
          <a:noFill/>
          <a:ln/>
        </p:spPr>
        <p:txBody>
          <a:bodyPr wrap="square" lIns="0" tIns="0" rIns="0" bIns="0" rtlCol="0" anchor="ctr"/>
          <a:lstStyle/>
          <a:p>
            <a:pPr marL="0" indent="0" algn="ctr">
              <a:buNone/>
            </a:pPr>
            <a:r>
              <a:rPr lang="en-US" sz="850" b="1" dirty="0">
                <a:solidFill>
                  <a:srgbClr val="3A2A16"/>
                </a:solidFill>
                <a:latin typeface="Calibri" pitchFamily="34" charset="0"/>
                <a:ea typeface="Calibri" pitchFamily="34" charset="-122"/>
                <a:cs typeface="Calibri" pitchFamily="34" charset="-120"/>
              </a:rPr>
              <a:t>W35-38</a:t>
            </a:r>
            <a:endParaRPr lang="en-US" sz="850" dirty="0"/>
          </a:p>
        </p:txBody>
      </p:sp>
      <p:sp>
        <p:nvSpPr>
          <p:cNvPr id="52" name="Shape 50"/>
          <p:cNvSpPr/>
          <p:nvPr/>
        </p:nvSpPr>
        <p:spPr>
          <a:xfrm>
            <a:off x="548640" y="4663440"/>
            <a:ext cx="11155680" cy="457200"/>
          </a:xfrm>
          <a:prstGeom prst="rect">
            <a:avLst/>
          </a:prstGeom>
          <a:solidFill>
            <a:srgbClr val="F7FAFA"/>
          </a:solidFill>
          <a:ln w="12700">
            <a:solidFill>
              <a:srgbClr val="F7FAFA"/>
            </a:solidFill>
            <a:prstDash val="solid"/>
          </a:ln>
        </p:spPr>
      </p:sp>
      <p:sp>
        <p:nvSpPr>
          <p:cNvPr id="53" name="Text 51"/>
          <p:cNvSpPr/>
          <p:nvPr/>
        </p:nvSpPr>
        <p:spPr>
          <a:xfrm>
            <a:off x="548640" y="4690872"/>
            <a:ext cx="2880360" cy="402336"/>
          </a:xfrm>
          <a:prstGeom prst="rect">
            <a:avLst/>
          </a:prstGeom>
          <a:noFill/>
          <a:ln/>
        </p:spPr>
        <p:txBody>
          <a:bodyPr wrap="square" lIns="0" tIns="0" rIns="0" bIns="0" rtlCol="0" anchor="ctr"/>
          <a:lstStyle/>
          <a:p>
            <a:pPr marL="0" indent="0">
              <a:buNone/>
            </a:pPr>
            <a:r>
              <a:rPr lang="en-US" sz="1050" b="1" dirty="0">
                <a:solidFill>
                  <a:srgbClr val="06474F"/>
                </a:solidFill>
                <a:latin typeface="Calibri" pitchFamily="34" charset="0"/>
                <a:ea typeface="Calibri" pitchFamily="34" charset="-122"/>
                <a:cs typeface="Calibri" pitchFamily="34" charset="-120"/>
              </a:rPr>
              <a:t>Phase 6  Dashboards &amp; administration</a:t>
            </a:r>
            <a:endParaRPr lang="en-US" sz="1050" dirty="0"/>
          </a:p>
        </p:txBody>
      </p:sp>
      <p:sp>
        <p:nvSpPr>
          <p:cNvPr id="54" name="Text 52"/>
          <p:cNvSpPr/>
          <p:nvPr/>
        </p:nvSpPr>
        <p:spPr>
          <a:xfrm>
            <a:off x="3429000" y="4690872"/>
            <a:ext cx="640080" cy="402336"/>
          </a:xfrm>
          <a:prstGeom prst="rect">
            <a:avLst/>
          </a:prstGeom>
          <a:noFill/>
          <a:ln/>
        </p:spPr>
        <p:txBody>
          <a:bodyPr wrap="square" lIns="0" tIns="0" rIns="0" bIns="0" rtlCol="0" anchor="ctr"/>
          <a:lstStyle/>
          <a:p>
            <a:pPr marL="0" indent="0" algn="r">
              <a:buNone/>
            </a:pPr>
            <a:r>
              <a:rPr lang="en-US" sz="1000" dirty="0">
                <a:solidFill>
                  <a:srgbClr val="5C6E71"/>
                </a:solidFill>
                <a:latin typeface="Calibri" pitchFamily="34" charset="0"/>
                <a:ea typeface="Calibri" pitchFamily="34" charset="-122"/>
                <a:cs typeface="Calibri" pitchFamily="34" charset="-120"/>
              </a:rPr>
              <a:t>44 h</a:t>
            </a:r>
            <a:endParaRPr lang="en-US" sz="1000" dirty="0"/>
          </a:p>
        </p:txBody>
      </p:sp>
      <p:sp>
        <p:nvSpPr>
          <p:cNvPr id="55" name="Shape 53"/>
          <p:cNvSpPr/>
          <p:nvPr/>
        </p:nvSpPr>
        <p:spPr>
          <a:xfrm>
            <a:off x="8938260" y="4745736"/>
            <a:ext cx="978408" cy="292608"/>
          </a:xfrm>
          <a:prstGeom prst="roundRect">
            <a:avLst>
              <a:gd name="adj" fmla="val 93750"/>
            </a:avLst>
          </a:prstGeom>
          <a:solidFill>
            <a:srgbClr val="1C7293"/>
          </a:solidFill>
          <a:ln w="12700">
            <a:solidFill>
              <a:srgbClr val="1C7293"/>
            </a:solidFill>
            <a:prstDash val="solid"/>
          </a:ln>
        </p:spPr>
      </p:sp>
      <p:sp>
        <p:nvSpPr>
          <p:cNvPr id="56" name="Text 54"/>
          <p:cNvSpPr/>
          <p:nvPr/>
        </p:nvSpPr>
        <p:spPr>
          <a:xfrm>
            <a:off x="8938260" y="4745736"/>
            <a:ext cx="978408"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W39-46</a:t>
            </a:r>
            <a:endParaRPr lang="en-US" sz="850" dirty="0"/>
          </a:p>
        </p:txBody>
      </p:sp>
      <p:sp>
        <p:nvSpPr>
          <p:cNvPr id="57" name="Text 55"/>
          <p:cNvSpPr/>
          <p:nvPr/>
        </p:nvSpPr>
        <p:spPr>
          <a:xfrm>
            <a:off x="548640" y="5148072"/>
            <a:ext cx="2880360" cy="402336"/>
          </a:xfrm>
          <a:prstGeom prst="rect">
            <a:avLst/>
          </a:prstGeom>
          <a:noFill/>
          <a:ln/>
        </p:spPr>
        <p:txBody>
          <a:bodyPr wrap="square" lIns="0" tIns="0" rIns="0" bIns="0" rtlCol="0" anchor="ctr"/>
          <a:lstStyle/>
          <a:p>
            <a:pPr marL="0" indent="0">
              <a:buNone/>
            </a:pPr>
            <a:r>
              <a:rPr lang="en-US" sz="1050" b="1" dirty="0">
                <a:solidFill>
                  <a:srgbClr val="06474F"/>
                </a:solidFill>
                <a:latin typeface="Calibri" pitchFamily="34" charset="0"/>
                <a:ea typeface="Calibri" pitchFamily="34" charset="-122"/>
                <a:cs typeface="Calibri" pitchFamily="34" charset="-120"/>
              </a:rPr>
              <a:t>Phase 7  QA, security &amp; production release</a:t>
            </a:r>
            <a:endParaRPr lang="en-US" sz="1050" dirty="0"/>
          </a:p>
        </p:txBody>
      </p:sp>
      <p:sp>
        <p:nvSpPr>
          <p:cNvPr id="58" name="Text 56"/>
          <p:cNvSpPr/>
          <p:nvPr/>
        </p:nvSpPr>
        <p:spPr>
          <a:xfrm>
            <a:off x="3429000" y="5148072"/>
            <a:ext cx="640080" cy="402336"/>
          </a:xfrm>
          <a:prstGeom prst="rect">
            <a:avLst/>
          </a:prstGeom>
          <a:noFill/>
          <a:ln/>
        </p:spPr>
        <p:txBody>
          <a:bodyPr wrap="square" lIns="0" tIns="0" rIns="0" bIns="0" rtlCol="0" anchor="ctr"/>
          <a:lstStyle/>
          <a:p>
            <a:pPr marL="0" indent="0" algn="r">
              <a:buNone/>
            </a:pPr>
            <a:r>
              <a:rPr lang="en-US" sz="1000" dirty="0">
                <a:solidFill>
                  <a:srgbClr val="5C6E71"/>
                </a:solidFill>
                <a:latin typeface="Calibri" pitchFamily="34" charset="0"/>
                <a:ea typeface="Calibri" pitchFamily="34" charset="-122"/>
                <a:cs typeface="Calibri" pitchFamily="34" charset="-120"/>
              </a:rPr>
              <a:t>30 h</a:t>
            </a:r>
            <a:endParaRPr lang="en-US" sz="1000" dirty="0"/>
          </a:p>
        </p:txBody>
      </p:sp>
      <p:sp>
        <p:nvSpPr>
          <p:cNvPr id="59" name="Shape 57"/>
          <p:cNvSpPr/>
          <p:nvPr/>
        </p:nvSpPr>
        <p:spPr>
          <a:xfrm>
            <a:off x="9944100" y="5202936"/>
            <a:ext cx="726948" cy="292608"/>
          </a:xfrm>
          <a:prstGeom prst="roundRect">
            <a:avLst>
              <a:gd name="adj" fmla="val 93750"/>
            </a:avLst>
          </a:prstGeom>
          <a:solidFill>
            <a:srgbClr val="50808E"/>
          </a:solidFill>
          <a:ln w="12700">
            <a:solidFill>
              <a:srgbClr val="50808E"/>
            </a:solidFill>
            <a:prstDash val="solid"/>
          </a:ln>
        </p:spPr>
      </p:sp>
      <p:sp>
        <p:nvSpPr>
          <p:cNvPr id="60" name="Text 58"/>
          <p:cNvSpPr/>
          <p:nvPr/>
        </p:nvSpPr>
        <p:spPr>
          <a:xfrm>
            <a:off x="9944100" y="5202936"/>
            <a:ext cx="726948" cy="292608"/>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W47-52</a:t>
            </a:r>
            <a:endParaRPr lang="en-US" sz="850" dirty="0"/>
          </a:p>
        </p:txBody>
      </p:sp>
      <p:sp>
        <p:nvSpPr>
          <p:cNvPr id="61" name="Shape 59"/>
          <p:cNvSpPr/>
          <p:nvPr/>
        </p:nvSpPr>
        <p:spPr>
          <a:xfrm>
            <a:off x="548640" y="5577840"/>
            <a:ext cx="11155680" cy="457200"/>
          </a:xfrm>
          <a:prstGeom prst="rect">
            <a:avLst/>
          </a:prstGeom>
          <a:solidFill>
            <a:srgbClr val="F7FAFA"/>
          </a:solidFill>
          <a:ln w="12700">
            <a:solidFill>
              <a:srgbClr val="F7FAFA"/>
            </a:solidFill>
            <a:prstDash val="solid"/>
          </a:ln>
        </p:spPr>
      </p:sp>
      <p:sp>
        <p:nvSpPr>
          <p:cNvPr id="62" name="Text 60"/>
          <p:cNvSpPr/>
          <p:nvPr/>
        </p:nvSpPr>
        <p:spPr>
          <a:xfrm>
            <a:off x="548640" y="5605272"/>
            <a:ext cx="2880360" cy="402336"/>
          </a:xfrm>
          <a:prstGeom prst="rect">
            <a:avLst/>
          </a:prstGeom>
          <a:noFill/>
          <a:ln/>
        </p:spPr>
        <p:txBody>
          <a:bodyPr wrap="square" lIns="0" tIns="0" rIns="0" bIns="0" rtlCol="0" anchor="ctr"/>
          <a:lstStyle/>
          <a:p>
            <a:pPr marL="0" indent="0">
              <a:buNone/>
            </a:pPr>
            <a:r>
              <a:rPr lang="en-US" sz="1050" b="1" dirty="0">
                <a:solidFill>
                  <a:srgbClr val="06474F"/>
                </a:solidFill>
                <a:latin typeface="Calibri" pitchFamily="34" charset="0"/>
                <a:ea typeface="Calibri" pitchFamily="34" charset="-122"/>
                <a:cs typeface="Calibri" pitchFamily="34" charset="-120"/>
              </a:rPr>
              <a:t>Contingency buffer &amp; client acceptance</a:t>
            </a:r>
            <a:endParaRPr lang="en-US" sz="1050" dirty="0"/>
          </a:p>
        </p:txBody>
      </p:sp>
      <p:sp>
        <p:nvSpPr>
          <p:cNvPr id="63" name="Text 61"/>
          <p:cNvSpPr/>
          <p:nvPr/>
        </p:nvSpPr>
        <p:spPr>
          <a:xfrm>
            <a:off x="3429000" y="5605272"/>
            <a:ext cx="640080" cy="402336"/>
          </a:xfrm>
          <a:prstGeom prst="rect">
            <a:avLst/>
          </a:prstGeom>
          <a:noFill/>
          <a:ln/>
        </p:spPr>
        <p:txBody>
          <a:bodyPr wrap="square" lIns="0" tIns="0" rIns="0" bIns="0" rtlCol="0" anchor="ctr"/>
          <a:lstStyle/>
          <a:p>
            <a:pPr marL="0" indent="0" algn="r">
              <a:buNone/>
            </a:pPr>
            <a:r>
              <a:rPr lang="en-US" sz="1000" dirty="0">
                <a:solidFill>
                  <a:srgbClr val="5C6E71"/>
                </a:solidFill>
                <a:latin typeface="Calibri" pitchFamily="34" charset="0"/>
                <a:ea typeface="Calibri" pitchFamily="34" charset="-122"/>
                <a:cs typeface="Calibri" pitchFamily="34" charset="-120"/>
              </a:rPr>
              <a:t>43 h</a:t>
            </a:r>
            <a:endParaRPr lang="en-US" sz="1000" dirty="0"/>
          </a:p>
        </p:txBody>
      </p:sp>
      <p:sp>
        <p:nvSpPr>
          <p:cNvPr id="64" name="Shape 62"/>
          <p:cNvSpPr/>
          <p:nvPr/>
        </p:nvSpPr>
        <p:spPr>
          <a:xfrm>
            <a:off x="10698480" y="5660136"/>
            <a:ext cx="978408" cy="292608"/>
          </a:xfrm>
          <a:prstGeom prst="roundRect">
            <a:avLst>
              <a:gd name="adj" fmla="val 93750"/>
            </a:avLst>
          </a:prstGeom>
          <a:solidFill>
            <a:srgbClr val="B9C4C6"/>
          </a:solidFill>
          <a:ln w="12700">
            <a:solidFill>
              <a:srgbClr val="B9C4C6"/>
            </a:solidFill>
            <a:prstDash val="solid"/>
          </a:ln>
        </p:spPr>
      </p:sp>
      <p:sp>
        <p:nvSpPr>
          <p:cNvPr id="65" name="Text 63"/>
          <p:cNvSpPr/>
          <p:nvPr/>
        </p:nvSpPr>
        <p:spPr>
          <a:xfrm>
            <a:off x="10698480" y="5660136"/>
            <a:ext cx="978408" cy="292608"/>
          </a:xfrm>
          <a:prstGeom prst="rect">
            <a:avLst/>
          </a:prstGeom>
          <a:noFill/>
          <a:ln/>
        </p:spPr>
        <p:txBody>
          <a:bodyPr wrap="square" lIns="0" tIns="0" rIns="0" bIns="0" rtlCol="0" anchor="ctr"/>
          <a:lstStyle/>
          <a:p>
            <a:pPr marL="0" indent="0" algn="ctr">
              <a:buNone/>
            </a:pPr>
            <a:r>
              <a:rPr lang="en-US" sz="850" b="1" dirty="0">
                <a:solidFill>
                  <a:srgbClr val="3A2A16"/>
                </a:solidFill>
                <a:latin typeface="Calibri" pitchFamily="34" charset="0"/>
                <a:ea typeface="Calibri" pitchFamily="34" charset="-122"/>
                <a:cs typeface="Calibri" pitchFamily="34" charset="-120"/>
              </a:rPr>
              <a:t>W53-60</a:t>
            </a:r>
            <a:endParaRPr lang="en-US" sz="850" dirty="0"/>
          </a:p>
        </p:txBody>
      </p:sp>
      <p:sp>
        <p:nvSpPr>
          <p:cNvPr id="66" name="Shape 64"/>
          <p:cNvSpPr/>
          <p:nvPr/>
        </p:nvSpPr>
        <p:spPr>
          <a:xfrm>
            <a:off x="548640" y="6080760"/>
            <a:ext cx="164592" cy="164592"/>
          </a:xfrm>
          <a:prstGeom prst="roundRect">
            <a:avLst>
              <a:gd name="adj" fmla="val 27778"/>
            </a:avLst>
          </a:prstGeom>
          <a:solidFill>
            <a:srgbClr val="50808E"/>
          </a:solidFill>
          <a:ln w="12700">
            <a:solidFill>
              <a:srgbClr val="50808E"/>
            </a:solidFill>
            <a:prstDash val="solid"/>
          </a:ln>
        </p:spPr>
      </p:sp>
      <p:sp>
        <p:nvSpPr>
          <p:cNvPr id="67" name="Text 65"/>
          <p:cNvSpPr/>
          <p:nvPr/>
        </p:nvSpPr>
        <p:spPr>
          <a:xfrm>
            <a:off x="768096" y="6035040"/>
            <a:ext cx="1600200" cy="256032"/>
          </a:xfrm>
          <a:prstGeom prst="rect">
            <a:avLst/>
          </a:prstGeom>
          <a:noFill/>
          <a:ln/>
        </p:spPr>
        <p:txBody>
          <a:bodyPr wrap="square" lIns="0" tIns="0" rIns="0" bIns="0" rtlCol="0" anchor="ctr"/>
          <a:lstStyle/>
          <a:p>
            <a:pPr marL="0" indent="0">
              <a:buNone/>
            </a:pPr>
            <a:r>
              <a:rPr lang="en-US" sz="950" dirty="0">
                <a:solidFill>
                  <a:srgbClr val="5C6E71"/>
                </a:solidFill>
                <a:latin typeface="Calibri" pitchFamily="34" charset="0"/>
                <a:ea typeface="Calibri" pitchFamily="34" charset="-122"/>
                <a:cs typeface="Calibri" pitchFamily="34" charset="-120"/>
              </a:rPr>
              <a:t>Foundation &amp; release</a:t>
            </a:r>
            <a:endParaRPr lang="en-US" sz="950" dirty="0"/>
          </a:p>
        </p:txBody>
      </p:sp>
      <p:sp>
        <p:nvSpPr>
          <p:cNvPr id="68" name="Shape 66"/>
          <p:cNvSpPr/>
          <p:nvPr/>
        </p:nvSpPr>
        <p:spPr>
          <a:xfrm>
            <a:off x="2423160" y="6080760"/>
            <a:ext cx="164592" cy="164592"/>
          </a:xfrm>
          <a:prstGeom prst="roundRect">
            <a:avLst>
              <a:gd name="adj" fmla="val 27778"/>
            </a:avLst>
          </a:prstGeom>
          <a:solidFill>
            <a:srgbClr val="06474F"/>
          </a:solidFill>
          <a:ln w="12700">
            <a:solidFill>
              <a:srgbClr val="06474F"/>
            </a:solidFill>
            <a:prstDash val="solid"/>
          </a:ln>
        </p:spPr>
      </p:sp>
      <p:sp>
        <p:nvSpPr>
          <p:cNvPr id="69" name="Text 67"/>
          <p:cNvSpPr/>
          <p:nvPr/>
        </p:nvSpPr>
        <p:spPr>
          <a:xfrm>
            <a:off x="2642616" y="6035040"/>
            <a:ext cx="1600200" cy="256032"/>
          </a:xfrm>
          <a:prstGeom prst="rect">
            <a:avLst/>
          </a:prstGeom>
          <a:noFill/>
          <a:ln/>
        </p:spPr>
        <p:txBody>
          <a:bodyPr wrap="square" lIns="0" tIns="0" rIns="0" bIns="0" rtlCol="0" anchor="ctr"/>
          <a:lstStyle/>
          <a:p>
            <a:pPr marL="0" indent="0">
              <a:buNone/>
            </a:pPr>
            <a:r>
              <a:rPr lang="en-US" sz="950" dirty="0">
                <a:solidFill>
                  <a:srgbClr val="5C6E71"/>
                </a:solidFill>
                <a:latin typeface="Calibri" pitchFamily="34" charset="0"/>
                <a:ea typeface="Calibri" pitchFamily="34" charset="-122"/>
                <a:cs typeface="Calibri" pitchFamily="34" charset="-120"/>
              </a:rPr>
              <a:t>Security &amp; accounts</a:t>
            </a:r>
            <a:endParaRPr lang="en-US" sz="950" dirty="0"/>
          </a:p>
        </p:txBody>
      </p:sp>
      <p:sp>
        <p:nvSpPr>
          <p:cNvPr id="70" name="Shape 68"/>
          <p:cNvSpPr/>
          <p:nvPr/>
        </p:nvSpPr>
        <p:spPr>
          <a:xfrm>
            <a:off x="4297680" y="6080760"/>
            <a:ext cx="164592" cy="164592"/>
          </a:xfrm>
          <a:prstGeom prst="roundRect">
            <a:avLst>
              <a:gd name="adj" fmla="val 27778"/>
            </a:avLst>
          </a:prstGeom>
          <a:solidFill>
            <a:srgbClr val="00A896"/>
          </a:solidFill>
          <a:ln w="12700">
            <a:solidFill>
              <a:srgbClr val="00A896"/>
            </a:solidFill>
            <a:prstDash val="solid"/>
          </a:ln>
        </p:spPr>
      </p:sp>
      <p:sp>
        <p:nvSpPr>
          <p:cNvPr id="71" name="Text 69"/>
          <p:cNvSpPr/>
          <p:nvPr/>
        </p:nvSpPr>
        <p:spPr>
          <a:xfrm>
            <a:off x="4517136" y="6035040"/>
            <a:ext cx="1600200" cy="256032"/>
          </a:xfrm>
          <a:prstGeom prst="rect">
            <a:avLst/>
          </a:prstGeom>
          <a:noFill/>
          <a:ln/>
        </p:spPr>
        <p:txBody>
          <a:bodyPr wrap="square" lIns="0" tIns="0" rIns="0" bIns="0" rtlCol="0" anchor="ctr"/>
          <a:lstStyle/>
          <a:p>
            <a:pPr marL="0" indent="0">
              <a:buNone/>
            </a:pPr>
            <a:r>
              <a:rPr lang="en-US" sz="950" dirty="0">
                <a:solidFill>
                  <a:srgbClr val="5C6E71"/>
                </a:solidFill>
                <a:latin typeface="Calibri" pitchFamily="34" charset="0"/>
                <a:ea typeface="Calibri" pitchFamily="34" charset="-122"/>
                <a:cs typeface="Calibri" pitchFamily="34" charset="-120"/>
              </a:rPr>
              <a:t>Content pipeline</a:t>
            </a:r>
            <a:endParaRPr lang="en-US" sz="950" dirty="0"/>
          </a:p>
        </p:txBody>
      </p:sp>
      <p:sp>
        <p:nvSpPr>
          <p:cNvPr id="72" name="Shape 70"/>
          <p:cNvSpPr/>
          <p:nvPr/>
        </p:nvSpPr>
        <p:spPr>
          <a:xfrm>
            <a:off x="6172200" y="6080760"/>
            <a:ext cx="164592" cy="164592"/>
          </a:xfrm>
          <a:prstGeom prst="roundRect">
            <a:avLst>
              <a:gd name="adj" fmla="val 27778"/>
            </a:avLst>
          </a:prstGeom>
          <a:solidFill>
            <a:srgbClr val="E08A3C"/>
          </a:solidFill>
          <a:ln w="12700">
            <a:solidFill>
              <a:srgbClr val="E08A3C"/>
            </a:solidFill>
            <a:prstDash val="solid"/>
          </a:ln>
        </p:spPr>
      </p:sp>
      <p:sp>
        <p:nvSpPr>
          <p:cNvPr id="73" name="Text 71"/>
          <p:cNvSpPr/>
          <p:nvPr/>
        </p:nvSpPr>
        <p:spPr>
          <a:xfrm>
            <a:off x="6391656" y="6035040"/>
            <a:ext cx="1600200" cy="256032"/>
          </a:xfrm>
          <a:prstGeom prst="rect">
            <a:avLst/>
          </a:prstGeom>
          <a:noFill/>
          <a:ln/>
        </p:spPr>
        <p:txBody>
          <a:bodyPr wrap="square" lIns="0" tIns="0" rIns="0" bIns="0" rtlCol="0" anchor="ctr"/>
          <a:lstStyle/>
          <a:p>
            <a:pPr marL="0" indent="0">
              <a:buNone/>
            </a:pPr>
            <a:r>
              <a:rPr lang="en-US" sz="950" dirty="0">
                <a:solidFill>
                  <a:srgbClr val="5C6E71"/>
                </a:solidFill>
                <a:latin typeface="Calibri" pitchFamily="34" charset="0"/>
                <a:ea typeface="Calibri" pitchFamily="34" charset="-122"/>
                <a:cs typeface="Calibri" pitchFamily="34" charset="-120"/>
              </a:rPr>
              <a:t>Task engine &amp; task types</a:t>
            </a:r>
            <a:endParaRPr lang="en-US" sz="950" dirty="0"/>
          </a:p>
        </p:txBody>
      </p:sp>
      <p:sp>
        <p:nvSpPr>
          <p:cNvPr id="74" name="Shape 72"/>
          <p:cNvSpPr/>
          <p:nvPr/>
        </p:nvSpPr>
        <p:spPr>
          <a:xfrm>
            <a:off x="8046720" y="6080760"/>
            <a:ext cx="164592" cy="164592"/>
          </a:xfrm>
          <a:prstGeom prst="roundRect">
            <a:avLst>
              <a:gd name="adj" fmla="val 27778"/>
            </a:avLst>
          </a:prstGeom>
          <a:solidFill>
            <a:srgbClr val="1C7293"/>
          </a:solidFill>
          <a:ln w="12700">
            <a:solidFill>
              <a:srgbClr val="1C7293"/>
            </a:solidFill>
            <a:prstDash val="solid"/>
          </a:ln>
        </p:spPr>
      </p:sp>
      <p:sp>
        <p:nvSpPr>
          <p:cNvPr id="75" name="Text 73"/>
          <p:cNvSpPr/>
          <p:nvPr/>
        </p:nvSpPr>
        <p:spPr>
          <a:xfrm>
            <a:off x="8266176" y="6035040"/>
            <a:ext cx="1600200" cy="256032"/>
          </a:xfrm>
          <a:prstGeom prst="rect">
            <a:avLst/>
          </a:prstGeom>
          <a:noFill/>
          <a:ln/>
        </p:spPr>
        <p:txBody>
          <a:bodyPr wrap="square" lIns="0" tIns="0" rIns="0" bIns="0" rtlCol="0" anchor="ctr"/>
          <a:lstStyle/>
          <a:p>
            <a:pPr marL="0" indent="0">
              <a:buNone/>
            </a:pPr>
            <a:r>
              <a:rPr lang="en-US" sz="950" dirty="0">
                <a:solidFill>
                  <a:srgbClr val="5C6E71"/>
                </a:solidFill>
                <a:latin typeface="Calibri" pitchFamily="34" charset="0"/>
                <a:ea typeface="Calibri" pitchFamily="34" charset="-122"/>
                <a:cs typeface="Calibri" pitchFamily="34" charset="-120"/>
              </a:rPr>
              <a:t>Reporting</a:t>
            </a:r>
            <a:endParaRPr lang="en-US" sz="950" dirty="0"/>
          </a:p>
        </p:txBody>
      </p:sp>
      <p:sp>
        <p:nvSpPr>
          <p:cNvPr id="76" name="Shape 74"/>
          <p:cNvSpPr/>
          <p:nvPr/>
        </p:nvSpPr>
        <p:spPr>
          <a:xfrm>
            <a:off x="9921240" y="6080760"/>
            <a:ext cx="164592" cy="164592"/>
          </a:xfrm>
          <a:prstGeom prst="roundRect">
            <a:avLst>
              <a:gd name="adj" fmla="val 27778"/>
            </a:avLst>
          </a:prstGeom>
          <a:solidFill>
            <a:srgbClr val="B9C4C6"/>
          </a:solidFill>
          <a:ln w="12700">
            <a:solidFill>
              <a:srgbClr val="B9C4C6"/>
            </a:solidFill>
            <a:prstDash val="solid"/>
          </a:ln>
        </p:spPr>
      </p:sp>
      <p:sp>
        <p:nvSpPr>
          <p:cNvPr id="77" name="Text 75"/>
          <p:cNvSpPr/>
          <p:nvPr/>
        </p:nvSpPr>
        <p:spPr>
          <a:xfrm>
            <a:off x="10140696" y="6035040"/>
            <a:ext cx="1600200" cy="256032"/>
          </a:xfrm>
          <a:prstGeom prst="rect">
            <a:avLst/>
          </a:prstGeom>
          <a:noFill/>
          <a:ln/>
        </p:spPr>
        <p:txBody>
          <a:bodyPr wrap="square" lIns="0" tIns="0" rIns="0" bIns="0" rtlCol="0" anchor="ctr"/>
          <a:lstStyle/>
          <a:p>
            <a:pPr marL="0" indent="0">
              <a:buNone/>
            </a:pPr>
            <a:r>
              <a:rPr lang="en-US" sz="950" dirty="0">
                <a:solidFill>
                  <a:srgbClr val="5C6E71"/>
                </a:solidFill>
                <a:latin typeface="Calibri" pitchFamily="34" charset="0"/>
                <a:ea typeface="Calibri" pitchFamily="34" charset="-122"/>
                <a:cs typeface="Calibri" pitchFamily="34" charset="-120"/>
              </a:rPr>
              <a:t>Buffer</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200" b="1" dirty="0">
                <a:solidFill>
                  <a:srgbClr val="06474F"/>
                </a:solidFill>
                <a:latin typeface="Cambria" pitchFamily="34" charset="0"/>
                <a:ea typeface="Cambria" pitchFamily="34" charset="-122"/>
                <a:cs typeface="Cambria" pitchFamily="34" charset="-120"/>
              </a:rPr>
              <a:t>Tasks and subtasks: Phase 0 - Phase 3</a:t>
            </a:r>
            <a:endParaRPr lang="en-US" sz="3200" dirty="0"/>
          </a:p>
        </p:txBody>
      </p:sp>
      <p:sp>
        <p:nvSpPr>
          <p:cNvPr id="3" name="Text 1"/>
          <p:cNvSpPr/>
          <p:nvPr/>
        </p:nvSpPr>
        <p:spPr>
          <a:xfrm>
            <a:off x="548640" y="941832"/>
            <a:ext cx="11064240" cy="310896"/>
          </a:xfrm>
          <a:prstGeom prst="rect">
            <a:avLst/>
          </a:prstGeom>
          <a:noFill/>
          <a:ln/>
        </p:spPr>
        <p:txBody>
          <a:bodyPr wrap="square" lIns="0" tIns="0" rIns="0" bIns="0" rtlCol="0" anchor="ctr"/>
          <a:lstStyle/>
          <a:p>
            <a:pPr marL="0" indent="0">
              <a:buNone/>
            </a:pPr>
            <a:r>
              <a:rPr lang="en-US" sz="1400" i="1" dirty="0">
                <a:solidFill>
                  <a:srgbClr val="5C6E71"/>
                </a:solidFill>
                <a:latin typeface="Calibri" pitchFamily="34" charset="0"/>
                <a:ea typeface="Calibri" pitchFamily="34" charset="-122"/>
                <a:cs typeface="Calibri" pitchFamily="34" charset="-120"/>
              </a:rPr>
              <a:t>July 2026 to January 2027  ·  weeks 1-25  ·  134 build hours</a:t>
            </a:r>
            <a:endParaRPr lang="en-US" sz="1400" dirty="0"/>
          </a:p>
        </p:txBody>
      </p:sp>
      <p:sp>
        <p:nvSpPr>
          <p:cNvPr id="4" name="Text 2"/>
          <p:cNvSpPr/>
          <p:nvPr/>
        </p:nvSpPr>
        <p:spPr>
          <a:xfrm>
            <a:off x="548640" y="6473952"/>
            <a:ext cx="5486400" cy="237744"/>
          </a:xfrm>
          <a:prstGeom prst="rect">
            <a:avLst/>
          </a:prstGeom>
          <a:noFill/>
          <a:ln/>
        </p:spPr>
        <p:txBody>
          <a:bodyPr wrap="square" lIns="0" tIns="0" rIns="0" bIns="0" rtlCol="0" anchor="ctr"/>
          <a:lstStyle/>
          <a:p>
            <a:pPr marL="0" indent="0">
              <a:buNone/>
            </a:pPr>
            <a:r>
              <a:rPr lang="en-US" sz="900" dirty="0">
                <a:solidFill>
                  <a:srgbClr val="B9C4C6"/>
                </a:solidFill>
                <a:latin typeface="Calibri" pitchFamily="34" charset="0"/>
                <a:ea typeface="Calibri" pitchFamily="34" charset="-122"/>
                <a:cs typeface="Calibri" pitchFamily="34" charset="-120"/>
              </a:rPr>
              <a:t>SPEAK  |  Status &amp; Delivery Plan  |  12 July 2026</a:t>
            </a:r>
            <a:endParaRPr lang="en-US" sz="900" dirty="0"/>
          </a:p>
        </p:txBody>
      </p:sp>
      <p:sp>
        <p:nvSpPr>
          <p:cNvPr id="5" name="Text 3"/>
          <p:cNvSpPr/>
          <p:nvPr/>
        </p:nvSpPr>
        <p:spPr>
          <a:xfrm>
            <a:off x="11064240" y="6473952"/>
            <a:ext cx="548640" cy="237744"/>
          </a:xfrm>
          <a:prstGeom prst="rect">
            <a:avLst/>
          </a:prstGeom>
          <a:noFill/>
          <a:ln/>
        </p:spPr>
        <p:txBody>
          <a:bodyPr wrap="square" lIns="0" tIns="0" rIns="0" bIns="0" rtlCol="0" anchor="ctr"/>
          <a:lstStyle/>
          <a:p>
            <a:pPr marL="0" indent="0" algn="r">
              <a:buNone/>
            </a:pPr>
            <a:r>
              <a:rPr lang="en-US" sz="900" dirty="0">
                <a:solidFill>
                  <a:srgbClr val="B9C4C6"/>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4892040" y="1810512"/>
            <a:ext cx="0" cy="4114800"/>
          </a:xfrm>
          <a:prstGeom prst="line">
            <a:avLst/>
          </a:prstGeom>
          <a:noFill/>
          <a:ln w="9525">
            <a:solidFill>
              <a:srgbClr val="E4EBEB"/>
            </a:solidFill>
            <a:prstDash val="solid"/>
          </a:ln>
        </p:spPr>
      </p:sp>
      <p:sp>
        <p:nvSpPr>
          <p:cNvPr id="7" name="Text 5"/>
          <p:cNvSpPr/>
          <p:nvPr/>
        </p:nvSpPr>
        <p:spPr>
          <a:xfrm>
            <a:off x="4533396" y="1517904"/>
            <a:ext cx="768096" cy="237744"/>
          </a:xfrm>
          <a:prstGeom prst="rect">
            <a:avLst/>
          </a:prstGeom>
          <a:noFill/>
          <a:ln/>
        </p:spPr>
        <p:txBody>
          <a:bodyPr wrap="square" lIns="0" tIns="0" rIns="0" bIns="0" rtlCol="0" anchor="ctr"/>
          <a:lstStyle/>
          <a:p>
            <a:pPr marL="0" indent="0" algn="ctr">
              <a:buNone/>
            </a:pPr>
            <a:r>
              <a:rPr lang="en-US" sz="900" b="1" dirty="0">
                <a:solidFill>
                  <a:srgbClr val="5C6E71"/>
                </a:solidFill>
                <a:latin typeface="Calibri" pitchFamily="34" charset="0"/>
                <a:ea typeface="Calibri" pitchFamily="34" charset="-122"/>
                <a:cs typeface="Calibri" pitchFamily="34" charset="-120"/>
              </a:rPr>
              <a:t>Jul '26</a:t>
            </a:r>
            <a:endParaRPr lang="en-US" sz="900" dirty="0"/>
          </a:p>
        </p:txBody>
      </p:sp>
      <p:sp>
        <p:nvSpPr>
          <p:cNvPr id="8" name="Shape 6"/>
          <p:cNvSpPr/>
          <p:nvPr/>
        </p:nvSpPr>
        <p:spPr>
          <a:xfrm>
            <a:off x="5715000" y="1810512"/>
            <a:ext cx="0" cy="4114800"/>
          </a:xfrm>
          <a:prstGeom prst="line">
            <a:avLst/>
          </a:prstGeom>
          <a:noFill/>
          <a:ln w="9525">
            <a:solidFill>
              <a:srgbClr val="E4EBEB"/>
            </a:solidFill>
            <a:prstDash val="solid"/>
          </a:ln>
        </p:spPr>
      </p:sp>
      <p:sp>
        <p:nvSpPr>
          <p:cNvPr id="9" name="Text 7"/>
          <p:cNvSpPr/>
          <p:nvPr/>
        </p:nvSpPr>
        <p:spPr>
          <a:xfrm>
            <a:off x="5330952" y="1517904"/>
            <a:ext cx="768096" cy="237744"/>
          </a:xfrm>
          <a:prstGeom prst="rect">
            <a:avLst/>
          </a:prstGeom>
          <a:noFill/>
          <a:ln/>
        </p:spPr>
        <p:txBody>
          <a:bodyPr wrap="square" lIns="0" tIns="0" rIns="0" bIns="0" rtlCol="0" anchor="ctr"/>
          <a:lstStyle/>
          <a:p>
            <a:pPr marL="0" indent="0" algn="ctr">
              <a:buNone/>
            </a:pPr>
            <a:r>
              <a:rPr lang="en-US" sz="900" b="1" dirty="0">
                <a:solidFill>
                  <a:srgbClr val="5C6E71"/>
                </a:solidFill>
                <a:latin typeface="Calibri" pitchFamily="34" charset="0"/>
                <a:ea typeface="Calibri" pitchFamily="34" charset="-122"/>
                <a:cs typeface="Calibri" pitchFamily="34" charset="-120"/>
              </a:rPr>
              <a:t>Aug '26</a:t>
            </a:r>
            <a:endParaRPr lang="en-US" sz="900" dirty="0"/>
          </a:p>
        </p:txBody>
      </p:sp>
      <p:sp>
        <p:nvSpPr>
          <p:cNvPr id="10" name="Shape 8"/>
          <p:cNvSpPr/>
          <p:nvPr/>
        </p:nvSpPr>
        <p:spPr>
          <a:xfrm>
            <a:off x="6812280" y="1810512"/>
            <a:ext cx="0" cy="4114800"/>
          </a:xfrm>
          <a:prstGeom prst="line">
            <a:avLst/>
          </a:prstGeom>
          <a:noFill/>
          <a:ln w="9525">
            <a:solidFill>
              <a:srgbClr val="E4EBEB"/>
            </a:solidFill>
            <a:prstDash val="solid"/>
          </a:ln>
        </p:spPr>
      </p:sp>
      <p:sp>
        <p:nvSpPr>
          <p:cNvPr id="11" name="Text 9"/>
          <p:cNvSpPr/>
          <p:nvPr/>
        </p:nvSpPr>
        <p:spPr>
          <a:xfrm>
            <a:off x="6428232" y="1517904"/>
            <a:ext cx="768096" cy="237744"/>
          </a:xfrm>
          <a:prstGeom prst="rect">
            <a:avLst/>
          </a:prstGeom>
          <a:noFill/>
          <a:ln/>
        </p:spPr>
        <p:txBody>
          <a:bodyPr wrap="square" lIns="0" tIns="0" rIns="0" bIns="0" rtlCol="0" anchor="ctr"/>
          <a:lstStyle/>
          <a:p>
            <a:pPr marL="0" indent="0" algn="ctr">
              <a:buNone/>
            </a:pPr>
            <a:r>
              <a:rPr lang="en-US" sz="900" b="1" dirty="0">
                <a:solidFill>
                  <a:srgbClr val="5C6E71"/>
                </a:solidFill>
                <a:latin typeface="Calibri" pitchFamily="34" charset="0"/>
                <a:ea typeface="Calibri" pitchFamily="34" charset="-122"/>
                <a:cs typeface="Calibri" pitchFamily="34" charset="-120"/>
              </a:rPr>
              <a:t>Sep '26</a:t>
            </a:r>
            <a:endParaRPr lang="en-US" sz="900" dirty="0"/>
          </a:p>
        </p:txBody>
      </p:sp>
      <p:sp>
        <p:nvSpPr>
          <p:cNvPr id="12" name="Shape 10"/>
          <p:cNvSpPr/>
          <p:nvPr/>
        </p:nvSpPr>
        <p:spPr>
          <a:xfrm>
            <a:off x="7909560" y="1810512"/>
            <a:ext cx="0" cy="4114800"/>
          </a:xfrm>
          <a:prstGeom prst="line">
            <a:avLst/>
          </a:prstGeom>
          <a:noFill/>
          <a:ln w="9525">
            <a:solidFill>
              <a:srgbClr val="E4EBEB"/>
            </a:solidFill>
            <a:prstDash val="solid"/>
          </a:ln>
        </p:spPr>
      </p:sp>
      <p:sp>
        <p:nvSpPr>
          <p:cNvPr id="13" name="Text 11"/>
          <p:cNvSpPr/>
          <p:nvPr/>
        </p:nvSpPr>
        <p:spPr>
          <a:xfrm>
            <a:off x="7525512" y="1517904"/>
            <a:ext cx="768096" cy="237744"/>
          </a:xfrm>
          <a:prstGeom prst="rect">
            <a:avLst/>
          </a:prstGeom>
          <a:noFill/>
          <a:ln/>
        </p:spPr>
        <p:txBody>
          <a:bodyPr wrap="square" lIns="0" tIns="0" rIns="0" bIns="0" rtlCol="0" anchor="ctr"/>
          <a:lstStyle/>
          <a:p>
            <a:pPr marL="0" indent="0" algn="ctr">
              <a:buNone/>
            </a:pPr>
            <a:r>
              <a:rPr lang="en-US" sz="900" b="1" dirty="0">
                <a:solidFill>
                  <a:srgbClr val="5C6E71"/>
                </a:solidFill>
                <a:latin typeface="Calibri" pitchFamily="34" charset="0"/>
                <a:ea typeface="Calibri" pitchFamily="34" charset="-122"/>
                <a:cs typeface="Calibri" pitchFamily="34" charset="-120"/>
              </a:rPr>
              <a:t>Oct '26</a:t>
            </a:r>
            <a:endParaRPr lang="en-US" sz="900" dirty="0"/>
          </a:p>
        </p:txBody>
      </p:sp>
      <p:sp>
        <p:nvSpPr>
          <p:cNvPr id="14" name="Shape 12"/>
          <p:cNvSpPr/>
          <p:nvPr/>
        </p:nvSpPr>
        <p:spPr>
          <a:xfrm>
            <a:off x="9281160" y="1810512"/>
            <a:ext cx="0" cy="4114800"/>
          </a:xfrm>
          <a:prstGeom prst="line">
            <a:avLst/>
          </a:prstGeom>
          <a:noFill/>
          <a:ln w="9525">
            <a:solidFill>
              <a:srgbClr val="E4EBEB"/>
            </a:solidFill>
            <a:prstDash val="solid"/>
          </a:ln>
        </p:spPr>
      </p:sp>
      <p:sp>
        <p:nvSpPr>
          <p:cNvPr id="15" name="Text 13"/>
          <p:cNvSpPr/>
          <p:nvPr/>
        </p:nvSpPr>
        <p:spPr>
          <a:xfrm>
            <a:off x="8897112" y="1517904"/>
            <a:ext cx="768096" cy="237744"/>
          </a:xfrm>
          <a:prstGeom prst="rect">
            <a:avLst/>
          </a:prstGeom>
          <a:noFill/>
          <a:ln/>
        </p:spPr>
        <p:txBody>
          <a:bodyPr wrap="square" lIns="0" tIns="0" rIns="0" bIns="0" rtlCol="0" anchor="ctr"/>
          <a:lstStyle/>
          <a:p>
            <a:pPr marL="0" indent="0" algn="ctr">
              <a:buNone/>
            </a:pPr>
            <a:r>
              <a:rPr lang="en-US" sz="900" b="1" dirty="0">
                <a:solidFill>
                  <a:srgbClr val="5C6E71"/>
                </a:solidFill>
                <a:latin typeface="Calibri" pitchFamily="34" charset="0"/>
                <a:ea typeface="Calibri" pitchFamily="34" charset="-122"/>
                <a:cs typeface="Calibri" pitchFamily="34" charset="-120"/>
              </a:rPr>
              <a:t>Nov '26</a:t>
            </a:r>
            <a:endParaRPr lang="en-US" sz="900" dirty="0"/>
          </a:p>
        </p:txBody>
      </p:sp>
      <p:sp>
        <p:nvSpPr>
          <p:cNvPr id="16" name="Shape 14"/>
          <p:cNvSpPr/>
          <p:nvPr/>
        </p:nvSpPr>
        <p:spPr>
          <a:xfrm>
            <a:off x="10378440" y="1810512"/>
            <a:ext cx="0" cy="4114800"/>
          </a:xfrm>
          <a:prstGeom prst="line">
            <a:avLst/>
          </a:prstGeom>
          <a:noFill/>
          <a:ln w="9525">
            <a:solidFill>
              <a:srgbClr val="E4EBEB"/>
            </a:solidFill>
            <a:prstDash val="solid"/>
          </a:ln>
        </p:spPr>
      </p:sp>
      <p:sp>
        <p:nvSpPr>
          <p:cNvPr id="17" name="Text 15"/>
          <p:cNvSpPr/>
          <p:nvPr/>
        </p:nvSpPr>
        <p:spPr>
          <a:xfrm>
            <a:off x="9994392" y="1517904"/>
            <a:ext cx="768096" cy="237744"/>
          </a:xfrm>
          <a:prstGeom prst="rect">
            <a:avLst/>
          </a:prstGeom>
          <a:noFill/>
          <a:ln/>
        </p:spPr>
        <p:txBody>
          <a:bodyPr wrap="square" lIns="0" tIns="0" rIns="0" bIns="0" rtlCol="0" anchor="ctr"/>
          <a:lstStyle/>
          <a:p>
            <a:pPr marL="0" indent="0" algn="ctr">
              <a:buNone/>
            </a:pPr>
            <a:r>
              <a:rPr lang="en-US" sz="900" b="1" dirty="0">
                <a:solidFill>
                  <a:srgbClr val="5C6E71"/>
                </a:solidFill>
                <a:latin typeface="Calibri" pitchFamily="34" charset="0"/>
                <a:ea typeface="Calibri" pitchFamily="34" charset="-122"/>
                <a:cs typeface="Calibri" pitchFamily="34" charset="-120"/>
              </a:rPr>
              <a:t>Dec '26</a:t>
            </a:r>
            <a:endParaRPr lang="en-US" sz="900" dirty="0"/>
          </a:p>
        </p:txBody>
      </p:sp>
      <p:sp>
        <p:nvSpPr>
          <p:cNvPr id="18" name="Shape 16"/>
          <p:cNvSpPr/>
          <p:nvPr/>
        </p:nvSpPr>
        <p:spPr>
          <a:xfrm>
            <a:off x="11475720" y="1810512"/>
            <a:ext cx="0" cy="4114800"/>
          </a:xfrm>
          <a:prstGeom prst="line">
            <a:avLst/>
          </a:prstGeom>
          <a:noFill/>
          <a:ln w="9525">
            <a:solidFill>
              <a:srgbClr val="E4EBEB"/>
            </a:solidFill>
            <a:prstDash val="solid"/>
          </a:ln>
        </p:spPr>
      </p:sp>
      <p:sp>
        <p:nvSpPr>
          <p:cNvPr id="19" name="Text 17"/>
          <p:cNvSpPr/>
          <p:nvPr/>
        </p:nvSpPr>
        <p:spPr>
          <a:xfrm>
            <a:off x="11091672" y="1517904"/>
            <a:ext cx="768096" cy="237744"/>
          </a:xfrm>
          <a:prstGeom prst="rect">
            <a:avLst/>
          </a:prstGeom>
          <a:noFill/>
          <a:ln/>
        </p:spPr>
        <p:txBody>
          <a:bodyPr wrap="square" lIns="0" tIns="0" rIns="0" bIns="0" rtlCol="0" anchor="ctr"/>
          <a:lstStyle/>
          <a:p>
            <a:pPr marL="0" indent="0" algn="ctr">
              <a:buNone/>
            </a:pPr>
            <a:r>
              <a:rPr lang="en-US" sz="900" b="1" dirty="0">
                <a:solidFill>
                  <a:srgbClr val="5C6E71"/>
                </a:solidFill>
                <a:latin typeface="Calibri" pitchFamily="34" charset="0"/>
                <a:ea typeface="Calibri" pitchFamily="34" charset="-122"/>
                <a:cs typeface="Calibri" pitchFamily="34" charset="-120"/>
              </a:rPr>
              <a:t>Jan '27</a:t>
            </a:r>
            <a:endParaRPr lang="en-US" sz="900" dirty="0"/>
          </a:p>
        </p:txBody>
      </p:sp>
      <p:sp>
        <p:nvSpPr>
          <p:cNvPr id="20" name="Shape 18"/>
          <p:cNvSpPr/>
          <p:nvPr/>
        </p:nvSpPr>
        <p:spPr>
          <a:xfrm>
            <a:off x="4892040" y="1810512"/>
            <a:ext cx="6858000" cy="0"/>
          </a:xfrm>
          <a:prstGeom prst="line">
            <a:avLst/>
          </a:prstGeom>
          <a:noFill/>
          <a:ln w="12700">
            <a:solidFill>
              <a:srgbClr val="D5E0E1"/>
            </a:solidFill>
            <a:prstDash val="solid"/>
          </a:ln>
        </p:spPr>
      </p:sp>
      <p:sp>
        <p:nvSpPr>
          <p:cNvPr id="21" name="Text 19"/>
          <p:cNvSpPr/>
          <p:nvPr/>
        </p:nvSpPr>
        <p:spPr>
          <a:xfrm>
            <a:off x="548640" y="1536192"/>
            <a:ext cx="3657600" cy="219456"/>
          </a:xfrm>
          <a:prstGeom prst="rect">
            <a:avLst/>
          </a:prstGeom>
          <a:noFill/>
          <a:ln/>
        </p:spPr>
        <p:txBody>
          <a:bodyPr wrap="square" lIns="0" tIns="0" rIns="0" bIns="0" rtlCol="0" anchor="ctr"/>
          <a:lstStyle/>
          <a:p>
            <a:pPr marL="0" indent="0">
              <a:buNone/>
            </a:pPr>
            <a:r>
              <a:rPr lang="en-US" sz="900" b="1" dirty="0">
                <a:solidFill>
                  <a:srgbClr val="5C6E71"/>
                </a:solidFill>
                <a:latin typeface="Calibri" pitchFamily="34" charset="0"/>
                <a:ea typeface="Calibri" pitchFamily="34" charset="-122"/>
                <a:cs typeface="Calibri" pitchFamily="34" charset="-120"/>
              </a:rPr>
              <a:t>Subtask</a:t>
            </a:r>
            <a:endParaRPr lang="en-US" sz="900" dirty="0"/>
          </a:p>
        </p:txBody>
      </p:sp>
      <p:sp>
        <p:nvSpPr>
          <p:cNvPr id="22" name="Text 20"/>
          <p:cNvSpPr/>
          <p:nvPr/>
        </p:nvSpPr>
        <p:spPr>
          <a:xfrm>
            <a:off x="4011506" y="1536192"/>
            <a:ext cx="566928" cy="219456"/>
          </a:xfrm>
          <a:prstGeom prst="rect">
            <a:avLst/>
          </a:prstGeom>
          <a:noFill/>
          <a:ln/>
        </p:spPr>
        <p:txBody>
          <a:bodyPr wrap="square" lIns="0" tIns="0" rIns="0" bIns="0" rtlCol="0" anchor="ctr"/>
          <a:lstStyle/>
          <a:p>
            <a:pPr marL="0" indent="0" algn="r">
              <a:buNone/>
            </a:pPr>
            <a:r>
              <a:rPr lang="en-US" sz="900" b="1" dirty="0">
                <a:solidFill>
                  <a:srgbClr val="5C6E71"/>
                </a:solidFill>
                <a:latin typeface="Calibri" pitchFamily="34" charset="0"/>
                <a:ea typeface="Calibri" pitchFamily="34" charset="-122"/>
                <a:cs typeface="Calibri" pitchFamily="34" charset="-120"/>
              </a:rPr>
              <a:t>Effort</a:t>
            </a:r>
            <a:endParaRPr lang="en-US" sz="900" dirty="0"/>
          </a:p>
        </p:txBody>
      </p:sp>
      <p:sp>
        <p:nvSpPr>
          <p:cNvPr id="23" name="Shape 21"/>
          <p:cNvSpPr/>
          <p:nvPr/>
        </p:nvSpPr>
        <p:spPr>
          <a:xfrm>
            <a:off x="548640" y="1847088"/>
            <a:ext cx="11201400" cy="169164"/>
          </a:xfrm>
          <a:prstGeom prst="rect">
            <a:avLst/>
          </a:prstGeom>
          <a:solidFill>
            <a:srgbClr val="F7FAFA"/>
          </a:solidFill>
          <a:ln w="12700">
            <a:solidFill>
              <a:srgbClr val="F7FAFA"/>
            </a:solidFill>
            <a:prstDash val="solid"/>
          </a:ln>
        </p:spPr>
      </p:sp>
      <p:sp>
        <p:nvSpPr>
          <p:cNvPr id="24" name="Text 22"/>
          <p:cNvSpPr/>
          <p:nvPr/>
        </p:nvSpPr>
        <p:spPr>
          <a:xfrm>
            <a:off x="548640" y="1847088"/>
            <a:ext cx="320040" cy="169164"/>
          </a:xfrm>
          <a:prstGeom prst="rect">
            <a:avLst/>
          </a:prstGeom>
          <a:noFill/>
          <a:ln/>
        </p:spPr>
        <p:txBody>
          <a:bodyPr wrap="square" lIns="0" tIns="0" rIns="0" bIns="0" rtlCol="0" anchor="ctr"/>
          <a:lstStyle/>
          <a:p>
            <a:pPr marL="0" indent="0">
              <a:buNone/>
            </a:pPr>
            <a:r>
              <a:rPr lang="en-US" sz="750" b="1" dirty="0">
                <a:solidFill>
                  <a:srgbClr val="50808E"/>
                </a:solidFill>
                <a:latin typeface="Calibri" pitchFamily="34" charset="0"/>
                <a:ea typeface="Calibri" pitchFamily="34" charset="-122"/>
                <a:cs typeface="Calibri" pitchFamily="34" charset="-120"/>
              </a:rPr>
              <a:t>P0</a:t>
            </a:r>
            <a:endParaRPr lang="en-US" sz="750" dirty="0"/>
          </a:p>
        </p:txBody>
      </p:sp>
      <p:sp>
        <p:nvSpPr>
          <p:cNvPr id="25" name="Text 23"/>
          <p:cNvSpPr/>
          <p:nvPr/>
        </p:nvSpPr>
        <p:spPr>
          <a:xfrm>
            <a:off x="877824" y="1847088"/>
            <a:ext cx="3703320" cy="169164"/>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Repo, React + Vite, Express skeleton, ESLint</a:t>
            </a:r>
            <a:endParaRPr lang="en-US" sz="800" dirty="0"/>
          </a:p>
        </p:txBody>
      </p:sp>
      <p:sp>
        <p:nvSpPr>
          <p:cNvPr id="26" name="Text 24"/>
          <p:cNvSpPr/>
          <p:nvPr/>
        </p:nvSpPr>
        <p:spPr>
          <a:xfrm>
            <a:off x="4206240" y="1847088"/>
            <a:ext cx="566928" cy="169164"/>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4 h</a:t>
            </a:r>
            <a:endParaRPr lang="en-US" sz="800" dirty="0"/>
          </a:p>
        </p:txBody>
      </p:sp>
      <p:sp>
        <p:nvSpPr>
          <p:cNvPr id="27" name="Shape 25"/>
          <p:cNvSpPr/>
          <p:nvPr/>
        </p:nvSpPr>
        <p:spPr>
          <a:xfrm>
            <a:off x="4892040" y="1879092"/>
            <a:ext cx="246888" cy="105156"/>
          </a:xfrm>
          <a:prstGeom prst="roundRect">
            <a:avLst>
              <a:gd name="adj" fmla="val 260870"/>
            </a:avLst>
          </a:prstGeom>
          <a:solidFill>
            <a:srgbClr val="50808E"/>
          </a:solidFill>
          <a:ln w="12700">
            <a:solidFill>
              <a:srgbClr val="50808E"/>
            </a:solidFill>
            <a:prstDash val="solid"/>
          </a:ln>
        </p:spPr>
      </p:sp>
      <p:sp>
        <p:nvSpPr>
          <p:cNvPr id="28" name="Text 26"/>
          <p:cNvSpPr/>
          <p:nvPr/>
        </p:nvSpPr>
        <p:spPr>
          <a:xfrm>
            <a:off x="548640" y="2016252"/>
            <a:ext cx="320040" cy="169164"/>
          </a:xfrm>
          <a:prstGeom prst="rect">
            <a:avLst/>
          </a:prstGeom>
          <a:noFill/>
          <a:ln/>
        </p:spPr>
        <p:txBody>
          <a:bodyPr wrap="square" lIns="0" tIns="0" rIns="0" bIns="0" rtlCol="0" anchor="ctr"/>
          <a:lstStyle/>
          <a:p>
            <a:pPr marL="0" indent="0">
              <a:buNone/>
            </a:pPr>
            <a:r>
              <a:rPr lang="en-US" sz="750" b="1" dirty="0">
                <a:solidFill>
                  <a:srgbClr val="50808E"/>
                </a:solidFill>
                <a:latin typeface="Calibri" pitchFamily="34" charset="0"/>
                <a:ea typeface="Calibri" pitchFamily="34" charset="-122"/>
                <a:cs typeface="Calibri" pitchFamily="34" charset="-120"/>
              </a:rPr>
              <a:t>P0</a:t>
            </a:r>
            <a:endParaRPr lang="en-US" sz="750" dirty="0"/>
          </a:p>
        </p:txBody>
      </p:sp>
      <p:sp>
        <p:nvSpPr>
          <p:cNvPr id="29" name="Text 27"/>
          <p:cNvSpPr/>
          <p:nvPr/>
        </p:nvSpPr>
        <p:spPr>
          <a:xfrm>
            <a:off x="877824" y="2016252"/>
            <a:ext cx="3703320" cy="169164"/>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Docker Compose: API, MySQL, media store</a:t>
            </a:r>
            <a:endParaRPr lang="en-US" sz="800" dirty="0"/>
          </a:p>
        </p:txBody>
      </p:sp>
      <p:sp>
        <p:nvSpPr>
          <p:cNvPr id="30" name="Text 28"/>
          <p:cNvSpPr/>
          <p:nvPr/>
        </p:nvSpPr>
        <p:spPr>
          <a:xfrm>
            <a:off x="4206240" y="2016252"/>
            <a:ext cx="566928" cy="169164"/>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4 h</a:t>
            </a:r>
            <a:endParaRPr lang="en-US" sz="800" dirty="0"/>
          </a:p>
        </p:txBody>
      </p:sp>
      <p:sp>
        <p:nvSpPr>
          <p:cNvPr id="31" name="Shape 29"/>
          <p:cNvSpPr/>
          <p:nvPr/>
        </p:nvSpPr>
        <p:spPr>
          <a:xfrm>
            <a:off x="4892040" y="2048256"/>
            <a:ext cx="521208" cy="105156"/>
          </a:xfrm>
          <a:prstGeom prst="roundRect">
            <a:avLst>
              <a:gd name="adj" fmla="val 260870"/>
            </a:avLst>
          </a:prstGeom>
          <a:solidFill>
            <a:srgbClr val="50808E"/>
          </a:solidFill>
          <a:ln w="12700">
            <a:solidFill>
              <a:srgbClr val="50808E"/>
            </a:solidFill>
            <a:prstDash val="solid"/>
          </a:ln>
        </p:spPr>
      </p:sp>
      <p:sp>
        <p:nvSpPr>
          <p:cNvPr id="32" name="Shape 30"/>
          <p:cNvSpPr/>
          <p:nvPr/>
        </p:nvSpPr>
        <p:spPr>
          <a:xfrm>
            <a:off x="548640" y="2185416"/>
            <a:ext cx="11201400" cy="169164"/>
          </a:xfrm>
          <a:prstGeom prst="rect">
            <a:avLst/>
          </a:prstGeom>
          <a:solidFill>
            <a:srgbClr val="F7FAFA"/>
          </a:solidFill>
          <a:ln w="12700">
            <a:solidFill>
              <a:srgbClr val="F7FAFA"/>
            </a:solidFill>
            <a:prstDash val="solid"/>
          </a:ln>
        </p:spPr>
      </p:sp>
      <p:sp>
        <p:nvSpPr>
          <p:cNvPr id="33" name="Text 31"/>
          <p:cNvSpPr/>
          <p:nvPr/>
        </p:nvSpPr>
        <p:spPr>
          <a:xfrm>
            <a:off x="548640" y="2185416"/>
            <a:ext cx="320040" cy="169164"/>
          </a:xfrm>
          <a:prstGeom prst="rect">
            <a:avLst/>
          </a:prstGeom>
          <a:noFill/>
          <a:ln/>
        </p:spPr>
        <p:txBody>
          <a:bodyPr wrap="square" lIns="0" tIns="0" rIns="0" bIns="0" rtlCol="0" anchor="ctr"/>
          <a:lstStyle/>
          <a:p>
            <a:pPr marL="0" indent="0">
              <a:buNone/>
            </a:pPr>
            <a:r>
              <a:rPr lang="en-US" sz="750" b="1" dirty="0">
                <a:solidFill>
                  <a:srgbClr val="50808E"/>
                </a:solidFill>
                <a:latin typeface="Calibri" pitchFamily="34" charset="0"/>
                <a:ea typeface="Calibri" pitchFamily="34" charset="-122"/>
                <a:cs typeface="Calibri" pitchFamily="34" charset="-120"/>
              </a:rPr>
              <a:t>P0</a:t>
            </a:r>
            <a:endParaRPr lang="en-US" sz="750" dirty="0"/>
          </a:p>
        </p:txBody>
      </p:sp>
      <p:sp>
        <p:nvSpPr>
          <p:cNvPr id="34" name="Text 32"/>
          <p:cNvSpPr/>
          <p:nvPr/>
        </p:nvSpPr>
        <p:spPr>
          <a:xfrm>
            <a:off x="877824" y="2185416"/>
            <a:ext cx="3703320" cy="169164"/>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CI pipeline - Gate 1 (lint, unit, secret scan)</a:t>
            </a:r>
            <a:endParaRPr lang="en-US" sz="800" dirty="0"/>
          </a:p>
        </p:txBody>
      </p:sp>
      <p:sp>
        <p:nvSpPr>
          <p:cNvPr id="35" name="Text 33"/>
          <p:cNvSpPr/>
          <p:nvPr/>
        </p:nvSpPr>
        <p:spPr>
          <a:xfrm>
            <a:off x="4206240" y="2185416"/>
            <a:ext cx="566928" cy="169164"/>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4 h</a:t>
            </a:r>
            <a:endParaRPr lang="en-US" sz="800" dirty="0"/>
          </a:p>
        </p:txBody>
      </p:sp>
      <p:sp>
        <p:nvSpPr>
          <p:cNvPr id="36" name="Shape 34"/>
          <p:cNvSpPr/>
          <p:nvPr/>
        </p:nvSpPr>
        <p:spPr>
          <a:xfrm>
            <a:off x="5166360" y="2217420"/>
            <a:ext cx="246888" cy="105156"/>
          </a:xfrm>
          <a:prstGeom prst="roundRect">
            <a:avLst>
              <a:gd name="adj" fmla="val 260870"/>
            </a:avLst>
          </a:prstGeom>
          <a:solidFill>
            <a:srgbClr val="50808E"/>
          </a:solidFill>
          <a:ln w="12700">
            <a:solidFill>
              <a:srgbClr val="50808E"/>
            </a:solidFill>
            <a:prstDash val="solid"/>
          </a:ln>
        </p:spPr>
      </p:sp>
      <p:sp>
        <p:nvSpPr>
          <p:cNvPr id="37" name="Text 35"/>
          <p:cNvSpPr/>
          <p:nvPr/>
        </p:nvSpPr>
        <p:spPr>
          <a:xfrm>
            <a:off x="548640" y="2354580"/>
            <a:ext cx="320040" cy="169164"/>
          </a:xfrm>
          <a:prstGeom prst="rect">
            <a:avLst/>
          </a:prstGeom>
          <a:noFill/>
          <a:ln/>
        </p:spPr>
        <p:txBody>
          <a:bodyPr wrap="square" lIns="0" tIns="0" rIns="0" bIns="0" rtlCol="0" anchor="ctr"/>
          <a:lstStyle/>
          <a:p>
            <a:pPr marL="0" indent="0">
              <a:buNone/>
            </a:pPr>
            <a:r>
              <a:rPr lang="en-US" sz="750" b="1" dirty="0">
                <a:solidFill>
                  <a:srgbClr val="50808E"/>
                </a:solidFill>
                <a:latin typeface="Calibri" pitchFamily="34" charset="0"/>
                <a:ea typeface="Calibri" pitchFamily="34" charset="-122"/>
                <a:cs typeface="Calibri" pitchFamily="34" charset="-120"/>
              </a:rPr>
              <a:t>P0</a:t>
            </a:r>
            <a:endParaRPr lang="en-US" sz="750" dirty="0"/>
          </a:p>
        </p:txBody>
      </p:sp>
      <p:sp>
        <p:nvSpPr>
          <p:cNvPr id="38" name="Text 36"/>
          <p:cNvSpPr/>
          <p:nvPr/>
        </p:nvSpPr>
        <p:spPr>
          <a:xfrm>
            <a:off x="877824" y="2354580"/>
            <a:ext cx="3703320" cy="169164"/>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Migration framework + initial schema</a:t>
            </a:r>
            <a:endParaRPr lang="en-US" sz="800" dirty="0"/>
          </a:p>
        </p:txBody>
      </p:sp>
      <p:sp>
        <p:nvSpPr>
          <p:cNvPr id="39" name="Text 37"/>
          <p:cNvSpPr/>
          <p:nvPr/>
        </p:nvSpPr>
        <p:spPr>
          <a:xfrm>
            <a:off x="4206240" y="2354580"/>
            <a:ext cx="566928" cy="169164"/>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3 h</a:t>
            </a:r>
            <a:endParaRPr lang="en-US" sz="800" dirty="0"/>
          </a:p>
        </p:txBody>
      </p:sp>
      <p:sp>
        <p:nvSpPr>
          <p:cNvPr id="40" name="Shape 38"/>
          <p:cNvSpPr/>
          <p:nvPr/>
        </p:nvSpPr>
        <p:spPr>
          <a:xfrm>
            <a:off x="5166360" y="2386584"/>
            <a:ext cx="521208" cy="105156"/>
          </a:xfrm>
          <a:prstGeom prst="roundRect">
            <a:avLst>
              <a:gd name="adj" fmla="val 260870"/>
            </a:avLst>
          </a:prstGeom>
          <a:solidFill>
            <a:srgbClr val="50808E"/>
          </a:solidFill>
          <a:ln w="12700">
            <a:solidFill>
              <a:srgbClr val="50808E"/>
            </a:solidFill>
            <a:prstDash val="solid"/>
          </a:ln>
        </p:spPr>
      </p:sp>
      <p:sp>
        <p:nvSpPr>
          <p:cNvPr id="41" name="Shape 39"/>
          <p:cNvSpPr/>
          <p:nvPr/>
        </p:nvSpPr>
        <p:spPr>
          <a:xfrm>
            <a:off x="548640" y="2523744"/>
            <a:ext cx="11201400" cy="169164"/>
          </a:xfrm>
          <a:prstGeom prst="rect">
            <a:avLst/>
          </a:prstGeom>
          <a:solidFill>
            <a:srgbClr val="F7FAFA"/>
          </a:solidFill>
          <a:ln w="12700">
            <a:solidFill>
              <a:srgbClr val="F7FAFA"/>
            </a:solidFill>
            <a:prstDash val="solid"/>
          </a:ln>
        </p:spPr>
      </p:sp>
      <p:sp>
        <p:nvSpPr>
          <p:cNvPr id="42" name="Text 40"/>
          <p:cNvSpPr/>
          <p:nvPr/>
        </p:nvSpPr>
        <p:spPr>
          <a:xfrm>
            <a:off x="548640" y="2523744"/>
            <a:ext cx="320040" cy="169164"/>
          </a:xfrm>
          <a:prstGeom prst="rect">
            <a:avLst/>
          </a:prstGeom>
          <a:noFill/>
          <a:ln/>
        </p:spPr>
        <p:txBody>
          <a:bodyPr wrap="square" lIns="0" tIns="0" rIns="0" bIns="0" rtlCol="0" anchor="ctr"/>
          <a:lstStyle/>
          <a:p>
            <a:pPr marL="0" indent="0">
              <a:buNone/>
            </a:pPr>
            <a:r>
              <a:rPr lang="en-US" sz="750" b="1" dirty="0">
                <a:solidFill>
                  <a:srgbClr val="50808E"/>
                </a:solidFill>
                <a:latin typeface="Calibri" pitchFamily="34" charset="0"/>
                <a:ea typeface="Calibri" pitchFamily="34" charset="-122"/>
                <a:cs typeface="Calibri" pitchFamily="34" charset="-120"/>
              </a:rPr>
              <a:t>P0</a:t>
            </a:r>
            <a:endParaRPr lang="en-US" sz="750" dirty="0"/>
          </a:p>
        </p:txBody>
      </p:sp>
      <p:sp>
        <p:nvSpPr>
          <p:cNvPr id="43" name="Text 41"/>
          <p:cNvSpPr/>
          <p:nvPr/>
        </p:nvSpPr>
        <p:spPr>
          <a:xfrm>
            <a:off x="877824" y="2523744"/>
            <a:ext cx="3703320" cy="169164"/>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EU staging server, TLS, first deployment</a:t>
            </a:r>
            <a:endParaRPr lang="en-US" sz="800" dirty="0"/>
          </a:p>
        </p:txBody>
      </p:sp>
      <p:sp>
        <p:nvSpPr>
          <p:cNvPr id="44" name="Text 42"/>
          <p:cNvSpPr/>
          <p:nvPr/>
        </p:nvSpPr>
        <p:spPr>
          <a:xfrm>
            <a:off x="4206240" y="2523744"/>
            <a:ext cx="566928" cy="169164"/>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3 h</a:t>
            </a:r>
            <a:endParaRPr lang="en-US" sz="800" dirty="0"/>
          </a:p>
        </p:txBody>
      </p:sp>
      <p:sp>
        <p:nvSpPr>
          <p:cNvPr id="45" name="Shape 43"/>
          <p:cNvSpPr/>
          <p:nvPr/>
        </p:nvSpPr>
        <p:spPr>
          <a:xfrm>
            <a:off x="5440680" y="2555748"/>
            <a:ext cx="246888" cy="105156"/>
          </a:xfrm>
          <a:prstGeom prst="roundRect">
            <a:avLst>
              <a:gd name="adj" fmla="val 260870"/>
            </a:avLst>
          </a:prstGeom>
          <a:solidFill>
            <a:srgbClr val="50808E"/>
          </a:solidFill>
          <a:ln w="12700">
            <a:solidFill>
              <a:srgbClr val="50808E"/>
            </a:solidFill>
            <a:prstDash val="solid"/>
          </a:ln>
        </p:spPr>
      </p:sp>
      <p:sp>
        <p:nvSpPr>
          <p:cNvPr id="46" name="Text 44"/>
          <p:cNvSpPr/>
          <p:nvPr/>
        </p:nvSpPr>
        <p:spPr>
          <a:xfrm>
            <a:off x="548640" y="2692908"/>
            <a:ext cx="320040" cy="169164"/>
          </a:xfrm>
          <a:prstGeom prst="rect">
            <a:avLst/>
          </a:prstGeom>
          <a:noFill/>
          <a:ln/>
        </p:spPr>
        <p:txBody>
          <a:bodyPr wrap="square" lIns="0" tIns="0" rIns="0" bIns="0" rtlCol="0" anchor="ctr"/>
          <a:lstStyle/>
          <a:p>
            <a:pPr marL="0" indent="0">
              <a:buNone/>
            </a:pPr>
            <a:r>
              <a:rPr lang="en-US" sz="750" b="1" dirty="0">
                <a:solidFill>
                  <a:srgbClr val="06474F"/>
                </a:solidFill>
                <a:latin typeface="Calibri" pitchFamily="34" charset="0"/>
                <a:ea typeface="Calibri" pitchFamily="34" charset="-122"/>
                <a:cs typeface="Calibri" pitchFamily="34" charset="-120"/>
              </a:rPr>
              <a:t>P1</a:t>
            </a:r>
            <a:endParaRPr lang="en-US" sz="750" dirty="0"/>
          </a:p>
        </p:txBody>
      </p:sp>
      <p:sp>
        <p:nvSpPr>
          <p:cNvPr id="47" name="Text 45"/>
          <p:cNvSpPr/>
          <p:nvPr/>
        </p:nvSpPr>
        <p:spPr>
          <a:xfrm>
            <a:off x="877824" y="2692908"/>
            <a:ext cx="3703320" cy="169164"/>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Accounts schema: users, classes, students</a:t>
            </a:r>
            <a:endParaRPr lang="en-US" sz="800" dirty="0"/>
          </a:p>
        </p:txBody>
      </p:sp>
      <p:sp>
        <p:nvSpPr>
          <p:cNvPr id="48" name="Text 46"/>
          <p:cNvSpPr/>
          <p:nvPr/>
        </p:nvSpPr>
        <p:spPr>
          <a:xfrm>
            <a:off x="4206240" y="2692908"/>
            <a:ext cx="566928" cy="169164"/>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4 h</a:t>
            </a:r>
            <a:endParaRPr lang="en-US" sz="800" dirty="0"/>
          </a:p>
        </p:txBody>
      </p:sp>
      <p:sp>
        <p:nvSpPr>
          <p:cNvPr id="49" name="Shape 47"/>
          <p:cNvSpPr/>
          <p:nvPr/>
        </p:nvSpPr>
        <p:spPr>
          <a:xfrm>
            <a:off x="5715000" y="2724912"/>
            <a:ext cx="246888" cy="105156"/>
          </a:xfrm>
          <a:prstGeom prst="roundRect">
            <a:avLst>
              <a:gd name="adj" fmla="val 260870"/>
            </a:avLst>
          </a:prstGeom>
          <a:solidFill>
            <a:srgbClr val="06474F"/>
          </a:solidFill>
          <a:ln w="12700">
            <a:solidFill>
              <a:srgbClr val="06474F"/>
            </a:solidFill>
            <a:prstDash val="solid"/>
          </a:ln>
        </p:spPr>
      </p:sp>
      <p:sp>
        <p:nvSpPr>
          <p:cNvPr id="50" name="Shape 48"/>
          <p:cNvSpPr/>
          <p:nvPr/>
        </p:nvSpPr>
        <p:spPr>
          <a:xfrm>
            <a:off x="548640" y="2862072"/>
            <a:ext cx="11201400" cy="169164"/>
          </a:xfrm>
          <a:prstGeom prst="rect">
            <a:avLst/>
          </a:prstGeom>
          <a:solidFill>
            <a:srgbClr val="F7FAFA"/>
          </a:solidFill>
          <a:ln w="12700">
            <a:solidFill>
              <a:srgbClr val="F7FAFA"/>
            </a:solidFill>
            <a:prstDash val="solid"/>
          </a:ln>
        </p:spPr>
      </p:sp>
      <p:sp>
        <p:nvSpPr>
          <p:cNvPr id="51" name="Text 49"/>
          <p:cNvSpPr/>
          <p:nvPr/>
        </p:nvSpPr>
        <p:spPr>
          <a:xfrm>
            <a:off x="548640" y="2862072"/>
            <a:ext cx="320040" cy="169164"/>
          </a:xfrm>
          <a:prstGeom prst="rect">
            <a:avLst/>
          </a:prstGeom>
          <a:noFill/>
          <a:ln/>
        </p:spPr>
        <p:txBody>
          <a:bodyPr wrap="square" lIns="0" tIns="0" rIns="0" bIns="0" rtlCol="0" anchor="ctr"/>
          <a:lstStyle/>
          <a:p>
            <a:pPr marL="0" indent="0">
              <a:buNone/>
            </a:pPr>
            <a:r>
              <a:rPr lang="en-US" sz="750" b="1" dirty="0">
                <a:solidFill>
                  <a:srgbClr val="06474F"/>
                </a:solidFill>
                <a:latin typeface="Calibri" pitchFamily="34" charset="0"/>
                <a:ea typeface="Calibri" pitchFamily="34" charset="-122"/>
                <a:cs typeface="Calibri" pitchFamily="34" charset="-120"/>
              </a:rPr>
              <a:t>P1</a:t>
            </a:r>
            <a:endParaRPr lang="en-US" sz="750" dirty="0"/>
          </a:p>
        </p:txBody>
      </p:sp>
      <p:sp>
        <p:nvSpPr>
          <p:cNvPr id="52" name="Text 50"/>
          <p:cNvSpPr/>
          <p:nvPr/>
        </p:nvSpPr>
        <p:spPr>
          <a:xfrm>
            <a:off x="877824" y="2862072"/>
            <a:ext cx="3703320" cy="169164"/>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Teacher registration + bcrypt + JWT login (R01, R02)</a:t>
            </a:r>
            <a:endParaRPr lang="en-US" sz="800" dirty="0"/>
          </a:p>
        </p:txBody>
      </p:sp>
      <p:sp>
        <p:nvSpPr>
          <p:cNvPr id="53" name="Text 51"/>
          <p:cNvSpPr/>
          <p:nvPr/>
        </p:nvSpPr>
        <p:spPr>
          <a:xfrm>
            <a:off x="4206240" y="2862072"/>
            <a:ext cx="566928" cy="169164"/>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6 h</a:t>
            </a:r>
            <a:endParaRPr lang="en-US" sz="800" dirty="0"/>
          </a:p>
        </p:txBody>
      </p:sp>
      <p:sp>
        <p:nvSpPr>
          <p:cNvPr id="54" name="Shape 52"/>
          <p:cNvSpPr/>
          <p:nvPr/>
        </p:nvSpPr>
        <p:spPr>
          <a:xfrm>
            <a:off x="5715000" y="2894076"/>
            <a:ext cx="521208" cy="105156"/>
          </a:xfrm>
          <a:prstGeom prst="roundRect">
            <a:avLst>
              <a:gd name="adj" fmla="val 260870"/>
            </a:avLst>
          </a:prstGeom>
          <a:solidFill>
            <a:srgbClr val="06474F"/>
          </a:solidFill>
          <a:ln w="12700">
            <a:solidFill>
              <a:srgbClr val="06474F"/>
            </a:solidFill>
            <a:prstDash val="solid"/>
          </a:ln>
        </p:spPr>
      </p:sp>
      <p:sp>
        <p:nvSpPr>
          <p:cNvPr id="55" name="Text 53"/>
          <p:cNvSpPr/>
          <p:nvPr/>
        </p:nvSpPr>
        <p:spPr>
          <a:xfrm>
            <a:off x="548640" y="3031236"/>
            <a:ext cx="320040" cy="169164"/>
          </a:xfrm>
          <a:prstGeom prst="rect">
            <a:avLst/>
          </a:prstGeom>
          <a:noFill/>
          <a:ln/>
        </p:spPr>
        <p:txBody>
          <a:bodyPr wrap="square" lIns="0" tIns="0" rIns="0" bIns="0" rtlCol="0" anchor="ctr"/>
          <a:lstStyle/>
          <a:p>
            <a:pPr marL="0" indent="0">
              <a:buNone/>
            </a:pPr>
            <a:r>
              <a:rPr lang="en-US" sz="750" b="1" dirty="0">
                <a:solidFill>
                  <a:srgbClr val="06474F"/>
                </a:solidFill>
                <a:latin typeface="Calibri" pitchFamily="34" charset="0"/>
                <a:ea typeface="Calibri" pitchFamily="34" charset="-122"/>
                <a:cs typeface="Calibri" pitchFamily="34" charset="-120"/>
              </a:rPr>
              <a:t>P1</a:t>
            </a:r>
            <a:endParaRPr lang="en-US" sz="750" dirty="0"/>
          </a:p>
        </p:txBody>
      </p:sp>
      <p:sp>
        <p:nvSpPr>
          <p:cNvPr id="56" name="Text 54"/>
          <p:cNvSpPr/>
          <p:nvPr/>
        </p:nvSpPr>
        <p:spPr>
          <a:xfrm>
            <a:off x="877824" y="3031236"/>
            <a:ext cx="3703320" cy="169164"/>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Admin login + teacher account CRUD (R03, R08)</a:t>
            </a:r>
            <a:endParaRPr lang="en-US" sz="800" dirty="0"/>
          </a:p>
        </p:txBody>
      </p:sp>
      <p:sp>
        <p:nvSpPr>
          <p:cNvPr id="57" name="Text 55"/>
          <p:cNvSpPr/>
          <p:nvPr/>
        </p:nvSpPr>
        <p:spPr>
          <a:xfrm>
            <a:off x="4206240" y="3031236"/>
            <a:ext cx="566928" cy="169164"/>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6 h</a:t>
            </a:r>
            <a:endParaRPr lang="en-US" sz="800" dirty="0"/>
          </a:p>
        </p:txBody>
      </p:sp>
      <p:sp>
        <p:nvSpPr>
          <p:cNvPr id="58" name="Shape 56"/>
          <p:cNvSpPr/>
          <p:nvPr/>
        </p:nvSpPr>
        <p:spPr>
          <a:xfrm>
            <a:off x="5989320" y="3063240"/>
            <a:ext cx="521208" cy="105156"/>
          </a:xfrm>
          <a:prstGeom prst="roundRect">
            <a:avLst>
              <a:gd name="adj" fmla="val 260870"/>
            </a:avLst>
          </a:prstGeom>
          <a:solidFill>
            <a:srgbClr val="06474F"/>
          </a:solidFill>
          <a:ln w="12700">
            <a:solidFill>
              <a:srgbClr val="06474F"/>
            </a:solidFill>
            <a:prstDash val="solid"/>
          </a:ln>
        </p:spPr>
      </p:sp>
      <p:sp>
        <p:nvSpPr>
          <p:cNvPr id="59" name="Shape 57"/>
          <p:cNvSpPr/>
          <p:nvPr/>
        </p:nvSpPr>
        <p:spPr>
          <a:xfrm>
            <a:off x="548640" y="3200400"/>
            <a:ext cx="11201400" cy="169164"/>
          </a:xfrm>
          <a:prstGeom prst="rect">
            <a:avLst/>
          </a:prstGeom>
          <a:solidFill>
            <a:srgbClr val="F7FAFA"/>
          </a:solidFill>
          <a:ln w="12700">
            <a:solidFill>
              <a:srgbClr val="F7FAFA"/>
            </a:solidFill>
            <a:prstDash val="solid"/>
          </a:ln>
        </p:spPr>
      </p:sp>
      <p:sp>
        <p:nvSpPr>
          <p:cNvPr id="60" name="Text 58"/>
          <p:cNvSpPr/>
          <p:nvPr/>
        </p:nvSpPr>
        <p:spPr>
          <a:xfrm>
            <a:off x="548640" y="3200400"/>
            <a:ext cx="320040" cy="169164"/>
          </a:xfrm>
          <a:prstGeom prst="rect">
            <a:avLst/>
          </a:prstGeom>
          <a:noFill/>
          <a:ln/>
        </p:spPr>
        <p:txBody>
          <a:bodyPr wrap="square" lIns="0" tIns="0" rIns="0" bIns="0" rtlCol="0" anchor="ctr"/>
          <a:lstStyle/>
          <a:p>
            <a:pPr marL="0" indent="0">
              <a:buNone/>
            </a:pPr>
            <a:r>
              <a:rPr lang="en-US" sz="750" b="1" dirty="0">
                <a:solidFill>
                  <a:srgbClr val="06474F"/>
                </a:solidFill>
                <a:latin typeface="Calibri" pitchFamily="34" charset="0"/>
                <a:ea typeface="Calibri" pitchFamily="34" charset="-122"/>
                <a:cs typeface="Calibri" pitchFamily="34" charset="-120"/>
              </a:rPr>
              <a:t>P1</a:t>
            </a:r>
            <a:endParaRPr lang="en-US" sz="750" dirty="0"/>
          </a:p>
        </p:txBody>
      </p:sp>
      <p:sp>
        <p:nvSpPr>
          <p:cNvPr id="61" name="Text 59"/>
          <p:cNvSpPr/>
          <p:nvPr/>
        </p:nvSpPr>
        <p:spPr>
          <a:xfrm>
            <a:off x="877824" y="3200400"/>
            <a:ext cx="3703320" cy="169164"/>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Access codes: generate, hash, unique, regenerate (R06)</a:t>
            </a:r>
            <a:endParaRPr lang="en-US" sz="800" dirty="0"/>
          </a:p>
        </p:txBody>
      </p:sp>
      <p:sp>
        <p:nvSpPr>
          <p:cNvPr id="62" name="Text 60"/>
          <p:cNvSpPr/>
          <p:nvPr/>
        </p:nvSpPr>
        <p:spPr>
          <a:xfrm>
            <a:off x="4206240" y="3200400"/>
            <a:ext cx="566928" cy="169164"/>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5 h</a:t>
            </a:r>
            <a:endParaRPr lang="en-US" sz="800" dirty="0"/>
          </a:p>
        </p:txBody>
      </p:sp>
      <p:sp>
        <p:nvSpPr>
          <p:cNvPr id="63" name="Shape 61"/>
          <p:cNvSpPr/>
          <p:nvPr/>
        </p:nvSpPr>
        <p:spPr>
          <a:xfrm>
            <a:off x="6263640" y="3232404"/>
            <a:ext cx="521208" cy="105156"/>
          </a:xfrm>
          <a:prstGeom prst="roundRect">
            <a:avLst>
              <a:gd name="adj" fmla="val 260870"/>
            </a:avLst>
          </a:prstGeom>
          <a:solidFill>
            <a:srgbClr val="06474F"/>
          </a:solidFill>
          <a:ln w="12700">
            <a:solidFill>
              <a:srgbClr val="06474F"/>
            </a:solidFill>
            <a:prstDash val="solid"/>
          </a:ln>
        </p:spPr>
      </p:sp>
      <p:sp>
        <p:nvSpPr>
          <p:cNvPr id="64" name="Text 62"/>
          <p:cNvSpPr/>
          <p:nvPr/>
        </p:nvSpPr>
        <p:spPr>
          <a:xfrm>
            <a:off x="548640" y="3369564"/>
            <a:ext cx="320040" cy="169164"/>
          </a:xfrm>
          <a:prstGeom prst="rect">
            <a:avLst/>
          </a:prstGeom>
          <a:noFill/>
          <a:ln/>
        </p:spPr>
        <p:txBody>
          <a:bodyPr wrap="square" lIns="0" tIns="0" rIns="0" bIns="0" rtlCol="0" anchor="ctr"/>
          <a:lstStyle/>
          <a:p>
            <a:pPr marL="0" indent="0">
              <a:buNone/>
            </a:pPr>
            <a:r>
              <a:rPr lang="en-US" sz="750" b="1" dirty="0">
                <a:solidFill>
                  <a:srgbClr val="06474F"/>
                </a:solidFill>
                <a:latin typeface="Calibri" pitchFamily="34" charset="0"/>
                <a:ea typeface="Calibri" pitchFamily="34" charset="-122"/>
                <a:cs typeface="Calibri" pitchFamily="34" charset="-120"/>
              </a:rPr>
              <a:t>P1</a:t>
            </a:r>
            <a:endParaRPr lang="en-US" sz="750" dirty="0"/>
          </a:p>
        </p:txBody>
      </p:sp>
      <p:sp>
        <p:nvSpPr>
          <p:cNvPr id="65" name="Text 63"/>
          <p:cNvSpPr/>
          <p:nvPr/>
        </p:nvSpPr>
        <p:spPr>
          <a:xfrm>
            <a:off x="877824" y="3369564"/>
            <a:ext cx="3703320" cy="169164"/>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Student code-only login + scoped session (R04)</a:t>
            </a:r>
            <a:endParaRPr lang="en-US" sz="800" dirty="0"/>
          </a:p>
        </p:txBody>
      </p:sp>
      <p:sp>
        <p:nvSpPr>
          <p:cNvPr id="66" name="Text 64"/>
          <p:cNvSpPr/>
          <p:nvPr/>
        </p:nvSpPr>
        <p:spPr>
          <a:xfrm>
            <a:off x="4206240" y="3369564"/>
            <a:ext cx="566928" cy="169164"/>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4 h</a:t>
            </a:r>
            <a:endParaRPr lang="en-US" sz="800" dirty="0"/>
          </a:p>
        </p:txBody>
      </p:sp>
      <p:sp>
        <p:nvSpPr>
          <p:cNvPr id="67" name="Shape 65"/>
          <p:cNvSpPr/>
          <p:nvPr/>
        </p:nvSpPr>
        <p:spPr>
          <a:xfrm>
            <a:off x="6537960" y="3401568"/>
            <a:ext cx="246888" cy="105156"/>
          </a:xfrm>
          <a:prstGeom prst="roundRect">
            <a:avLst>
              <a:gd name="adj" fmla="val 260870"/>
            </a:avLst>
          </a:prstGeom>
          <a:solidFill>
            <a:srgbClr val="06474F"/>
          </a:solidFill>
          <a:ln w="12700">
            <a:solidFill>
              <a:srgbClr val="06474F"/>
            </a:solidFill>
            <a:prstDash val="solid"/>
          </a:ln>
        </p:spPr>
      </p:sp>
      <p:sp>
        <p:nvSpPr>
          <p:cNvPr id="68" name="Shape 66"/>
          <p:cNvSpPr/>
          <p:nvPr/>
        </p:nvSpPr>
        <p:spPr>
          <a:xfrm>
            <a:off x="548640" y="3538728"/>
            <a:ext cx="11201400" cy="169164"/>
          </a:xfrm>
          <a:prstGeom prst="rect">
            <a:avLst/>
          </a:prstGeom>
          <a:solidFill>
            <a:srgbClr val="F7FAFA"/>
          </a:solidFill>
          <a:ln w="12700">
            <a:solidFill>
              <a:srgbClr val="F7FAFA"/>
            </a:solidFill>
            <a:prstDash val="solid"/>
          </a:ln>
        </p:spPr>
      </p:sp>
      <p:sp>
        <p:nvSpPr>
          <p:cNvPr id="69" name="Text 67"/>
          <p:cNvSpPr/>
          <p:nvPr/>
        </p:nvSpPr>
        <p:spPr>
          <a:xfrm>
            <a:off x="548640" y="3538728"/>
            <a:ext cx="320040" cy="169164"/>
          </a:xfrm>
          <a:prstGeom prst="rect">
            <a:avLst/>
          </a:prstGeom>
          <a:noFill/>
          <a:ln/>
        </p:spPr>
        <p:txBody>
          <a:bodyPr wrap="square" lIns="0" tIns="0" rIns="0" bIns="0" rtlCol="0" anchor="ctr"/>
          <a:lstStyle/>
          <a:p>
            <a:pPr marL="0" indent="0">
              <a:buNone/>
            </a:pPr>
            <a:r>
              <a:rPr lang="en-US" sz="750" b="1" dirty="0">
                <a:solidFill>
                  <a:srgbClr val="06474F"/>
                </a:solidFill>
                <a:latin typeface="Calibri" pitchFamily="34" charset="0"/>
                <a:ea typeface="Calibri" pitchFamily="34" charset="-122"/>
                <a:cs typeface="Calibri" pitchFamily="34" charset="-120"/>
              </a:rPr>
              <a:t>P1</a:t>
            </a:r>
            <a:endParaRPr lang="en-US" sz="750" dirty="0"/>
          </a:p>
        </p:txBody>
      </p:sp>
      <p:sp>
        <p:nvSpPr>
          <p:cNvPr id="70" name="Text 68"/>
          <p:cNvSpPr/>
          <p:nvPr/>
        </p:nvSpPr>
        <p:spPr>
          <a:xfrm>
            <a:off x="877824" y="3538728"/>
            <a:ext cx="3703320" cy="169164"/>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Middleware chain, rate limit, error handler (R14-R16)</a:t>
            </a:r>
            <a:endParaRPr lang="en-US" sz="800" dirty="0"/>
          </a:p>
        </p:txBody>
      </p:sp>
      <p:sp>
        <p:nvSpPr>
          <p:cNvPr id="71" name="Text 69"/>
          <p:cNvSpPr/>
          <p:nvPr/>
        </p:nvSpPr>
        <p:spPr>
          <a:xfrm>
            <a:off x="4206240" y="3538728"/>
            <a:ext cx="566928" cy="169164"/>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7 h</a:t>
            </a:r>
            <a:endParaRPr lang="en-US" sz="800" dirty="0"/>
          </a:p>
        </p:txBody>
      </p:sp>
      <p:sp>
        <p:nvSpPr>
          <p:cNvPr id="72" name="Shape 70"/>
          <p:cNvSpPr/>
          <p:nvPr/>
        </p:nvSpPr>
        <p:spPr>
          <a:xfrm>
            <a:off x="6812280" y="3570732"/>
            <a:ext cx="521208" cy="105156"/>
          </a:xfrm>
          <a:prstGeom prst="roundRect">
            <a:avLst>
              <a:gd name="adj" fmla="val 260870"/>
            </a:avLst>
          </a:prstGeom>
          <a:solidFill>
            <a:srgbClr val="06474F"/>
          </a:solidFill>
          <a:ln w="12700">
            <a:solidFill>
              <a:srgbClr val="06474F"/>
            </a:solidFill>
            <a:prstDash val="solid"/>
          </a:ln>
        </p:spPr>
      </p:sp>
      <p:sp>
        <p:nvSpPr>
          <p:cNvPr id="73" name="Text 71"/>
          <p:cNvSpPr/>
          <p:nvPr/>
        </p:nvSpPr>
        <p:spPr>
          <a:xfrm>
            <a:off x="548640" y="3707892"/>
            <a:ext cx="320040" cy="169164"/>
          </a:xfrm>
          <a:prstGeom prst="rect">
            <a:avLst/>
          </a:prstGeom>
          <a:noFill/>
          <a:ln/>
        </p:spPr>
        <p:txBody>
          <a:bodyPr wrap="square" lIns="0" tIns="0" rIns="0" bIns="0" rtlCol="0" anchor="ctr"/>
          <a:lstStyle/>
          <a:p>
            <a:pPr marL="0" indent="0">
              <a:buNone/>
            </a:pPr>
            <a:r>
              <a:rPr lang="en-US" sz="750" b="1" dirty="0">
                <a:solidFill>
                  <a:srgbClr val="06474F"/>
                </a:solidFill>
                <a:latin typeface="Calibri" pitchFamily="34" charset="0"/>
                <a:ea typeface="Calibri" pitchFamily="34" charset="-122"/>
                <a:cs typeface="Calibri" pitchFamily="34" charset="-120"/>
              </a:rPr>
              <a:t>P1</a:t>
            </a:r>
            <a:endParaRPr lang="en-US" sz="750" dirty="0"/>
          </a:p>
        </p:txBody>
      </p:sp>
      <p:sp>
        <p:nvSpPr>
          <p:cNvPr id="74" name="Text 72"/>
          <p:cNvSpPr/>
          <p:nvPr/>
        </p:nvSpPr>
        <p:spPr>
          <a:xfrm>
            <a:off x="877824" y="3707892"/>
            <a:ext cx="3703320" cy="169164"/>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AuthContext, ProtectedRoute, RoleRoute, nav filter (R11-R13)</a:t>
            </a:r>
            <a:endParaRPr lang="en-US" sz="800" dirty="0"/>
          </a:p>
        </p:txBody>
      </p:sp>
      <p:sp>
        <p:nvSpPr>
          <p:cNvPr id="75" name="Text 73"/>
          <p:cNvSpPr/>
          <p:nvPr/>
        </p:nvSpPr>
        <p:spPr>
          <a:xfrm>
            <a:off x="4206240" y="3707892"/>
            <a:ext cx="566928" cy="169164"/>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6 h</a:t>
            </a:r>
            <a:endParaRPr lang="en-US" sz="800" dirty="0"/>
          </a:p>
        </p:txBody>
      </p:sp>
      <p:sp>
        <p:nvSpPr>
          <p:cNvPr id="76" name="Shape 74"/>
          <p:cNvSpPr/>
          <p:nvPr/>
        </p:nvSpPr>
        <p:spPr>
          <a:xfrm>
            <a:off x="7086600" y="3739896"/>
            <a:ext cx="521208" cy="105156"/>
          </a:xfrm>
          <a:prstGeom prst="roundRect">
            <a:avLst>
              <a:gd name="adj" fmla="val 260870"/>
            </a:avLst>
          </a:prstGeom>
          <a:solidFill>
            <a:srgbClr val="06474F"/>
          </a:solidFill>
          <a:ln w="12700">
            <a:solidFill>
              <a:srgbClr val="06474F"/>
            </a:solidFill>
            <a:prstDash val="solid"/>
          </a:ln>
        </p:spPr>
      </p:sp>
      <p:sp>
        <p:nvSpPr>
          <p:cNvPr id="77" name="Shape 75"/>
          <p:cNvSpPr/>
          <p:nvPr/>
        </p:nvSpPr>
        <p:spPr>
          <a:xfrm>
            <a:off x="548640" y="3877056"/>
            <a:ext cx="11201400" cy="169164"/>
          </a:xfrm>
          <a:prstGeom prst="rect">
            <a:avLst/>
          </a:prstGeom>
          <a:solidFill>
            <a:srgbClr val="F7FAFA"/>
          </a:solidFill>
          <a:ln w="12700">
            <a:solidFill>
              <a:srgbClr val="F7FAFA"/>
            </a:solidFill>
            <a:prstDash val="solid"/>
          </a:ln>
        </p:spPr>
      </p:sp>
      <p:sp>
        <p:nvSpPr>
          <p:cNvPr id="78" name="Text 76"/>
          <p:cNvSpPr/>
          <p:nvPr/>
        </p:nvSpPr>
        <p:spPr>
          <a:xfrm>
            <a:off x="548640" y="3877056"/>
            <a:ext cx="320040" cy="169164"/>
          </a:xfrm>
          <a:prstGeom prst="rect">
            <a:avLst/>
          </a:prstGeom>
          <a:noFill/>
          <a:ln/>
        </p:spPr>
        <p:txBody>
          <a:bodyPr wrap="square" lIns="0" tIns="0" rIns="0" bIns="0" rtlCol="0" anchor="ctr"/>
          <a:lstStyle/>
          <a:p>
            <a:pPr marL="0" indent="0">
              <a:buNone/>
            </a:pPr>
            <a:r>
              <a:rPr lang="en-US" sz="750" b="1" dirty="0">
                <a:solidFill>
                  <a:srgbClr val="00A896"/>
                </a:solidFill>
                <a:latin typeface="Calibri" pitchFamily="34" charset="0"/>
                <a:ea typeface="Calibri" pitchFamily="34" charset="-122"/>
                <a:cs typeface="Calibri" pitchFamily="34" charset="-120"/>
              </a:rPr>
              <a:t>P2</a:t>
            </a:r>
            <a:endParaRPr lang="en-US" sz="750" dirty="0"/>
          </a:p>
        </p:txBody>
      </p:sp>
      <p:sp>
        <p:nvSpPr>
          <p:cNvPr id="79" name="Text 77"/>
          <p:cNvSpPr/>
          <p:nvPr/>
        </p:nvSpPr>
        <p:spPr>
          <a:xfrm>
            <a:off x="877824" y="3877056"/>
            <a:ext cx="3703320" cy="169164"/>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Content schema: modules, tasks, trials, media, config</a:t>
            </a:r>
            <a:endParaRPr lang="en-US" sz="800" dirty="0"/>
          </a:p>
        </p:txBody>
      </p:sp>
      <p:sp>
        <p:nvSpPr>
          <p:cNvPr id="80" name="Text 78"/>
          <p:cNvSpPr/>
          <p:nvPr/>
        </p:nvSpPr>
        <p:spPr>
          <a:xfrm>
            <a:off x="4206240" y="3877056"/>
            <a:ext cx="566928" cy="169164"/>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5 h</a:t>
            </a:r>
            <a:endParaRPr lang="en-US" sz="800" dirty="0"/>
          </a:p>
        </p:txBody>
      </p:sp>
      <p:sp>
        <p:nvSpPr>
          <p:cNvPr id="81" name="Shape 79"/>
          <p:cNvSpPr/>
          <p:nvPr/>
        </p:nvSpPr>
        <p:spPr>
          <a:xfrm>
            <a:off x="7635240" y="3909060"/>
            <a:ext cx="246888" cy="105156"/>
          </a:xfrm>
          <a:prstGeom prst="roundRect">
            <a:avLst>
              <a:gd name="adj" fmla="val 260870"/>
            </a:avLst>
          </a:prstGeom>
          <a:solidFill>
            <a:srgbClr val="00A896"/>
          </a:solidFill>
          <a:ln w="12700">
            <a:solidFill>
              <a:srgbClr val="00A896"/>
            </a:solidFill>
            <a:prstDash val="solid"/>
          </a:ln>
        </p:spPr>
      </p:sp>
      <p:sp>
        <p:nvSpPr>
          <p:cNvPr id="82" name="Text 80"/>
          <p:cNvSpPr/>
          <p:nvPr/>
        </p:nvSpPr>
        <p:spPr>
          <a:xfrm>
            <a:off x="548640" y="4046220"/>
            <a:ext cx="320040" cy="169164"/>
          </a:xfrm>
          <a:prstGeom prst="rect">
            <a:avLst/>
          </a:prstGeom>
          <a:noFill/>
          <a:ln/>
        </p:spPr>
        <p:txBody>
          <a:bodyPr wrap="square" lIns="0" tIns="0" rIns="0" bIns="0" rtlCol="0" anchor="ctr"/>
          <a:lstStyle/>
          <a:p>
            <a:pPr marL="0" indent="0">
              <a:buNone/>
            </a:pPr>
            <a:r>
              <a:rPr lang="en-US" sz="750" b="1" dirty="0">
                <a:solidFill>
                  <a:srgbClr val="B4453C"/>
                </a:solidFill>
                <a:latin typeface="Calibri" pitchFamily="34" charset="0"/>
                <a:ea typeface="Calibri" pitchFamily="34" charset="-122"/>
                <a:cs typeface="Calibri" pitchFamily="34" charset="-120"/>
              </a:rPr>
              <a:t>P2</a:t>
            </a:r>
            <a:endParaRPr lang="en-US" sz="750" dirty="0"/>
          </a:p>
        </p:txBody>
      </p:sp>
      <p:sp>
        <p:nvSpPr>
          <p:cNvPr id="83" name="Text 81"/>
          <p:cNvSpPr/>
          <p:nvPr/>
        </p:nvSpPr>
        <p:spPr>
          <a:xfrm>
            <a:off x="877824" y="4046220"/>
            <a:ext cx="3703320" cy="169164"/>
          </a:xfrm>
          <a:prstGeom prst="rect">
            <a:avLst/>
          </a:prstGeom>
          <a:noFill/>
          <a:ln/>
        </p:spPr>
        <p:txBody>
          <a:bodyPr wrap="square" lIns="0" tIns="0" rIns="0" bIns="0" rtlCol="0" anchor="ctr"/>
          <a:lstStyle/>
          <a:p>
            <a:pPr marL="0" indent="0">
              <a:buNone/>
            </a:pPr>
            <a:r>
              <a:rPr lang="en-US" sz="800" b="1" dirty="0">
                <a:solidFill>
                  <a:srgbClr val="B4453C"/>
                </a:solidFill>
                <a:latin typeface="Calibri" pitchFamily="34" charset="0"/>
                <a:ea typeface="Calibri" pitchFamily="34" charset="-122"/>
                <a:cs typeface="Calibri" pitchFamily="34" charset="-120"/>
              </a:rPr>
              <a:t>CSV survey - map all 11 task-type column sets  [RISK 1]</a:t>
            </a:r>
            <a:endParaRPr lang="en-US" sz="800" dirty="0"/>
          </a:p>
        </p:txBody>
      </p:sp>
      <p:sp>
        <p:nvSpPr>
          <p:cNvPr id="84" name="Text 82"/>
          <p:cNvSpPr/>
          <p:nvPr/>
        </p:nvSpPr>
        <p:spPr>
          <a:xfrm>
            <a:off x="4206240" y="4046220"/>
            <a:ext cx="566928" cy="169164"/>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8 h</a:t>
            </a:r>
            <a:endParaRPr lang="en-US" sz="800" dirty="0"/>
          </a:p>
        </p:txBody>
      </p:sp>
      <p:sp>
        <p:nvSpPr>
          <p:cNvPr id="85" name="Shape 83"/>
          <p:cNvSpPr/>
          <p:nvPr/>
        </p:nvSpPr>
        <p:spPr>
          <a:xfrm>
            <a:off x="7635240" y="4078224"/>
            <a:ext cx="521208" cy="105156"/>
          </a:xfrm>
          <a:prstGeom prst="roundRect">
            <a:avLst>
              <a:gd name="adj" fmla="val 260870"/>
            </a:avLst>
          </a:prstGeom>
          <a:solidFill>
            <a:srgbClr val="B4453C"/>
          </a:solidFill>
          <a:ln w="12700">
            <a:solidFill>
              <a:srgbClr val="B4453C"/>
            </a:solidFill>
            <a:prstDash val="solid"/>
          </a:ln>
        </p:spPr>
      </p:sp>
      <p:sp>
        <p:nvSpPr>
          <p:cNvPr id="86" name="Shape 84"/>
          <p:cNvSpPr/>
          <p:nvPr/>
        </p:nvSpPr>
        <p:spPr>
          <a:xfrm>
            <a:off x="548640" y="4215384"/>
            <a:ext cx="11201400" cy="169164"/>
          </a:xfrm>
          <a:prstGeom prst="rect">
            <a:avLst/>
          </a:prstGeom>
          <a:solidFill>
            <a:srgbClr val="F7FAFA"/>
          </a:solidFill>
          <a:ln w="12700">
            <a:solidFill>
              <a:srgbClr val="F7FAFA"/>
            </a:solidFill>
            <a:prstDash val="solid"/>
          </a:ln>
        </p:spPr>
      </p:sp>
      <p:sp>
        <p:nvSpPr>
          <p:cNvPr id="87" name="Text 85"/>
          <p:cNvSpPr/>
          <p:nvPr/>
        </p:nvSpPr>
        <p:spPr>
          <a:xfrm>
            <a:off x="548640" y="4215384"/>
            <a:ext cx="320040" cy="169164"/>
          </a:xfrm>
          <a:prstGeom prst="rect">
            <a:avLst/>
          </a:prstGeom>
          <a:noFill/>
          <a:ln/>
        </p:spPr>
        <p:txBody>
          <a:bodyPr wrap="square" lIns="0" tIns="0" rIns="0" bIns="0" rtlCol="0" anchor="ctr"/>
          <a:lstStyle/>
          <a:p>
            <a:pPr marL="0" indent="0">
              <a:buNone/>
            </a:pPr>
            <a:r>
              <a:rPr lang="en-US" sz="750" b="1" dirty="0">
                <a:solidFill>
                  <a:srgbClr val="00A896"/>
                </a:solidFill>
                <a:latin typeface="Calibri" pitchFamily="34" charset="0"/>
                <a:ea typeface="Calibri" pitchFamily="34" charset="-122"/>
                <a:cs typeface="Calibri" pitchFamily="34" charset="-120"/>
              </a:rPr>
              <a:t>P2</a:t>
            </a:r>
            <a:endParaRPr lang="en-US" sz="750" dirty="0"/>
          </a:p>
        </p:txBody>
      </p:sp>
      <p:sp>
        <p:nvSpPr>
          <p:cNvPr id="88" name="Text 86"/>
          <p:cNvSpPr/>
          <p:nvPr/>
        </p:nvSpPr>
        <p:spPr>
          <a:xfrm>
            <a:off x="877824" y="4215384"/>
            <a:ext cx="3703320" cy="169164"/>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CSV parser + normaliser onto one trial model (TR07)</a:t>
            </a:r>
            <a:endParaRPr lang="en-US" sz="800" dirty="0"/>
          </a:p>
        </p:txBody>
      </p:sp>
      <p:sp>
        <p:nvSpPr>
          <p:cNvPr id="89" name="Text 87"/>
          <p:cNvSpPr/>
          <p:nvPr/>
        </p:nvSpPr>
        <p:spPr>
          <a:xfrm>
            <a:off x="4206240" y="4215384"/>
            <a:ext cx="566928" cy="169164"/>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12 h</a:t>
            </a:r>
            <a:endParaRPr lang="en-US" sz="800" dirty="0"/>
          </a:p>
        </p:txBody>
      </p:sp>
      <p:sp>
        <p:nvSpPr>
          <p:cNvPr id="90" name="Shape 88"/>
          <p:cNvSpPr/>
          <p:nvPr/>
        </p:nvSpPr>
        <p:spPr>
          <a:xfrm>
            <a:off x="8183880" y="4247388"/>
            <a:ext cx="795528" cy="105156"/>
          </a:xfrm>
          <a:prstGeom prst="roundRect">
            <a:avLst>
              <a:gd name="adj" fmla="val 260870"/>
            </a:avLst>
          </a:prstGeom>
          <a:solidFill>
            <a:srgbClr val="00A896"/>
          </a:solidFill>
          <a:ln w="12700">
            <a:solidFill>
              <a:srgbClr val="00A896"/>
            </a:solidFill>
            <a:prstDash val="solid"/>
          </a:ln>
        </p:spPr>
      </p:sp>
      <p:sp>
        <p:nvSpPr>
          <p:cNvPr id="91" name="Text 89"/>
          <p:cNvSpPr/>
          <p:nvPr/>
        </p:nvSpPr>
        <p:spPr>
          <a:xfrm>
            <a:off x="548640" y="4384548"/>
            <a:ext cx="320040" cy="169164"/>
          </a:xfrm>
          <a:prstGeom prst="rect">
            <a:avLst/>
          </a:prstGeom>
          <a:noFill/>
          <a:ln/>
        </p:spPr>
        <p:txBody>
          <a:bodyPr wrap="square" lIns="0" tIns="0" rIns="0" bIns="0" rtlCol="0" anchor="ctr"/>
          <a:lstStyle/>
          <a:p>
            <a:pPr marL="0" indent="0">
              <a:buNone/>
            </a:pPr>
            <a:r>
              <a:rPr lang="en-US" sz="750" b="1" dirty="0">
                <a:solidFill>
                  <a:srgbClr val="00A896"/>
                </a:solidFill>
                <a:latin typeface="Calibri" pitchFamily="34" charset="0"/>
                <a:ea typeface="Calibri" pitchFamily="34" charset="-122"/>
                <a:cs typeface="Calibri" pitchFamily="34" charset="-120"/>
              </a:rPr>
              <a:t>P2</a:t>
            </a:r>
            <a:endParaRPr lang="en-US" sz="750" dirty="0"/>
          </a:p>
        </p:txBody>
      </p:sp>
      <p:sp>
        <p:nvSpPr>
          <p:cNvPr id="92" name="Text 90"/>
          <p:cNvSpPr/>
          <p:nvPr/>
        </p:nvSpPr>
        <p:spPr>
          <a:xfrm>
            <a:off x="877824" y="4384548"/>
            <a:ext cx="3703320" cy="169164"/>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Validator: assets exist, correct option, known type</a:t>
            </a:r>
            <a:endParaRPr lang="en-US" sz="800" dirty="0"/>
          </a:p>
        </p:txBody>
      </p:sp>
      <p:sp>
        <p:nvSpPr>
          <p:cNvPr id="93" name="Text 91"/>
          <p:cNvSpPr/>
          <p:nvPr/>
        </p:nvSpPr>
        <p:spPr>
          <a:xfrm>
            <a:off x="4206240" y="4384548"/>
            <a:ext cx="566928" cy="169164"/>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6 h</a:t>
            </a:r>
            <a:endParaRPr lang="en-US" sz="800" dirty="0"/>
          </a:p>
        </p:txBody>
      </p:sp>
      <p:sp>
        <p:nvSpPr>
          <p:cNvPr id="94" name="Shape 92"/>
          <p:cNvSpPr/>
          <p:nvPr/>
        </p:nvSpPr>
        <p:spPr>
          <a:xfrm>
            <a:off x="8732520" y="4416552"/>
            <a:ext cx="521208" cy="105156"/>
          </a:xfrm>
          <a:prstGeom prst="roundRect">
            <a:avLst>
              <a:gd name="adj" fmla="val 260870"/>
            </a:avLst>
          </a:prstGeom>
          <a:solidFill>
            <a:srgbClr val="00A896"/>
          </a:solidFill>
          <a:ln w="12700">
            <a:solidFill>
              <a:srgbClr val="00A896"/>
            </a:solidFill>
            <a:prstDash val="solid"/>
          </a:ln>
        </p:spPr>
      </p:sp>
      <p:sp>
        <p:nvSpPr>
          <p:cNvPr id="95" name="Shape 93"/>
          <p:cNvSpPr/>
          <p:nvPr/>
        </p:nvSpPr>
        <p:spPr>
          <a:xfrm>
            <a:off x="548640" y="4553712"/>
            <a:ext cx="11201400" cy="169164"/>
          </a:xfrm>
          <a:prstGeom prst="rect">
            <a:avLst/>
          </a:prstGeom>
          <a:solidFill>
            <a:srgbClr val="F7FAFA"/>
          </a:solidFill>
          <a:ln w="12700">
            <a:solidFill>
              <a:srgbClr val="F7FAFA"/>
            </a:solidFill>
            <a:prstDash val="solid"/>
          </a:ln>
        </p:spPr>
      </p:sp>
      <p:sp>
        <p:nvSpPr>
          <p:cNvPr id="96" name="Text 94"/>
          <p:cNvSpPr/>
          <p:nvPr/>
        </p:nvSpPr>
        <p:spPr>
          <a:xfrm>
            <a:off x="548640" y="4553712"/>
            <a:ext cx="320040" cy="169164"/>
          </a:xfrm>
          <a:prstGeom prst="rect">
            <a:avLst/>
          </a:prstGeom>
          <a:noFill/>
          <a:ln/>
        </p:spPr>
        <p:txBody>
          <a:bodyPr wrap="square" lIns="0" tIns="0" rIns="0" bIns="0" rtlCol="0" anchor="ctr"/>
          <a:lstStyle/>
          <a:p>
            <a:pPr marL="0" indent="0">
              <a:buNone/>
            </a:pPr>
            <a:r>
              <a:rPr lang="en-US" sz="750" b="1" dirty="0">
                <a:solidFill>
                  <a:srgbClr val="00A896"/>
                </a:solidFill>
                <a:latin typeface="Calibri" pitchFamily="34" charset="0"/>
                <a:ea typeface="Calibri" pitchFamily="34" charset="-122"/>
                <a:cs typeface="Calibri" pitchFamily="34" charset="-120"/>
              </a:rPr>
              <a:t>P2</a:t>
            </a:r>
            <a:endParaRPr lang="en-US" sz="750" dirty="0"/>
          </a:p>
        </p:txBody>
      </p:sp>
      <p:sp>
        <p:nvSpPr>
          <p:cNvPr id="97" name="Text 95"/>
          <p:cNvSpPr/>
          <p:nvPr/>
        </p:nvSpPr>
        <p:spPr>
          <a:xfrm>
            <a:off x="877824" y="4553712"/>
            <a:ext cx="3703320" cy="169164"/>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Content versioning, publish, import report (R42)</a:t>
            </a:r>
            <a:endParaRPr lang="en-US" sz="800" dirty="0"/>
          </a:p>
        </p:txBody>
      </p:sp>
      <p:sp>
        <p:nvSpPr>
          <p:cNvPr id="98" name="Text 96"/>
          <p:cNvSpPr/>
          <p:nvPr/>
        </p:nvSpPr>
        <p:spPr>
          <a:xfrm>
            <a:off x="4206240" y="4553712"/>
            <a:ext cx="566928" cy="169164"/>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6 h</a:t>
            </a:r>
            <a:endParaRPr lang="en-US" sz="800" dirty="0"/>
          </a:p>
        </p:txBody>
      </p:sp>
      <p:sp>
        <p:nvSpPr>
          <p:cNvPr id="99" name="Shape 97"/>
          <p:cNvSpPr/>
          <p:nvPr/>
        </p:nvSpPr>
        <p:spPr>
          <a:xfrm>
            <a:off x="9006840" y="4585716"/>
            <a:ext cx="521208" cy="105156"/>
          </a:xfrm>
          <a:prstGeom prst="roundRect">
            <a:avLst>
              <a:gd name="adj" fmla="val 260870"/>
            </a:avLst>
          </a:prstGeom>
          <a:solidFill>
            <a:srgbClr val="00A896"/>
          </a:solidFill>
          <a:ln w="12700">
            <a:solidFill>
              <a:srgbClr val="00A896"/>
            </a:solidFill>
            <a:prstDash val="solid"/>
          </a:ln>
        </p:spPr>
      </p:sp>
      <p:sp>
        <p:nvSpPr>
          <p:cNvPr id="100" name="Text 98"/>
          <p:cNvSpPr/>
          <p:nvPr/>
        </p:nvSpPr>
        <p:spPr>
          <a:xfrm>
            <a:off x="548640" y="4722876"/>
            <a:ext cx="320040" cy="169164"/>
          </a:xfrm>
          <a:prstGeom prst="rect">
            <a:avLst/>
          </a:prstGeom>
          <a:noFill/>
          <a:ln/>
        </p:spPr>
        <p:txBody>
          <a:bodyPr wrap="square" lIns="0" tIns="0" rIns="0" bIns="0" rtlCol="0" anchor="ctr"/>
          <a:lstStyle/>
          <a:p>
            <a:pPr marL="0" indent="0">
              <a:buNone/>
            </a:pPr>
            <a:r>
              <a:rPr lang="en-US" sz="750" b="1" dirty="0">
                <a:solidFill>
                  <a:srgbClr val="00A896"/>
                </a:solidFill>
                <a:latin typeface="Calibri" pitchFamily="34" charset="0"/>
                <a:ea typeface="Calibri" pitchFamily="34" charset="-122"/>
                <a:cs typeface="Calibri" pitchFamily="34" charset="-120"/>
              </a:rPr>
              <a:t>P2</a:t>
            </a:r>
            <a:endParaRPr lang="en-US" sz="750" dirty="0"/>
          </a:p>
        </p:txBody>
      </p:sp>
      <p:sp>
        <p:nvSpPr>
          <p:cNvPr id="101" name="Text 99"/>
          <p:cNvSpPr/>
          <p:nvPr/>
        </p:nvSpPr>
        <p:spPr>
          <a:xfrm>
            <a:off x="877824" y="4722876"/>
            <a:ext cx="3703320" cy="169164"/>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Admin content-import page + upload (R09)</a:t>
            </a:r>
            <a:endParaRPr lang="en-US" sz="800" dirty="0"/>
          </a:p>
        </p:txBody>
      </p:sp>
      <p:sp>
        <p:nvSpPr>
          <p:cNvPr id="102" name="Text 100"/>
          <p:cNvSpPr/>
          <p:nvPr/>
        </p:nvSpPr>
        <p:spPr>
          <a:xfrm>
            <a:off x="4206240" y="4722876"/>
            <a:ext cx="566928" cy="169164"/>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5 h</a:t>
            </a:r>
            <a:endParaRPr lang="en-US" sz="800" dirty="0"/>
          </a:p>
        </p:txBody>
      </p:sp>
      <p:sp>
        <p:nvSpPr>
          <p:cNvPr id="103" name="Shape 101"/>
          <p:cNvSpPr/>
          <p:nvPr/>
        </p:nvSpPr>
        <p:spPr>
          <a:xfrm>
            <a:off x="9281160" y="4754880"/>
            <a:ext cx="521208" cy="105156"/>
          </a:xfrm>
          <a:prstGeom prst="roundRect">
            <a:avLst>
              <a:gd name="adj" fmla="val 260870"/>
            </a:avLst>
          </a:prstGeom>
          <a:solidFill>
            <a:srgbClr val="00A896"/>
          </a:solidFill>
          <a:ln w="12700">
            <a:solidFill>
              <a:srgbClr val="00A896"/>
            </a:solidFill>
            <a:prstDash val="solid"/>
          </a:ln>
        </p:spPr>
      </p:sp>
      <p:sp>
        <p:nvSpPr>
          <p:cNvPr id="104" name="Shape 102"/>
          <p:cNvSpPr/>
          <p:nvPr/>
        </p:nvSpPr>
        <p:spPr>
          <a:xfrm>
            <a:off x="548640" y="4892040"/>
            <a:ext cx="11201400" cy="169164"/>
          </a:xfrm>
          <a:prstGeom prst="rect">
            <a:avLst/>
          </a:prstGeom>
          <a:solidFill>
            <a:srgbClr val="F7FAFA"/>
          </a:solidFill>
          <a:ln w="12700">
            <a:solidFill>
              <a:srgbClr val="F7FAFA"/>
            </a:solidFill>
            <a:prstDash val="solid"/>
          </a:ln>
        </p:spPr>
      </p:sp>
      <p:sp>
        <p:nvSpPr>
          <p:cNvPr id="105" name="Text 103"/>
          <p:cNvSpPr/>
          <p:nvPr/>
        </p:nvSpPr>
        <p:spPr>
          <a:xfrm>
            <a:off x="548640" y="4892040"/>
            <a:ext cx="320040" cy="169164"/>
          </a:xfrm>
          <a:prstGeom prst="rect">
            <a:avLst/>
          </a:prstGeom>
          <a:noFill/>
          <a:ln/>
        </p:spPr>
        <p:txBody>
          <a:bodyPr wrap="square" lIns="0" tIns="0" rIns="0" bIns="0" rtlCol="0" anchor="ctr"/>
          <a:lstStyle/>
          <a:p>
            <a:pPr marL="0" indent="0">
              <a:buNone/>
            </a:pPr>
            <a:r>
              <a:rPr lang="en-US" sz="750" b="1" dirty="0">
                <a:solidFill>
                  <a:srgbClr val="E08A3C"/>
                </a:solidFill>
                <a:latin typeface="Calibri" pitchFamily="34" charset="0"/>
                <a:ea typeface="Calibri" pitchFamily="34" charset="-122"/>
                <a:cs typeface="Calibri" pitchFamily="34" charset="-120"/>
              </a:rPr>
              <a:t>P3</a:t>
            </a:r>
            <a:endParaRPr lang="en-US" sz="750" dirty="0"/>
          </a:p>
        </p:txBody>
      </p:sp>
      <p:sp>
        <p:nvSpPr>
          <p:cNvPr id="106" name="Text 104"/>
          <p:cNvSpPr/>
          <p:nvPr/>
        </p:nvSpPr>
        <p:spPr>
          <a:xfrm>
            <a:off x="877824" y="4892040"/>
            <a:ext cx="3703320" cy="169164"/>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Content delivery endpoints for the player (R20)</a:t>
            </a:r>
            <a:endParaRPr lang="en-US" sz="800" dirty="0"/>
          </a:p>
        </p:txBody>
      </p:sp>
      <p:sp>
        <p:nvSpPr>
          <p:cNvPr id="107" name="Text 105"/>
          <p:cNvSpPr/>
          <p:nvPr/>
        </p:nvSpPr>
        <p:spPr>
          <a:xfrm>
            <a:off x="4206240" y="4892040"/>
            <a:ext cx="566928" cy="169164"/>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4 h</a:t>
            </a:r>
            <a:endParaRPr lang="en-US" sz="800" dirty="0"/>
          </a:p>
        </p:txBody>
      </p:sp>
      <p:sp>
        <p:nvSpPr>
          <p:cNvPr id="108" name="Shape 106"/>
          <p:cNvSpPr/>
          <p:nvPr/>
        </p:nvSpPr>
        <p:spPr>
          <a:xfrm>
            <a:off x="9829800" y="4924044"/>
            <a:ext cx="246888" cy="105156"/>
          </a:xfrm>
          <a:prstGeom prst="roundRect">
            <a:avLst>
              <a:gd name="adj" fmla="val 260870"/>
            </a:avLst>
          </a:prstGeom>
          <a:solidFill>
            <a:srgbClr val="E08A3C"/>
          </a:solidFill>
          <a:ln w="12700">
            <a:solidFill>
              <a:srgbClr val="E08A3C"/>
            </a:solidFill>
            <a:prstDash val="solid"/>
          </a:ln>
        </p:spPr>
      </p:sp>
      <p:sp>
        <p:nvSpPr>
          <p:cNvPr id="109" name="Text 107"/>
          <p:cNvSpPr/>
          <p:nvPr/>
        </p:nvSpPr>
        <p:spPr>
          <a:xfrm>
            <a:off x="548640" y="5061204"/>
            <a:ext cx="320040" cy="169164"/>
          </a:xfrm>
          <a:prstGeom prst="rect">
            <a:avLst/>
          </a:prstGeom>
          <a:noFill/>
          <a:ln/>
        </p:spPr>
        <p:txBody>
          <a:bodyPr wrap="square" lIns="0" tIns="0" rIns="0" bIns="0" rtlCol="0" anchor="ctr"/>
          <a:lstStyle/>
          <a:p>
            <a:pPr marL="0" indent="0">
              <a:buNone/>
            </a:pPr>
            <a:r>
              <a:rPr lang="en-US" sz="750" b="1" dirty="0">
                <a:solidFill>
                  <a:srgbClr val="E08A3C"/>
                </a:solidFill>
                <a:latin typeface="Calibri" pitchFamily="34" charset="0"/>
                <a:ea typeface="Calibri" pitchFamily="34" charset="-122"/>
                <a:cs typeface="Calibri" pitchFamily="34" charset="-120"/>
              </a:rPr>
              <a:t>P3</a:t>
            </a:r>
            <a:endParaRPr lang="en-US" sz="750" dirty="0"/>
          </a:p>
        </p:txBody>
      </p:sp>
      <p:sp>
        <p:nvSpPr>
          <p:cNvPr id="110" name="Text 108"/>
          <p:cNvSpPr/>
          <p:nvPr/>
        </p:nvSpPr>
        <p:spPr>
          <a:xfrm>
            <a:off x="877824" y="5061204"/>
            <a:ext cx="3703320" cy="169164"/>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Media controller: authorised serving, signed URLs (NFR13)</a:t>
            </a:r>
            <a:endParaRPr lang="en-US" sz="800" dirty="0"/>
          </a:p>
        </p:txBody>
      </p:sp>
      <p:sp>
        <p:nvSpPr>
          <p:cNvPr id="111" name="Text 109"/>
          <p:cNvSpPr/>
          <p:nvPr/>
        </p:nvSpPr>
        <p:spPr>
          <a:xfrm>
            <a:off x="4206240" y="5061204"/>
            <a:ext cx="566928" cy="169164"/>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5 h</a:t>
            </a:r>
            <a:endParaRPr lang="en-US" sz="800" dirty="0"/>
          </a:p>
        </p:txBody>
      </p:sp>
      <p:sp>
        <p:nvSpPr>
          <p:cNvPr id="112" name="Shape 110"/>
          <p:cNvSpPr/>
          <p:nvPr/>
        </p:nvSpPr>
        <p:spPr>
          <a:xfrm>
            <a:off x="9829800" y="5093208"/>
            <a:ext cx="521208" cy="105156"/>
          </a:xfrm>
          <a:prstGeom prst="roundRect">
            <a:avLst>
              <a:gd name="adj" fmla="val 260870"/>
            </a:avLst>
          </a:prstGeom>
          <a:solidFill>
            <a:srgbClr val="E08A3C"/>
          </a:solidFill>
          <a:ln w="12700">
            <a:solidFill>
              <a:srgbClr val="E08A3C"/>
            </a:solidFill>
            <a:prstDash val="solid"/>
          </a:ln>
        </p:spPr>
      </p:sp>
      <p:sp>
        <p:nvSpPr>
          <p:cNvPr id="113" name="Shape 111"/>
          <p:cNvSpPr/>
          <p:nvPr/>
        </p:nvSpPr>
        <p:spPr>
          <a:xfrm>
            <a:off x="548640" y="5230368"/>
            <a:ext cx="11201400" cy="169164"/>
          </a:xfrm>
          <a:prstGeom prst="rect">
            <a:avLst/>
          </a:prstGeom>
          <a:solidFill>
            <a:srgbClr val="F7FAFA"/>
          </a:solidFill>
          <a:ln w="12700">
            <a:solidFill>
              <a:srgbClr val="F7FAFA"/>
            </a:solidFill>
            <a:prstDash val="solid"/>
          </a:ln>
        </p:spPr>
      </p:sp>
      <p:sp>
        <p:nvSpPr>
          <p:cNvPr id="114" name="Text 112"/>
          <p:cNvSpPr/>
          <p:nvPr/>
        </p:nvSpPr>
        <p:spPr>
          <a:xfrm>
            <a:off x="548640" y="5230368"/>
            <a:ext cx="320040" cy="169164"/>
          </a:xfrm>
          <a:prstGeom prst="rect">
            <a:avLst/>
          </a:prstGeom>
          <a:noFill/>
          <a:ln/>
        </p:spPr>
        <p:txBody>
          <a:bodyPr wrap="square" lIns="0" tIns="0" rIns="0" bIns="0" rtlCol="0" anchor="ctr"/>
          <a:lstStyle/>
          <a:p>
            <a:pPr marL="0" indent="0">
              <a:buNone/>
            </a:pPr>
            <a:r>
              <a:rPr lang="en-US" sz="750" b="1" dirty="0">
                <a:solidFill>
                  <a:srgbClr val="E08A3C"/>
                </a:solidFill>
                <a:latin typeface="Calibri" pitchFamily="34" charset="0"/>
                <a:ea typeface="Calibri" pitchFamily="34" charset="-122"/>
                <a:cs typeface="Calibri" pitchFamily="34" charset="-120"/>
              </a:rPr>
              <a:t>P3</a:t>
            </a:r>
            <a:endParaRPr lang="en-US" sz="750" dirty="0"/>
          </a:p>
        </p:txBody>
      </p:sp>
      <p:sp>
        <p:nvSpPr>
          <p:cNvPr id="115" name="Text 113"/>
          <p:cNvSpPr/>
          <p:nvPr/>
        </p:nvSpPr>
        <p:spPr>
          <a:xfrm>
            <a:off x="877824" y="5230368"/>
            <a:ext cx="3703320" cy="169164"/>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Media preload + iPad audio-unlock gate (R29, NFR19)</a:t>
            </a:r>
            <a:endParaRPr lang="en-US" sz="800" dirty="0"/>
          </a:p>
        </p:txBody>
      </p:sp>
      <p:sp>
        <p:nvSpPr>
          <p:cNvPr id="116" name="Text 114"/>
          <p:cNvSpPr/>
          <p:nvPr/>
        </p:nvSpPr>
        <p:spPr>
          <a:xfrm>
            <a:off x="4206240" y="5230368"/>
            <a:ext cx="566928" cy="169164"/>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7 h</a:t>
            </a:r>
            <a:endParaRPr lang="en-US" sz="800" dirty="0"/>
          </a:p>
        </p:txBody>
      </p:sp>
      <p:sp>
        <p:nvSpPr>
          <p:cNvPr id="117" name="Shape 115"/>
          <p:cNvSpPr/>
          <p:nvPr/>
        </p:nvSpPr>
        <p:spPr>
          <a:xfrm>
            <a:off x="10104120" y="5262372"/>
            <a:ext cx="521208" cy="105156"/>
          </a:xfrm>
          <a:prstGeom prst="roundRect">
            <a:avLst>
              <a:gd name="adj" fmla="val 260870"/>
            </a:avLst>
          </a:prstGeom>
          <a:solidFill>
            <a:srgbClr val="E08A3C"/>
          </a:solidFill>
          <a:ln w="12700">
            <a:solidFill>
              <a:srgbClr val="E08A3C"/>
            </a:solidFill>
            <a:prstDash val="solid"/>
          </a:ln>
        </p:spPr>
      </p:sp>
      <p:sp>
        <p:nvSpPr>
          <p:cNvPr id="118" name="Text 116"/>
          <p:cNvSpPr/>
          <p:nvPr/>
        </p:nvSpPr>
        <p:spPr>
          <a:xfrm>
            <a:off x="548640" y="5399532"/>
            <a:ext cx="320040" cy="169164"/>
          </a:xfrm>
          <a:prstGeom prst="rect">
            <a:avLst/>
          </a:prstGeom>
          <a:noFill/>
          <a:ln/>
        </p:spPr>
        <p:txBody>
          <a:bodyPr wrap="square" lIns="0" tIns="0" rIns="0" bIns="0" rtlCol="0" anchor="ctr"/>
          <a:lstStyle/>
          <a:p>
            <a:pPr marL="0" indent="0">
              <a:buNone/>
            </a:pPr>
            <a:r>
              <a:rPr lang="en-US" sz="750" b="1" dirty="0">
                <a:solidFill>
                  <a:srgbClr val="E08A3C"/>
                </a:solidFill>
                <a:latin typeface="Calibri" pitchFamily="34" charset="0"/>
                <a:ea typeface="Calibri" pitchFamily="34" charset="-122"/>
                <a:cs typeface="Calibri" pitchFamily="34" charset="-120"/>
              </a:rPr>
              <a:t>P3</a:t>
            </a:r>
            <a:endParaRPr lang="en-US" sz="750" dirty="0"/>
          </a:p>
        </p:txBody>
      </p:sp>
      <p:sp>
        <p:nvSpPr>
          <p:cNvPr id="119" name="Text 117"/>
          <p:cNvSpPr/>
          <p:nvPr/>
        </p:nvSpPr>
        <p:spPr>
          <a:xfrm>
            <a:off x="877824" y="5399532"/>
            <a:ext cx="3703320" cy="169164"/>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TaskPlayer engine: trial loop, 2 attempts, feedback (R30, R31)</a:t>
            </a:r>
            <a:endParaRPr lang="en-US" sz="800" dirty="0"/>
          </a:p>
        </p:txBody>
      </p:sp>
      <p:sp>
        <p:nvSpPr>
          <p:cNvPr id="120" name="Text 118"/>
          <p:cNvSpPr/>
          <p:nvPr/>
        </p:nvSpPr>
        <p:spPr>
          <a:xfrm>
            <a:off x="4206240" y="5399532"/>
            <a:ext cx="566928" cy="169164"/>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10 h</a:t>
            </a:r>
            <a:endParaRPr lang="en-US" sz="800" dirty="0"/>
          </a:p>
        </p:txBody>
      </p:sp>
      <p:sp>
        <p:nvSpPr>
          <p:cNvPr id="121" name="Shape 119"/>
          <p:cNvSpPr/>
          <p:nvPr/>
        </p:nvSpPr>
        <p:spPr>
          <a:xfrm>
            <a:off x="10378440" y="5431536"/>
            <a:ext cx="795528" cy="105156"/>
          </a:xfrm>
          <a:prstGeom prst="roundRect">
            <a:avLst>
              <a:gd name="adj" fmla="val 260870"/>
            </a:avLst>
          </a:prstGeom>
          <a:solidFill>
            <a:srgbClr val="E08A3C"/>
          </a:solidFill>
          <a:ln w="12700">
            <a:solidFill>
              <a:srgbClr val="E08A3C"/>
            </a:solidFill>
            <a:prstDash val="solid"/>
          </a:ln>
        </p:spPr>
      </p:sp>
      <p:sp>
        <p:nvSpPr>
          <p:cNvPr id="122" name="Shape 120"/>
          <p:cNvSpPr/>
          <p:nvPr/>
        </p:nvSpPr>
        <p:spPr>
          <a:xfrm>
            <a:off x="548640" y="5568696"/>
            <a:ext cx="11201400" cy="169164"/>
          </a:xfrm>
          <a:prstGeom prst="rect">
            <a:avLst/>
          </a:prstGeom>
          <a:solidFill>
            <a:srgbClr val="F7FAFA"/>
          </a:solidFill>
          <a:ln w="12700">
            <a:solidFill>
              <a:srgbClr val="F7FAFA"/>
            </a:solidFill>
            <a:prstDash val="solid"/>
          </a:ln>
        </p:spPr>
      </p:sp>
      <p:sp>
        <p:nvSpPr>
          <p:cNvPr id="123" name="Text 121"/>
          <p:cNvSpPr/>
          <p:nvPr/>
        </p:nvSpPr>
        <p:spPr>
          <a:xfrm>
            <a:off x="548640" y="5568696"/>
            <a:ext cx="320040" cy="169164"/>
          </a:xfrm>
          <a:prstGeom prst="rect">
            <a:avLst/>
          </a:prstGeom>
          <a:noFill/>
          <a:ln/>
        </p:spPr>
        <p:txBody>
          <a:bodyPr wrap="square" lIns="0" tIns="0" rIns="0" bIns="0" rtlCol="0" anchor="ctr"/>
          <a:lstStyle/>
          <a:p>
            <a:pPr marL="0" indent="0">
              <a:buNone/>
            </a:pPr>
            <a:r>
              <a:rPr lang="en-US" sz="750" b="1" dirty="0">
                <a:solidFill>
                  <a:srgbClr val="E08A3C"/>
                </a:solidFill>
                <a:latin typeface="Calibri" pitchFamily="34" charset="0"/>
                <a:ea typeface="Calibri" pitchFamily="34" charset="-122"/>
                <a:cs typeface="Calibri" pitchFamily="34" charset="-120"/>
              </a:rPr>
              <a:t>P3</a:t>
            </a:r>
            <a:endParaRPr lang="en-US" sz="750" dirty="0"/>
          </a:p>
        </p:txBody>
      </p:sp>
      <p:sp>
        <p:nvSpPr>
          <p:cNvPr id="124" name="Text 122"/>
          <p:cNvSpPr/>
          <p:nvPr/>
        </p:nvSpPr>
        <p:spPr>
          <a:xfrm>
            <a:off x="877824" y="5568696"/>
            <a:ext cx="3703320" cy="169164"/>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StorybookTask - type A (R21)</a:t>
            </a:r>
            <a:endParaRPr lang="en-US" sz="800" dirty="0"/>
          </a:p>
        </p:txBody>
      </p:sp>
      <p:sp>
        <p:nvSpPr>
          <p:cNvPr id="125" name="Text 123"/>
          <p:cNvSpPr/>
          <p:nvPr/>
        </p:nvSpPr>
        <p:spPr>
          <a:xfrm>
            <a:off x="4206240" y="5568696"/>
            <a:ext cx="566928" cy="169164"/>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5 h</a:t>
            </a:r>
            <a:endParaRPr lang="en-US" sz="800" dirty="0"/>
          </a:p>
        </p:txBody>
      </p:sp>
      <p:sp>
        <p:nvSpPr>
          <p:cNvPr id="126" name="Shape 124"/>
          <p:cNvSpPr/>
          <p:nvPr/>
        </p:nvSpPr>
        <p:spPr>
          <a:xfrm>
            <a:off x="10927080" y="5600700"/>
            <a:ext cx="521208" cy="105156"/>
          </a:xfrm>
          <a:prstGeom prst="roundRect">
            <a:avLst>
              <a:gd name="adj" fmla="val 260870"/>
            </a:avLst>
          </a:prstGeom>
          <a:solidFill>
            <a:srgbClr val="E08A3C"/>
          </a:solidFill>
          <a:ln w="12700">
            <a:solidFill>
              <a:srgbClr val="E08A3C"/>
            </a:solidFill>
            <a:prstDash val="solid"/>
          </a:ln>
        </p:spPr>
      </p:sp>
      <p:sp>
        <p:nvSpPr>
          <p:cNvPr id="127" name="Text 125"/>
          <p:cNvSpPr/>
          <p:nvPr/>
        </p:nvSpPr>
        <p:spPr>
          <a:xfrm>
            <a:off x="548640" y="5737860"/>
            <a:ext cx="320040" cy="169164"/>
          </a:xfrm>
          <a:prstGeom prst="rect">
            <a:avLst/>
          </a:prstGeom>
          <a:noFill/>
          <a:ln/>
        </p:spPr>
        <p:txBody>
          <a:bodyPr wrap="square" lIns="0" tIns="0" rIns="0" bIns="0" rtlCol="0" anchor="ctr"/>
          <a:lstStyle/>
          <a:p>
            <a:pPr marL="0" indent="0">
              <a:buNone/>
            </a:pPr>
            <a:r>
              <a:rPr lang="en-US" sz="750" b="1" dirty="0">
                <a:solidFill>
                  <a:srgbClr val="E08A3C"/>
                </a:solidFill>
                <a:latin typeface="Calibri" pitchFamily="34" charset="0"/>
                <a:ea typeface="Calibri" pitchFamily="34" charset="-122"/>
                <a:cs typeface="Calibri" pitchFamily="34" charset="-120"/>
              </a:rPr>
              <a:t>P3</a:t>
            </a:r>
            <a:endParaRPr lang="en-US" sz="750" dirty="0"/>
          </a:p>
        </p:txBody>
      </p:sp>
      <p:sp>
        <p:nvSpPr>
          <p:cNvPr id="128" name="Text 126"/>
          <p:cNvSpPr/>
          <p:nvPr/>
        </p:nvSpPr>
        <p:spPr>
          <a:xfrm>
            <a:off x="877824" y="5737860"/>
            <a:ext cx="3703320" cy="169164"/>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AudioImageTask - type B (R22)</a:t>
            </a:r>
            <a:endParaRPr lang="en-US" sz="800" dirty="0"/>
          </a:p>
        </p:txBody>
      </p:sp>
      <p:sp>
        <p:nvSpPr>
          <p:cNvPr id="129" name="Text 127"/>
          <p:cNvSpPr/>
          <p:nvPr/>
        </p:nvSpPr>
        <p:spPr>
          <a:xfrm>
            <a:off x="4206240" y="5737860"/>
            <a:ext cx="566928" cy="169164"/>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5 h</a:t>
            </a:r>
            <a:endParaRPr lang="en-US" sz="800" dirty="0"/>
          </a:p>
        </p:txBody>
      </p:sp>
      <p:sp>
        <p:nvSpPr>
          <p:cNvPr id="130" name="Shape 128"/>
          <p:cNvSpPr/>
          <p:nvPr/>
        </p:nvSpPr>
        <p:spPr>
          <a:xfrm>
            <a:off x="11201400" y="5769864"/>
            <a:ext cx="521208" cy="105156"/>
          </a:xfrm>
          <a:prstGeom prst="roundRect">
            <a:avLst>
              <a:gd name="adj" fmla="val 260870"/>
            </a:avLst>
          </a:prstGeom>
          <a:solidFill>
            <a:srgbClr val="E08A3C"/>
          </a:solidFill>
          <a:ln w="12700">
            <a:solidFill>
              <a:srgbClr val="E08A3C"/>
            </a:solidFill>
            <a:prstDash val="solid"/>
          </a:ln>
        </p:spPr>
      </p:sp>
      <p:sp>
        <p:nvSpPr>
          <p:cNvPr id="131" name="Shape 129"/>
          <p:cNvSpPr/>
          <p:nvPr/>
        </p:nvSpPr>
        <p:spPr>
          <a:xfrm>
            <a:off x="4892040" y="5925312"/>
            <a:ext cx="6858000" cy="0"/>
          </a:xfrm>
          <a:prstGeom prst="line">
            <a:avLst/>
          </a:prstGeom>
          <a:noFill/>
          <a:ln w="12700">
            <a:solidFill>
              <a:srgbClr val="D5E0E1"/>
            </a:solidFill>
            <a:prstDash val="solid"/>
          </a:ln>
        </p:spPr>
      </p:sp>
      <p:sp>
        <p:nvSpPr>
          <p:cNvPr id="132" name="Text 130"/>
          <p:cNvSpPr/>
          <p:nvPr/>
        </p:nvSpPr>
        <p:spPr>
          <a:xfrm>
            <a:off x="548640" y="6144768"/>
            <a:ext cx="11064240" cy="274320"/>
          </a:xfrm>
          <a:prstGeom prst="rect">
            <a:avLst/>
          </a:prstGeom>
          <a:noFill/>
          <a:ln/>
        </p:spPr>
        <p:txBody>
          <a:bodyPr wrap="square" lIns="0" tIns="0" rIns="0" bIns="0" rtlCol="0" anchor="ctr"/>
          <a:lstStyle/>
          <a:p>
            <a:pPr marL="0" indent="0">
              <a:buNone/>
            </a:pPr>
            <a:r>
              <a:rPr lang="en-US" sz="1100" b="1" i="1" dirty="0">
                <a:solidFill>
                  <a:srgbClr val="00A896"/>
                </a:solidFill>
                <a:latin typeface="Calibri" pitchFamily="34" charset="0"/>
                <a:ea typeface="Calibri" pitchFamily="34" charset="-122"/>
                <a:cs typeface="Calibri" pitchFamily="34" charset="-120"/>
              </a:rPr>
              <a:t>Milestone at week 25 (early January): a child logs in with a code and plays a real, imported task end to end. This is the moment the architecture is proven.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200" b="1" dirty="0">
                <a:solidFill>
                  <a:srgbClr val="06474F"/>
                </a:solidFill>
                <a:latin typeface="Cambria" pitchFamily="34" charset="0"/>
                <a:ea typeface="Cambria" pitchFamily="34" charset="-122"/>
                <a:cs typeface="Cambria" pitchFamily="34" charset="-120"/>
              </a:rPr>
              <a:t>Tasks and subtasks: Phase 4 - acceptance</a:t>
            </a:r>
            <a:endParaRPr lang="en-US" sz="3200" dirty="0"/>
          </a:p>
        </p:txBody>
      </p:sp>
      <p:sp>
        <p:nvSpPr>
          <p:cNvPr id="3" name="Text 1"/>
          <p:cNvSpPr/>
          <p:nvPr/>
        </p:nvSpPr>
        <p:spPr>
          <a:xfrm>
            <a:off x="548640" y="941832"/>
            <a:ext cx="11064240" cy="310896"/>
          </a:xfrm>
          <a:prstGeom prst="rect">
            <a:avLst/>
          </a:prstGeom>
          <a:noFill/>
          <a:ln/>
        </p:spPr>
        <p:txBody>
          <a:bodyPr wrap="square" lIns="0" tIns="0" rIns="0" bIns="0" rtlCol="0" anchor="ctr"/>
          <a:lstStyle/>
          <a:p>
            <a:pPr marL="0" indent="0">
              <a:buNone/>
            </a:pPr>
            <a:r>
              <a:rPr lang="en-US" sz="1400" i="1" dirty="0">
                <a:solidFill>
                  <a:srgbClr val="5C6E71"/>
                </a:solidFill>
                <a:latin typeface="Calibri" pitchFamily="34" charset="0"/>
                <a:ea typeface="Calibri" pitchFamily="34" charset="-122"/>
                <a:cs typeface="Calibri" pitchFamily="34" charset="-120"/>
              </a:rPr>
              <a:t>January to September 2027  ·  weeks 26-60  ·  150 build hours + buffer</a:t>
            </a:r>
            <a:endParaRPr lang="en-US" sz="1400" dirty="0"/>
          </a:p>
        </p:txBody>
      </p:sp>
      <p:sp>
        <p:nvSpPr>
          <p:cNvPr id="4" name="Text 2"/>
          <p:cNvSpPr/>
          <p:nvPr/>
        </p:nvSpPr>
        <p:spPr>
          <a:xfrm>
            <a:off x="548640" y="6473952"/>
            <a:ext cx="5486400" cy="237744"/>
          </a:xfrm>
          <a:prstGeom prst="rect">
            <a:avLst/>
          </a:prstGeom>
          <a:noFill/>
          <a:ln/>
        </p:spPr>
        <p:txBody>
          <a:bodyPr wrap="square" lIns="0" tIns="0" rIns="0" bIns="0" rtlCol="0" anchor="ctr"/>
          <a:lstStyle/>
          <a:p>
            <a:pPr marL="0" indent="0">
              <a:buNone/>
            </a:pPr>
            <a:r>
              <a:rPr lang="en-US" sz="900" dirty="0">
                <a:solidFill>
                  <a:srgbClr val="B9C4C6"/>
                </a:solidFill>
                <a:latin typeface="Calibri" pitchFamily="34" charset="0"/>
                <a:ea typeface="Calibri" pitchFamily="34" charset="-122"/>
                <a:cs typeface="Calibri" pitchFamily="34" charset="-120"/>
              </a:rPr>
              <a:t>SPEAK  |  Status &amp; Delivery Plan  |  12 July 2026</a:t>
            </a:r>
            <a:endParaRPr lang="en-US" sz="900" dirty="0"/>
          </a:p>
        </p:txBody>
      </p:sp>
      <p:sp>
        <p:nvSpPr>
          <p:cNvPr id="5" name="Text 3"/>
          <p:cNvSpPr/>
          <p:nvPr/>
        </p:nvSpPr>
        <p:spPr>
          <a:xfrm>
            <a:off x="11064240" y="6473952"/>
            <a:ext cx="548640" cy="237744"/>
          </a:xfrm>
          <a:prstGeom prst="rect">
            <a:avLst/>
          </a:prstGeom>
          <a:noFill/>
          <a:ln/>
        </p:spPr>
        <p:txBody>
          <a:bodyPr wrap="square" lIns="0" tIns="0" rIns="0" bIns="0" rtlCol="0" anchor="ctr"/>
          <a:lstStyle/>
          <a:p>
            <a:pPr marL="0" indent="0" algn="r">
              <a:buNone/>
            </a:pPr>
            <a:r>
              <a:rPr lang="en-US" sz="900" dirty="0">
                <a:solidFill>
                  <a:srgbClr val="B9C4C6"/>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4892040" y="1810512"/>
            <a:ext cx="0" cy="4169664"/>
          </a:xfrm>
          <a:prstGeom prst="line">
            <a:avLst/>
          </a:prstGeom>
          <a:noFill/>
          <a:ln w="9525">
            <a:solidFill>
              <a:srgbClr val="E4EBEB"/>
            </a:solidFill>
            <a:prstDash val="solid"/>
          </a:ln>
        </p:spPr>
      </p:sp>
      <p:sp>
        <p:nvSpPr>
          <p:cNvPr id="7" name="Text 5"/>
          <p:cNvSpPr/>
          <p:nvPr/>
        </p:nvSpPr>
        <p:spPr>
          <a:xfrm>
            <a:off x="4507992" y="1517904"/>
            <a:ext cx="768096" cy="237744"/>
          </a:xfrm>
          <a:prstGeom prst="rect">
            <a:avLst/>
          </a:prstGeom>
          <a:noFill/>
          <a:ln/>
        </p:spPr>
        <p:txBody>
          <a:bodyPr wrap="square" lIns="0" tIns="0" rIns="0" bIns="0" rtlCol="0" anchor="ctr"/>
          <a:lstStyle/>
          <a:p>
            <a:pPr marL="0" indent="0" algn="ctr">
              <a:buNone/>
            </a:pPr>
            <a:r>
              <a:rPr lang="en-US" sz="900" b="1" dirty="0">
                <a:solidFill>
                  <a:srgbClr val="5C6E71"/>
                </a:solidFill>
                <a:latin typeface="Calibri" pitchFamily="34" charset="0"/>
                <a:ea typeface="Calibri" pitchFamily="34" charset="-122"/>
                <a:cs typeface="Calibri" pitchFamily="34" charset="-120"/>
              </a:rPr>
              <a:t>Jan '27</a:t>
            </a:r>
            <a:endParaRPr lang="en-US" sz="900" dirty="0"/>
          </a:p>
        </p:txBody>
      </p:sp>
      <p:sp>
        <p:nvSpPr>
          <p:cNvPr id="8" name="Shape 6"/>
          <p:cNvSpPr/>
          <p:nvPr/>
        </p:nvSpPr>
        <p:spPr>
          <a:xfrm>
            <a:off x="5675811" y="1810512"/>
            <a:ext cx="0" cy="4169664"/>
          </a:xfrm>
          <a:prstGeom prst="line">
            <a:avLst/>
          </a:prstGeom>
          <a:noFill/>
          <a:ln w="9525">
            <a:solidFill>
              <a:srgbClr val="E4EBEB"/>
            </a:solidFill>
            <a:prstDash val="solid"/>
          </a:ln>
        </p:spPr>
      </p:sp>
      <p:sp>
        <p:nvSpPr>
          <p:cNvPr id="9" name="Text 7"/>
          <p:cNvSpPr/>
          <p:nvPr/>
        </p:nvSpPr>
        <p:spPr>
          <a:xfrm>
            <a:off x="5291763" y="1517904"/>
            <a:ext cx="768096" cy="237744"/>
          </a:xfrm>
          <a:prstGeom prst="rect">
            <a:avLst/>
          </a:prstGeom>
          <a:noFill/>
          <a:ln/>
        </p:spPr>
        <p:txBody>
          <a:bodyPr wrap="square" lIns="0" tIns="0" rIns="0" bIns="0" rtlCol="0" anchor="ctr"/>
          <a:lstStyle/>
          <a:p>
            <a:pPr marL="0" indent="0" algn="ctr">
              <a:buNone/>
            </a:pPr>
            <a:r>
              <a:rPr lang="en-US" sz="900" b="1" dirty="0">
                <a:solidFill>
                  <a:srgbClr val="5C6E71"/>
                </a:solidFill>
                <a:latin typeface="Calibri" pitchFamily="34" charset="0"/>
                <a:ea typeface="Calibri" pitchFamily="34" charset="-122"/>
                <a:cs typeface="Calibri" pitchFamily="34" charset="-120"/>
              </a:rPr>
              <a:t>Feb '27</a:t>
            </a:r>
            <a:endParaRPr lang="en-US" sz="900" dirty="0"/>
          </a:p>
        </p:txBody>
      </p:sp>
      <p:sp>
        <p:nvSpPr>
          <p:cNvPr id="10" name="Shape 8"/>
          <p:cNvSpPr/>
          <p:nvPr/>
        </p:nvSpPr>
        <p:spPr>
          <a:xfrm>
            <a:off x="6459583" y="1810512"/>
            <a:ext cx="0" cy="4169664"/>
          </a:xfrm>
          <a:prstGeom prst="line">
            <a:avLst/>
          </a:prstGeom>
          <a:noFill/>
          <a:ln w="9525">
            <a:solidFill>
              <a:srgbClr val="E4EBEB"/>
            </a:solidFill>
            <a:prstDash val="solid"/>
          </a:ln>
        </p:spPr>
      </p:sp>
      <p:sp>
        <p:nvSpPr>
          <p:cNvPr id="11" name="Text 9"/>
          <p:cNvSpPr/>
          <p:nvPr/>
        </p:nvSpPr>
        <p:spPr>
          <a:xfrm>
            <a:off x="6075535" y="1517904"/>
            <a:ext cx="768096" cy="237744"/>
          </a:xfrm>
          <a:prstGeom prst="rect">
            <a:avLst/>
          </a:prstGeom>
          <a:noFill/>
          <a:ln/>
        </p:spPr>
        <p:txBody>
          <a:bodyPr wrap="square" lIns="0" tIns="0" rIns="0" bIns="0" rtlCol="0" anchor="ctr"/>
          <a:lstStyle/>
          <a:p>
            <a:pPr marL="0" indent="0" algn="ctr">
              <a:buNone/>
            </a:pPr>
            <a:r>
              <a:rPr lang="en-US" sz="900" b="1" dirty="0">
                <a:solidFill>
                  <a:srgbClr val="5C6E71"/>
                </a:solidFill>
                <a:latin typeface="Calibri" pitchFamily="34" charset="0"/>
                <a:ea typeface="Calibri" pitchFamily="34" charset="-122"/>
                <a:cs typeface="Calibri" pitchFamily="34" charset="-120"/>
              </a:rPr>
              <a:t>Mar '27</a:t>
            </a:r>
            <a:endParaRPr lang="en-US" sz="900" dirty="0"/>
          </a:p>
        </p:txBody>
      </p:sp>
      <p:sp>
        <p:nvSpPr>
          <p:cNvPr id="12" name="Shape 10"/>
          <p:cNvSpPr/>
          <p:nvPr/>
        </p:nvSpPr>
        <p:spPr>
          <a:xfrm>
            <a:off x="7243354" y="1810512"/>
            <a:ext cx="0" cy="4169664"/>
          </a:xfrm>
          <a:prstGeom prst="line">
            <a:avLst/>
          </a:prstGeom>
          <a:noFill/>
          <a:ln w="9525">
            <a:solidFill>
              <a:srgbClr val="E4EBEB"/>
            </a:solidFill>
            <a:prstDash val="solid"/>
          </a:ln>
        </p:spPr>
      </p:sp>
      <p:sp>
        <p:nvSpPr>
          <p:cNvPr id="13" name="Text 11"/>
          <p:cNvSpPr/>
          <p:nvPr/>
        </p:nvSpPr>
        <p:spPr>
          <a:xfrm>
            <a:off x="6859306" y="1517904"/>
            <a:ext cx="768096" cy="237744"/>
          </a:xfrm>
          <a:prstGeom prst="rect">
            <a:avLst/>
          </a:prstGeom>
          <a:noFill/>
          <a:ln/>
        </p:spPr>
        <p:txBody>
          <a:bodyPr wrap="square" lIns="0" tIns="0" rIns="0" bIns="0" rtlCol="0" anchor="ctr"/>
          <a:lstStyle/>
          <a:p>
            <a:pPr marL="0" indent="0" algn="ctr">
              <a:buNone/>
            </a:pPr>
            <a:r>
              <a:rPr lang="en-US" sz="900" b="1" dirty="0">
                <a:solidFill>
                  <a:srgbClr val="5C6E71"/>
                </a:solidFill>
                <a:latin typeface="Calibri" pitchFamily="34" charset="0"/>
                <a:ea typeface="Calibri" pitchFamily="34" charset="-122"/>
                <a:cs typeface="Calibri" pitchFamily="34" charset="-120"/>
              </a:rPr>
              <a:t>Apr '27</a:t>
            </a:r>
            <a:endParaRPr lang="en-US" sz="900" dirty="0"/>
          </a:p>
        </p:txBody>
      </p:sp>
      <p:sp>
        <p:nvSpPr>
          <p:cNvPr id="14" name="Shape 12"/>
          <p:cNvSpPr/>
          <p:nvPr/>
        </p:nvSpPr>
        <p:spPr>
          <a:xfrm>
            <a:off x="8223069" y="1810512"/>
            <a:ext cx="0" cy="4169664"/>
          </a:xfrm>
          <a:prstGeom prst="line">
            <a:avLst/>
          </a:prstGeom>
          <a:noFill/>
          <a:ln w="9525">
            <a:solidFill>
              <a:srgbClr val="E4EBEB"/>
            </a:solidFill>
            <a:prstDash val="solid"/>
          </a:ln>
        </p:spPr>
      </p:sp>
      <p:sp>
        <p:nvSpPr>
          <p:cNvPr id="15" name="Text 13"/>
          <p:cNvSpPr/>
          <p:nvPr/>
        </p:nvSpPr>
        <p:spPr>
          <a:xfrm>
            <a:off x="7839021" y="1517904"/>
            <a:ext cx="768096" cy="237744"/>
          </a:xfrm>
          <a:prstGeom prst="rect">
            <a:avLst/>
          </a:prstGeom>
          <a:noFill/>
          <a:ln/>
        </p:spPr>
        <p:txBody>
          <a:bodyPr wrap="square" lIns="0" tIns="0" rIns="0" bIns="0" rtlCol="0" anchor="ctr"/>
          <a:lstStyle/>
          <a:p>
            <a:pPr marL="0" indent="0" algn="ctr">
              <a:buNone/>
            </a:pPr>
            <a:r>
              <a:rPr lang="en-US" sz="900" b="1" dirty="0">
                <a:solidFill>
                  <a:srgbClr val="5C6E71"/>
                </a:solidFill>
                <a:latin typeface="Calibri" pitchFamily="34" charset="0"/>
                <a:ea typeface="Calibri" pitchFamily="34" charset="-122"/>
                <a:cs typeface="Calibri" pitchFamily="34" charset="-120"/>
              </a:rPr>
              <a:t>May '27</a:t>
            </a:r>
            <a:endParaRPr lang="en-US" sz="900" dirty="0"/>
          </a:p>
        </p:txBody>
      </p:sp>
      <p:sp>
        <p:nvSpPr>
          <p:cNvPr id="16" name="Shape 14"/>
          <p:cNvSpPr/>
          <p:nvPr/>
        </p:nvSpPr>
        <p:spPr>
          <a:xfrm>
            <a:off x="9006840" y="1810512"/>
            <a:ext cx="0" cy="4169664"/>
          </a:xfrm>
          <a:prstGeom prst="line">
            <a:avLst/>
          </a:prstGeom>
          <a:noFill/>
          <a:ln w="9525">
            <a:solidFill>
              <a:srgbClr val="E4EBEB"/>
            </a:solidFill>
            <a:prstDash val="solid"/>
          </a:ln>
        </p:spPr>
      </p:sp>
      <p:sp>
        <p:nvSpPr>
          <p:cNvPr id="17" name="Text 15"/>
          <p:cNvSpPr/>
          <p:nvPr/>
        </p:nvSpPr>
        <p:spPr>
          <a:xfrm>
            <a:off x="8622792" y="1517904"/>
            <a:ext cx="768096" cy="237744"/>
          </a:xfrm>
          <a:prstGeom prst="rect">
            <a:avLst/>
          </a:prstGeom>
          <a:noFill/>
          <a:ln/>
        </p:spPr>
        <p:txBody>
          <a:bodyPr wrap="square" lIns="0" tIns="0" rIns="0" bIns="0" rtlCol="0" anchor="ctr"/>
          <a:lstStyle/>
          <a:p>
            <a:pPr marL="0" indent="0" algn="ctr">
              <a:buNone/>
            </a:pPr>
            <a:r>
              <a:rPr lang="en-US" sz="900" b="1" dirty="0">
                <a:solidFill>
                  <a:srgbClr val="5C6E71"/>
                </a:solidFill>
                <a:latin typeface="Calibri" pitchFamily="34" charset="0"/>
                <a:ea typeface="Calibri" pitchFamily="34" charset="-122"/>
                <a:cs typeface="Calibri" pitchFamily="34" charset="-120"/>
              </a:rPr>
              <a:t>Jun '27</a:t>
            </a:r>
            <a:endParaRPr lang="en-US" sz="900" dirty="0"/>
          </a:p>
        </p:txBody>
      </p:sp>
      <p:sp>
        <p:nvSpPr>
          <p:cNvPr id="18" name="Shape 16"/>
          <p:cNvSpPr/>
          <p:nvPr/>
        </p:nvSpPr>
        <p:spPr>
          <a:xfrm>
            <a:off x="9790611" y="1810512"/>
            <a:ext cx="0" cy="4169664"/>
          </a:xfrm>
          <a:prstGeom prst="line">
            <a:avLst/>
          </a:prstGeom>
          <a:noFill/>
          <a:ln w="9525">
            <a:solidFill>
              <a:srgbClr val="E4EBEB"/>
            </a:solidFill>
            <a:prstDash val="solid"/>
          </a:ln>
        </p:spPr>
      </p:sp>
      <p:sp>
        <p:nvSpPr>
          <p:cNvPr id="19" name="Text 17"/>
          <p:cNvSpPr/>
          <p:nvPr/>
        </p:nvSpPr>
        <p:spPr>
          <a:xfrm>
            <a:off x="9406563" y="1517904"/>
            <a:ext cx="768096" cy="237744"/>
          </a:xfrm>
          <a:prstGeom prst="rect">
            <a:avLst/>
          </a:prstGeom>
          <a:noFill/>
          <a:ln/>
        </p:spPr>
        <p:txBody>
          <a:bodyPr wrap="square" lIns="0" tIns="0" rIns="0" bIns="0" rtlCol="0" anchor="ctr"/>
          <a:lstStyle/>
          <a:p>
            <a:pPr marL="0" indent="0" algn="ctr">
              <a:buNone/>
            </a:pPr>
            <a:r>
              <a:rPr lang="en-US" sz="900" b="1" dirty="0">
                <a:solidFill>
                  <a:srgbClr val="5C6E71"/>
                </a:solidFill>
                <a:latin typeface="Calibri" pitchFamily="34" charset="0"/>
                <a:ea typeface="Calibri" pitchFamily="34" charset="-122"/>
                <a:cs typeface="Calibri" pitchFamily="34" charset="-120"/>
              </a:rPr>
              <a:t>Jul '27</a:t>
            </a:r>
            <a:endParaRPr lang="en-US" sz="900" dirty="0"/>
          </a:p>
        </p:txBody>
      </p:sp>
      <p:sp>
        <p:nvSpPr>
          <p:cNvPr id="20" name="Shape 18"/>
          <p:cNvSpPr/>
          <p:nvPr/>
        </p:nvSpPr>
        <p:spPr>
          <a:xfrm>
            <a:off x="10770326" y="1810512"/>
            <a:ext cx="0" cy="4169664"/>
          </a:xfrm>
          <a:prstGeom prst="line">
            <a:avLst/>
          </a:prstGeom>
          <a:noFill/>
          <a:ln w="9525">
            <a:solidFill>
              <a:srgbClr val="E4EBEB"/>
            </a:solidFill>
            <a:prstDash val="solid"/>
          </a:ln>
        </p:spPr>
      </p:sp>
      <p:sp>
        <p:nvSpPr>
          <p:cNvPr id="21" name="Text 19"/>
          <p:cNvSpPr/>
          <p:nvPr/>
        </p:nvSpPr>
        <p:spPr>
          <a:xfrm>
            <a:off x="10386278" y="1517904"/>
            <a:ext cx="768096" cy="237744"/>
          </a:xfrm>
          <a:prstGeom prst="rect">
            <a:avLst/>
          </a:prstGeom>
          <a:noFill/>
          <a:ln/>
        </p:spPr>
        <p:txBody>
          <a:bodyPr wrap="square" lIns="0" tIns="0" rIns="0" bIns="0" rtlCol="0" anchor="ctr"/>
          <a:lstStyle/>
          <a:p>
            <a:pPr marL="0" indent="0" algn="ctr">
              <a:buNone/>
            </a:pPr>
            <a:r>
              <a:rPr lang="en-US" sz="900" b="1" dirty="0">
                <a:solidFill>
                  <a:srgbClr val="5C6E71"/>
                </a:solidFill>
                <a:latin typeface="Calibri" pitchFamily="34" charset="0"/>
                <a:ea typeface="Calibri" pitchFamily="34" charset="-122"/>
                <a:cs typeface="Calibri" pitchFamily="34" charset="-120"/>
              </a:rPr>
              <a:t>Aug '27</a:t>
            </a:r>
            <a:endParaRPr lang="en-US" sz="900" dirty="0"/>
          </a:p>
        </p:txBody>
      </p:sp>
      <p:sp>
        <p:nvSpPr>
          <p:cNvPr id="22" name="Shape 20"/>
          <p:cNvSpPr/>
          <p:nvPr/>
        </p:nvSpPr>
        <p:spPr>
          <a:xfrm>
            <a:off x="11554097" y="1810512"/>
            <a:ext cx="0" cy="4169664"/>
          </a:xfrm>
          <a:prstGeom prst="line">
            <a:avLst/>
          </a:prstGeom>
          <a:noFill/>
          <a:ln w="9525">
            <a:solidFill>
              <a:srgbClr val="E4EBEB"/>
            </a:solidFill>
            <a:prstDash val="solid"/>
          </a:ln>
        </p:spPr>
      </p:sp>
      <p:sp>
        <p:nvSpPr>
          <p:cNvPr id="23" name="Text 21"/>
          <p:cNvSpPr/>
          <p:nvPr/>
        </p:nvSpPr>
        <p:spPr>
          <a:xfrm>
            <a:off x="11170049" y="1517904"/>
            <a:ext cx="768096" cy="237744"/>
          </a:xfrm>
          <a:prstGeom prst="rect">
            <a:avLst/>
          </a:prstGeom>
          <a:noFill/>
          <a:ln/>
        </p:spPr>
        <p:txBody>
          <a:bodyPr wrap="square" lIns="0" tIns="0" rIns="0" bIns="0" rtlCol="0" anchor="ctr"/>
          <a:lstStyle/>
          <a:p>
            <a:pPr marL="0" indent="0" algn="ctr">
              <a:buNone/>
            </a:pPr>
            <a:r>
              <a:rPr lang="en-US" sz="900" b="1" dirty="0">
                <a:solidFill>
                  <a:srgbClr val="5C6E71"/>
                </a:solidFill>
                <a:latin typeface="Calibri" pitchFamily="34" charset="0"/>
                <a:ea typeface="Calibri" pitchFamily="34" charset="-122"/>
                <a:cs typeface="Calibri" pitchFamily="34" charset="-120"/>
              </a:rPr>
              <a:t>Sep '27</a:t>
            </a:r>
            <a:endParaRPr lang="en-US" sz="900" dirty="0"/>
          </a:p>
        </p:txBody>
      </p:sp>
      <p:sp>
        <p:nvSpPr>
          <p:cNvPr id="24" name="Shape 22"/>
          <p:cNvSpPr/>
          <p:nvPr/>
        </p:nvSpPr>
        <p:spPr>
          <a:xfrm>
            <a:off x="4892040" y="1810512"/>
            <a:ext cx="6858000" cy="0"/>
          </a:xfrm>
          <a:prstGeom prst="line">
            <a:avLst/>
          </a:prstGeom>
          <a:noFill/>
          <a:ln w="12700">
            <a:solidFill>
              <a:srgbClr val="D5E0E1"/>
            </a:solidFill>
            <a:prstDash val="solid"/>
          </a:ln>
        </p:spPr>
      </p:sp>
      <p:sp>
        <p:nvSpPr>
          <p:cNvPr id="25" name="Text 23"/>
          <p:cNvSpPr/>
          <p:nvPr/>
        </p:nvSpPr>
        <p:spPr>
          <a:xfrm>
            <a:off x="548640" y="1536192"/>
            <a:ext cx="3657600" cy="219456"/>
          </a:xfrm>
          <a:prstGeom prst="rect">
            <a:avLst/>
          </a:prstGeom>
          <a:noFill/>
          <a:ln/>
        </p:spPr>
        <p:txBody>
          <a:bodyPr wrap="square" lIns="0" tIns="0" rIns="0" bIns="0" rtlCol="0" anchor="ctr"/>
          <a:lstStyle/>
          <a:p>
            <a:pPr marL="0" indent="0">
              <a:buNone/>
            </a:pPr>
            <a:r>
              <a:rPr lang="en-US" sz="900" b="1" dirty="0">
                <a:solidFill>
                  <a:srgbClr val="5C6E71"/>
                </a:solidFill>
                <a:latin typeface="Calibri" pitchFamily="34" charset="0"/>
                <a:ea typeface="Calibri" pitchFamily="34" charset="-122"/>
                <a:cs typeface="Calibri" pitchFamily="34" charset="-120"/>
              </a:rPr>
              <a:t>Subtask</a:t>
            </a:r>
            <a:endParaRPr lang="en-US" sz="900" dirty="0"/>
          </a:p>
        </p:txBody>
      </p:sp>
      <p:sp>
        <p:nvSpPr>
          <p:cNvPr id="26" name="Text 24"/>
          <p:cNvSpPr/>
          <p:nvPr/>
        </p:nvSpPr>
        <p:spPr>
          <a:xfrm>
            <a:off x="4003040" y="1536192"/>
            <a:ext cx="566928" cy="219456"/>
          </a:xfrm>
          <a:prstGeom prst="rect">
            <a:avLst/>
          </a:prstGeom>
          <a:noFill/>
          <a:ln/>
        </p:spPr>
        <p:txBody>
          <a:bodyPr wrap="square" lIns="0" tIns="0" rIns="0" bIns="0" rtlCol="0" anchor="ctr"/>
          <a:lstStyle/>
          <a:p>
            <a:pPr marL="0" indent="0" algn="r">
              <a:buNone/>
            </a:pPr>
            <a:r>
              <a:rPr lang="en-US" sz="900" b="1" dirty="0">
                <a:solidFill>
                  <a:srgbClr val="5C6E71"/>
                </a:solidFill>
                <a:latin typeface="Calibri" pitchFamily="34" charset="0"/>
                <a:ea typeface="Calibri" pitchFamily="34" charset="-122"/>
                <a:cs typeface="Calibri" pitchFamily="34" charset="-120"/>
              </a:rPr>
              <a:t>Effort</a:t>
            </a:r>
            <a:endParaRPr lang="en-US" sz="900" dirty="0"/>
          </a:p>
        </p:txBody>
      </p:sp>
      <p:sp>
        <p:nvSpPr>
          <p:cNvPr id="27" name="Shape 25"/>
          <p:cNvSpPr/>
          <p:nvPr/>
        </p:nvSpPr>
        <p:spPr>
          <a:xfrm>
            <a:off x="548640" y="1847088"/>
            <a:ext cx="11201400" cy="164592"/>
          </a:xfrm>
          <a:prstGeom prst="rect">
            <a:avLst/>
          </a:prstGeom>
          <a:solidFill>
            <a:srgbClr val="F7FAFA"/>
          </a:solidFill>
          <a:ln w="12700">
            <a:solidFill>
              <a:srgbClr val="F7FAFA"/>
            </a:solidFill>
            <a:prstDash val="solid"/>
          </a:ln>
        </p:spPr>
      </p:sp>
      <p:sp>
        <p:nvSpPr>
          <p:cNvPr id="28" name="Text 26"/>
          <p:cNvSpPr/>
          <p:nvPr/>
        </p:nvSpPr>
        <p:spPr>
          <a:xfrm>
            <a:off x="548640" y="1847088"/>
            <a:ext cx="320040" cy="164592"/>
          </a:xfrm>
          <a:prstGeom prst="rect">
            <a:avLst/>
          </a:prstGeom>
          <a:noFill/>
          <a:ln/>
        </p:spPr>
        <p:txBody>
          <a:bodyPr wrap="square" lIns="0" tIns="0" rIns="0" bIns="0" rtlCol="0" anchor="ctr"/>
          <a:lstStyle/>
          <a:p>
            <a:pPr marL="0" indent="0">
              <a:buNone/>
            </a:pPr>
            <a:r>
              <a:rPr lang="en-US" sz="750" b="1" dirty="0">
                <a:solidFill>
                  <a:srgbClr val="E08A3C"/>
                </a:solidFill>
                <a:latin typeface="Calibri" pitchFamily="34" charset="0"/>
                <a:ea typeface="Calibri" pitchFamily="34" charset="-122"/>
                <a:cs typeface="Calibri" pitchFamily="34" charset="-120"/>
              </a:rPr>
              <a:t>P4</a:t>
            </a:r>
            <a:endParaRPr lang="en-US" sz="750" dirty="0"/>
          </a:p>
        </p:txBody>
      </p:sp>
      <p:sp>
        <p:nvSpPr>
          <p:cNvPr id="29" name="Text 27"/>
          <p:cNvSpPr/>
          <p:nvPr/>
        </p:nvSpPr>
        <p:spPr>
          <a:xfrm>
            <a:off x="877824" y="1847088"/>
            <a:ext cx="3703320" cy="164592"/>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AudioChoiceTask - types F_1, F_2 (R23)</a:t>
            </a:r>
            <a:endParaRPr lang="en-US" sz="800" dirty="0"/>
          </a:p>
        </p:txBody>
      </p:sp>
      <p:sp>
        <p:nvSpPr>
          <p:cNvPr id="30" name="Text 28"/>
          <p:cNvSpPr/>
          <p:nvPr/>
        </p:nvSpPr>
        <p:spPr>
          <a:xfrm>
            <a:off x="4206240" y="1847088"/>
            <a:ext cx="566928" cy="164592"/>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7 h</a:t>
            </a:r>
            <a:endParaRPr lang="en-US" sz="800" dirty="0"/>
          </a:p>
        </p:txBody>
      </p:sp>
      <p:sp>
        <p:nvSpPr>
          <p:cNvPr id="31" name="Shape 29"/>
          <p:cNvSpPr/>
          <p:nvPr/>
        </p:nvSpPr>
        <p:spPr>
          <a:xfrm>
            <a:off x="4892040" y="1874520"/>
            <a:ext cx="364454" cy="109728"/>
          </a:xfrm>
          <a:prstGeom prst="roundRect">
            <a:avLst>
              <a:gd name="adj" fmla="val 250000"/>
            </a:avLst>
          </a:prstGeom>
          <a:solidFill>
            <a:srgbClr val="E08A3C"/>
          </a:solidFill>
          <a:ln w="12700">
            <a:solidFill>
              <a:srgbClr val="E08A3C"/>
            </a:solidFill>
            <a:prstDash val="solid"/>
          </a:ln>
        </p:spPr>
      </p:sp>
      <p:sp>
        <p:nvSpPr>
          <p:cNvPr id="32" name="Text 30"/>
          <p:cNvSpPr/>
          <p:nvPr/>
        </p:nvSpPr>
        <p:spPr>
          <a:xfrm>
            <a:off x="548640" y="2011680"/>
            <a:ext cx="320040" cy="164592"/>
          </a:xfrm>
          <a:prstGeom prst="rect">
            <a:avLst/>
          </a:prstGeom>
          <a:noFill/>
          <a:ln/>
        </p:spPr>
        <p:txBody>
          <a:bodyPr wrap="square" lIns="0" tIns="0" rIns="0" bIns="0" rtlCol="0" anchor="ctr"/>
          <a:lstStyle/>
          <a:p>
            <a:pPr marL="0" indent="0">
              <a:buNone/>
            </a:pPr>
            <a:r>
              <a:rPr lang="en-US" sz="750" b="1" dirty="0">
                <a:solidFill>
                  <a:srgbClr val="E08A3C"/>
                </a:solidFill>
                <a:latin typeface="Calibri" pitchFamily="34" charset="0"/>
                <a:ea typeface="Calibri" pitchFamily="34" charset="-122"/>
                <a:cs typeface="Calibri" pitchFamily="34" charset="-120"/>
              </a:rPr>
              <a:t>P4</a:t>
            </a:r>
            <a:endParaRPr lang="en-US" sz="750" dirty="0"/>
          </a:p>
        </p:txBody>
      </p:sp>
      <p:sp>
        <p:nvSpPr>
          <p:cNvPr id="33" name="Text 31"/>
          <p:cNvSpPr/>
          <p:nvPr/>
        </p:nvSpPr>
        <p:spPr>
          <a:xfrm>
            <a:off x="877824" y="2011680"/>
            <a:ext cx="3703320" cy="164592"/>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PictureChoiceTask - type T (R24)</a:t>
            </a:r>
            <a:endParaRPr lang="en-US" sz="800" dirty="0"/>
          </a:p>
        </p:txBody>
      </p:sp>
      <p:sp>
        <p:nvSpPr>
          <p:cNvPr id="34" name="Text 32"/>
          <p:cNvSpPr/>
          <p:nvPr/>
        </p:nvSpPr>
        <p:spPr>
          <a:xfrm>
            <a:off x="4206240" y="2011680"/>
            <a:ext cx="566928" cy="164592"/>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5 h</a:t>
            </a:r>
            <a:endParaRPr lang="en-US" sz="800" dirty="0"/>
          </a:p>
        </p:txBody>
      </p:sp>
      <p:sp>
        <p:nvSpPr>
          <p:cNvPr id="35" name="Shape 33"/>
          <p:cNvSpPr/>
          <p:nvPr/>
        </p:nvSpPr>
        <p:spPr>
          <a:xfrm>
            <a:off x="5087983" y="2039112"/>
            <a:ext cx="364454" cy="109728"/>
          </a:xfrm>
          <a:prstGeom prst="roundRect">
            <a:avLst>
              <a:gd name="adj" fmla="val 250000"/>
            </a:avLst>
          </a:prstGeom>
          <a:solidFill>
            <a:srgbClr val="E08A3C"/>
          </a:solidFill>
          <a:ln w="12700">
            <a:solidFill>
              <a:srgbClr val="E08A3C"/>
            </a:solidFill>
            <a:prstDash val="solid"/>
          </a:ln>
        </p:spPr>
      </p:sp>
      <p:sp>
        <p:nvSpPr>
          <p:cNvPr id="36" name="Shape 34"/>
          <p:cNvSpPr/>
          <p:nvPr/>
        </p:nvSpPr>
        <p:spPr>
          <a:xfrm>
            <a:off x="548640" y="2176272"/>
            <a:ext cx="11201400" cy="164592"/>
          </a:xfrm>
          <a:prstGeom prst="rect">
            <a:avLst/>
          </a:prstGeom>
          <a:solidFill>
            <a:srgbClr val="F7FAFA"/>
          </a:solidFill>
          <a:ln w="12700">
            <a:solidFill>
              <a:srgbClr val="F7FAFA"/>
            </a:solidFill>
            <a:prstDash val="solid"/>
          </a:ln>
        </p:spPr>
      </p:sp>
      <p:sp>
        <p:nvSpPr>
          <p:cNvPr id="37" name="Text 35"/>
          <p:cNvSpPr/>
          <p:nvPr/>
        </p:nvSpPr>
        <p:spPr>
          <a:xfrm>
            <a:off x="548640" y="2176272"/>
            <a:ext cx="320040" cy="164592"/>
          </a:xfrm>
          <a:prstGeom prst="rect">
            <a:avLst/>
          </a:prstGeom>
          <a:noFill/>
          <a:ln/>
        </p:spPr>
        <p:txBody>
          <a:bodyPr wrap="square" lIns="0" tIns="0" rIns="0" bIns="0" rtlCol="0" anchor="ctr"/>
          <a:lstStyle/>
          <a:p>
            <a:pPr marL="0" indent="0">
              <a:buNone/>
            </a:pPr>
            <a:r>
              <a:rPr lang="en-US" sz="750" b="1" dirty="0">
                <a:solidFill>
                  <a:srgbClr val="E08A3C"/>
                </a:solidFill>
                <a:latin typeface="Calibri" pitchFamily="34" charset="0"/>
                <a:ea typeface="Calibri" pitchFamily="34" charset="-122"/>
                <a:cs typeface="Calibri" pitchFamily="34" charset="-120"/>
              </a:rPr>
              <a:t>P4</a:t>
            </a:r>
            <a:endParaRPr lang="en-US" sz="750" dirty="0"/>
          </a:p>
        </p:txBody>
      </p:sp>
      <p:sp>
        <p:nvSpPr>
          <p:cNvPr id="38" name="Text 36"/>
          <p:cNvSpPr/>
          <p:nvPr/>
        </p:nvSpPr>
        <p:spPr>
          <a:xfrm>
            <a:off x="877824" y="2176272"/>
            <a:ext cx="3703320" cy="164592"/>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YesNoReflectionTask - type R (R25)</a:t>
            </a:r>
            <a:endParaRPr lang="en-US" sz="800" dirty="0"/>
          </a:p>
        </p:txBody>
      </p:sp>
      <p:sp>
        <p:nvSpPr>
          <p:cNvPr id="39" name="Text 37"/>
          <p:cNvSpPr/>
          <p:nvPr/>
        </p:nvSpPr>
        <p:spPr>
          <a:xfrm>
            <a:off x="4206240" y="2176272"/>
            <a:ext cx="566928" cy="164592"/>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5 h</a:t>
            </a:r>
            <a:endParaRPr lang="en-US" sz="800" dirty="0"/>
          </a:p>
        </p:txBody>
      </p:sp>
      <p:sp>
        <p:nvSpPr>
          <p:cNvPr id="40" name="Shape 38"/>
          <p:cNvSpPr/>
          <p:nvPr/>
        </p:nvSpPr>
        <p:spPr>
          <a:xfrm>
            <a:off x="5283926" y="2203704"/>
            <a:ext cx="364454" cy="109728"/>
          </a:xfrm>
          <a:prstGeom prst="roundRect">
            <a:avLst>
              <a:gd name="adj" fmla="val 250000"/>
            </a:avLst>
          </a:prstGeom>
          <a:solidFill>
            <a:srgbClr val="E08A3C"/>
          </a:solidFill>
          <a:ln w="12700">
            <a:solidFill>
              <a:srgbClr val="E08A3C"/>
            </a:solidFill>
            <a:prstDash val="solid"/>
          </a:ln>
        </p:spPr>
      </p:sp>
      <p:sp>
        <p:nvSpPr>
          <p:cNvPr id="41" name="Text 39"/>
          <p:cNvSpPr/>
          <p:nvPr/>
        </p:nvSpPr>
        <p:spPr>
          <a:xfrm>
            <a:off x="548640" y="2340864"/>
            <a:ext cx="320040" cy="164592"/>
          </a:xfrm>
          <a:prstGeom prst="rect">
            <a:avLst/>
          </a:prstGeom>
          <a:noFill/>
          <a:ln/>
        </p:spPr>
        <p:txBody>
          <a:bodyPr wrap="square" lIns="0" tIns="0" rIns="0" bIns="0" rtlCol="0" anchor="ctr"/>
          <a:lstStyle/>
          <a:p>
            <a:pPr marL="0" indent="0">
              <a:buNone/>
            </a:pPr>
            <a:r>
              <a:rPr lang="en-US" sz="750" b="1" dirty="0">
                <a:solidFill>
                  <a:srgbClr val="E08A3C"/>
                </a:solidFill>
                <a:latin typeface="Calibri" pitchFamily="34" charset="0"/>
                <a:ea typeface="Calibri" pitchFamily="34" charset="-122"/>
                <a:cs typeface="Calibri" pitchFamily="34" charset="-120"/>
              </a:rPr>
              <a:t>P4</a:t>
            </a:r>
            <a:endParaRPr lang="en-US" sz="750" dirty="0"/>
          </a:p>
        </p:txBody>
      </p:sp>
      <p:sp>
        <p:nvSpPr>
          <p:cNvPr id="42" name="Text 40"/>
          <p:cNvSpPr/>
          <p:nvPr/>
        </p:nvSpPr>
        <p:spPr>
          <a:xfrm>
            <a:off x="877824" y="2340864"/>
            <a:ext cx="3703320" cy="164592"/>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GrammarArticleTask - types G1, G2, V_3 (R26)</a:t>
            </a:r>
            <a:endParaRPr lang="en-US" sz="800" dirty="0"/>
          </a:p>
        </p:txBody>
      </p:sp>
      <p:sp>
        <p:nvSpPr>
          <p:cNvPr id="43" name="Text 41"/>
          <p:cNvSpPr/>
          <p:nvPr/>
        </p:nvSpPr>
        <p:spPr>
          <a:xfrm>
            <a:off x="4206240" y="2340864"/>
            <a:ext cx="566928" cy="164592"/>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14 h</a:t>
            </a:r>
            <a:endParaRPr lang="en-US" sz="800" dirty="0"/>
          </a:p>
        </p:txBody>
      </p:sp>
      <p:sp>
        <p:nvSpPr>
          <p:cNvPr id="44" name="Shape 42"/>
          <p:cNvSpPr/>
          <p:nvPr/>
        </p:nvSpPr>
        <p:spPr>
          <a:xfrm>
            <a:off x="5479869" y="2368296"/>
            <a:ext cx="756339" cy="109728"/>
          </a:xfrm>
          <a:prstGeom prst="roundRect">
            <a:avLst>
              <a:gd name="adj" fmla="val 250000"/>
            </a:avLst>
          </a:prstGeom>
          <a:solidFill>
            <a:srgbClr val="E08A3C"/>
          </a:solidFill>
          <a:ln w="12700">
            <a:solidFill>
              <a:srgbClr val="E08A3C"/>
            </a:solidFill>
            <a:prstDash val="solid"/>
          </a:ln>
        </p:spPr>
      </p:sp>
      <p:sp>
        <p:nvSpPr>
          <p:cNvPr id="45" name="Shape 43"/>
          <p:cNvSpPr/>
          <p:nvPr/>
        </p:nvSpPr>
        <p:spPr>
          <a:xfrm>
            <a:off x="548640" y="2505456"/>
            <a:ext cx="11201400" cy="164592"/>
          </a:xfrm>
          <a:prstGeom prst="rect">
            <a:avLst/>
          </a:prstGeom>
          <a:solidFill>
            <a:srgbClr val="F7FAFA"/>
          </a:solidFill>
          <a:ln w="12700">
            <a:solidFill>
              <a:srgbClr val="F7FAFA"/>
            </a:solidFill>
            <a:prstDash val="solid"/>
          </a:ln>
        </p:spPr>
      </p:sp>
      <p:sp>
        <p:nvSpPr>
          <p:cNvPr id="46" name="Text 44"/>
          <p:cNvSpPr/>
          <p:nvPr/>
        </p:nvSpPr>
        <p:spPr>
          <a:xfrm>
            <a:off x="548640" y="2505456"/>
            <a:ext cx="320040" cy="164592"/>
          </a:xfrm>
          <a:prstGeom prst="rect">
            <a:avLst/>
          </a:prstGeom>
          <a:noFill/>
          <a:ln/>
        </p:spPr>
        <p:txBody>
          <a:bodyPr wrap="square" lIns="0" tIns="0" rIns="0" bIns="0" rtlCol="0" anchor="ctr"/>
          <a:lstStyle/>
          <a:p>
            <a:pPr marL="0" indent="0">
              <a:buNone/>
            </a:pPr>
            <a:r>
              <a:rPr lang="en-US" sz="750" b="1" dirty="0">
                <a:solidFill>
                  <a:srgbClr val="B4453C"/>
                </a:solidFill>
                <a:latin typeface="Calibri" pitchFamily="34" charset="0"/>
                <a:ea typeface="Calibri" pitchFamily="34" charset="-122"/>
                <a:cs typeface="Calibri" pitchFamily="34" charset="-120"/>
              </a:rPr>
              <a:t>P4</a:t>
            </a:r>
            <a:endParaRPr lang="en-US" sz="750" dirty="0"/>
          </a:p>
        </p:txBody>
      </p:sp>
      <p:sp>
        <p:nvSpPr>
          <p:cNvPr id="47" name="Text 45"/>
          <p:cNvSpPr/>
          <p:nvPr/>
        </p:nvSpPr>
        <p:spPr>
          <a:xfrm>
            <a:off x="877824" y="2505456"/>
            <a:ext cx="3703320" cy="164592"/>
          </a:xfrm>
          <a:prstGeom prst="rect">
            <a:avLst/>
          </a:prstGeom>
          <a:noFill/>
          <a:ln/>
        </p:spPr>
        <p:txBody>
          <a:bodyPr wrap="square" lIns="0" tIns="0" rIns="0" bIns="0" rtlCol="0" anchor="ctr"/>
          <a:lstStyle/>
          <a:p>
            <a:pPr marL="0" indent="0">
              <a:buNone/>
            </a:pPr>
            <a:r>
              <a:rPr lang="en-US" sz="800" b="1" dirty="0">
                <a:solidFill>
                  <a:srgbClr val="B4453C"/>
                </a:solidFill>
                <a:latin typeface="Calibri" pitchFamily="34" charset="0"/>
                <a:ea typeface="Calibri" pitchFamily="34" charset="-122"/>
                <a:cs typeface="Calibri" pitchFamily="34" charset="-120"/>
              </a:rPr>
              <a:t>MemoryTask (suitcase) - type U  [RISK 2]</a:t>
            </a:r>
            <a:endParaRPr lang="en-US" sz="800" dirty="0"/>
          </a:p>
        </p:txBody>
      </p:sp>
      <p:sp>
        <p:nvSpPr>
          <p:cNvPr id="48" name="Text 46"/>
          <p:cNvSpPr/>
          <p:nvPr/>
        </p:nvSpPr>
        <p:spPr>
          <a:xfrm>
            <a:off x="4206240" y="2505456"/>
            <a:ext cx="566928" cy="164592"/>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10 h</a:t>
            </a:r>
            <a:endParaRPr lang="en-US" sz="800" dirty="0"/>
          </a:p>
        </p:txBody>
      </p:sp>
      <p:sp>
        <p:nvSpPr>
          <p:cNvPr id="49" name="Shape 47"/>
          <p:cNvSpPr/>
          <p:nvPr/>
        </p:nvSpPr>
        <p:spPr>
          <a:xfrm>
            <a:off x="6067697" y="2532888"/>
            <a:ext cx="364454" cy="109728"/>
          </a:xfrm>
          <a:prstGeom prst="roundRect">
            <a:avLst>
              <a:gd name="adj" fmla="val 250000"/>
            </a:avLst>
          </a:prstGeom>
          <a:solidFill>
            <a:srgbClr val="B4453C"/>
          </a:solidFill>
          <a:ln w="12700">
            <a:solidFill>
              <a:srgbClr val="B4453C"/>
            </a:solidFill>
            <a:prstDash val="solid"/>
          </a:ln>
        </p:spPr>
      </p:sp>
      <p:sp>
        <p:nvSpPr>
          <p:cNvPr id="50" name="Text 48"/>
          <p:cNvSpPr/>
          <p:nvPr/>
        </p:nvSpPr>
        <p:spPr>
          <a:xfrm>
            <a:off x="548640" y="2670048"/>
            <a:ext cx="320040" cy="164592"/>
          </a:xfrm>
          <a:prstGeom prst="rect">
            <a:avLst/>
          </a:prstGeom>
          <a:noFill/>
          <a:ln/>
        </p:spPr>
        <p:txBody>
          <a:bodyPr wrap="square" lIns="0" tIns="0" rIns="0" bIns="0" rtlCol="0" anchor="ctr"/>
          <a:lstStyle/>
          <a:p>
            <a:pPr marL="0" indent="0">
              <a:buNone/>
            </a:pPr>
            <a:r>
              <a:rPr lang="en-US" sz="750" b="1" dirty="0">
                <a:solidFill>
                  <a:srgbClr val="E08A3C"/>
                </a:solidFill>
                <a:latin typeface="Calibri" pitchFamily="34" charset="0"/>
                <a:ea typeface="Calibri" pitchFamily="34" charset="-122"/>
                <a:cs typeface="Calibri" pitchFamily="34" charset="-120"/>
              </a:rPr>
              <a:t>P4</a:t>
            </a:r>
            <a:endParaRPr lang="en-US" sz="750" dirty="0"/>
          </a:p>
        </p:txBody>
      </p:sp>
      <p:sp>
        <p:nvSpPr>
          <p:cNvPr id="51" name="Text 49"/>
          <p:cNvSpPr/>
          <p:nvPr/>
        </p:nvSpPr>
        <p:spPr>
          <a:xfrm>
            <a:off x="877824" y="2670048"/>
            <a:ext cx="3703320" cy="164592"/>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TeachingReflectionTask - types AT, AV, AX (R28)</a:t>
            </a:r>
            <a:endParaRPr lang="en-US" sz="800" dirty="0"/>
          </a:p>
        </p:txBody>
      </p:sp>
      <p:sp>
        <p:nvSpPr>
          <p:cNvPr id="52" name="Text 50"/>
          <p:cNvSpPr/>
          <p:nvPr/>
        </p:nvSpPr>
        <p:spPr>
          <a:xfrm>
            <a:off x="4206240" y="2670048"/>
            <a:ext cx="566928" cy="164592"/>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8 h</a:t>
            </a:r>
            <a:endParaRPr lang="en-US" sz="800" dirty="0"/>
          </a:p>
        </p:txBody>
      </p:sp>
      <p:sp>
        <p:nvSpPr>
          <p:cNvPr id="53" name="Shape 51"/>
          <p:cNvSpPr/>
          <p:nvPr/>
        </p:nvSpPr>
        <p:spPr>
          <a:xfrm>
            <a:off x="6263640" y="2697480"/>
            <a:ext cx="364454" cy="109728"/>
          </a:xfrm>
          <a:prstGeom prst="roundRect">
            <a:avLst>
              <a:gd name="adj" fmla="val 250000"/>
            </a:avLst>
          </a:prstGeom>
          <a:solidFill>
            <a:srgbClr val="E08A3C"/>
          </a:solidFill>
          <a:ln w="12700">
            <a:solidFill>
              <a:srgbClr val="E08A3C"/>
            </a:solidFill>
            <a:prstDash val="solid"/>
          </a:ln>
        </p:spPr>
      </p:sp>
      <p:sp>
        <p:nvSpPr>
          <p:cNvPr id="54" name="Shape 52"/>
          <p:cNvSpPr/>
          <p:nvPr/>
        </p:nvSpPr>
        <p:spPr>
          <a:xfrm>
            <a:off x="548640" y="2834640"/>
            <a:ext cx="11201400" cy="164592"/>
          </a:xfrm>
          <a:prstGeom prst="rect">
            <a:avLst/>
          </a:prstGeom>
          <a:solidFill>
            <a:srgbClr val="F7FAFA"/>
          </a:solidFill>
          <a:ln w="12700">
            <a:solidFill>
              <a:srgbClr val="F7FAFA"/>
            </a:solidFill>
            <a:prstDash val="solid"/>
          </a:ln>
        </p:spPr>
      </p:sp>
      <p:sp>
        <p:nvSpPr>
          <p:cNvPr id="55" name="Text 53"/>
          <p:cNvSpPr/>
          <p:nvPr/>
        </p:nvSpPr>
        <p:spPr>
          <a:xfrm>
            <a:off x="548640" y="2834640"/>
            <a:ext cx="320040" cy="164592"/>
          </a:xfrm>
          <a:prstGeom prst="rect">
            <a:avLst/>
          </a:prstGeom>
          <a:noFill/>
          <a:ln/>
        </p:spPr>
        <p:txBody>
          <a:bodyPr wrap="square" lIns="0" tIns="0" rIns="0" bIns="0" rtlCol="0" anchor="ctr"/>
          <a:lstStyle/>
          <a:p>
            <a:pPr marL="0" indent="0">
              <a:buNone/>
            </a:pPr>
            <a:r>
              <a:rPr lang="en-US" sz="750" b="1" dirty="0">
                <a:solidFill>
                  <a:srgbClr val="E08A3C"/>
                </a:solidFill>
                <a:latin typeface="Calibri" pitchFamily="34" charset="0"/>
                <a:ea typeface="Calibri" pitchFamily="34" charset="-122"/>
                <a:cs typeface="Calibri" pitchFamily="34" charset="-120"/>
              </a:rPr>
              <a:t>P4</a:t>
            </a:r>
            <a:endParaRPr lang="en-US" sz="750" dirty="0"/>
          </a:p>
        </p:txBody>
      </p:sp>
      <p:sp>
        <p:nvSpPr>
          <p:cNvPr id="56" name="Text 54"/>
          <p:cNvSpPr/>
          <p:nvPr/>
        </p:nvSpPr>
        <p:spPr>
          <a:xfrm>
            <a:off x="877824" y="2834640"/>
            <a:ext cx="3703320" cy="164592"/>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Cross-type polish + real-tablet pass</a:t>
            </a:r>
            <a:endParaRPr lang="en-US" sz="800" dirty="0"/>
          </a:p>
        </p:txBody>
      </p:sp>
      <p:sp>
        <p:nvSpPr>
          <p:cNvPr id="57" name="Text 55"/>
          <p:cNvSpPr/>
          <p:nvPr/>
        </p:nvSpPr>
        <p:spPr>
          <a:xfrm>
            <a:off x="4206240" y="2834640"/>
            <a:ext cx="566928" cy="164592"/>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3 h</a:t>
            </a:r>
            <a:endParaRPr lang="en-US" sz="800" dirty="0"/>
          </a:p>
        </p:txBody>
      </p:sp>
      <p:sp>
        <p:nvSpPr>
          <p:cNvPr id="58" name="Shape 56"/>
          <p:cNvSpPr/>
          <p:nvPr/>
        </p:nvSpPr>
        <p:spPr>
          <a:xfrm>
            <a:off x="6459583" y="2862072"/>
            <a:ext cx="168511" cy="109728"/>
          </a:xfrm>
          <a:prstGeom prst="roundRect">
            <a:avLst>
              <a:gd name="adj" fmla="val 250000"/>
            </a:avLst>
          </a:prstGeom>
          <a:solidFill>
            <a:srgbClr val="E08A3C"/>
          </a:solidFill>
          <a:ln w="12700">
            <a:solidFill>
              <a:srgbClr val="E08A3C"/>
            </a:solidFill>
            <a:prstDash val="solid"/>
          </a:ln>
        </p:spPr>
      </p:sp>
      <p:sp>
        <p:nvSpPr>
          <p:cNvPr id="59" name="Text 57"/>
          <p:cNvSpPr/>
          <p:nvPr/>
        </p:nvSpPr>
        <p:spPr>
          <a:xfrm>
            <a:off x="548640" y="2999232"/>
            <a:ext cx="320040" cy="164592"/>
          </a:xfrm>
          <a:prstGeom prst="rect">
            <a:avLst/>
          </a:prstGeom>
          <a:noFill/>
          <a:ln/>
        </p:spPr>
        <p:txBody>
          <a:bodyPr wrap="square" lIns="0" tIns="0" rIns="0" bIns="0" rtlCol="0" anchor="ctr"/>
          <a:lstStyle/>
          <a:p>
            <a:pPr marL="0" indent="0">
              <a:buNone/>
            </a:pPr>
            <a:r>
              <a:rPr lang="en-US" sz="750" b="1" dirty="0">
                <a:solidFill>
                  <a:srgbClr val="E08A3C"/>
                </a:solidFill>
                <a:latin typeface="Calibri" pitchFamily="34" charset="0"/>
                <a:ea typeface="Calibri" pitchFamily="34" charset="-122"/>
                <a:cs typeface="Calibri" pitchFamily="34" charset="-120"/>
              </a:rPr>
              <a:t>P5</a:t>
            </a:r>
            <a:endParaRPr lang="en-US" sz="750" dirty="0"/>
          </a:p>
        </p:txBody>
      </p:sp>
      <p:sp>
        <p:nvSpPr>
          <p:cNvPr id="60" name="Text 58"/>
          <p:cNvSpPr/>
          <p:nvPr/>
        </p:nvSpPr>
        <p:spPr>
          <a:xfrm>
            <a:off x="877824" y="2999232"/>
            <a:ext cx="3703320" cy="164592"/>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attempts + responses tables, response capture API (R33)</a:t>
            </a:r>
            <a:endParaRPr lang="en-US" sz="800" dirty="0"/>
          </a:p>
        </p:txBody>
      </p:sp>
      <p:sp>
        <p:nvSpPr>
          <p:cNvPr id="61" name="Text 59"/>
          <p:cNvSpPr/>
          <p:nvPr/>
        </p:nvSpPr>
        <p:spPr>
          <a:xfrm>
            <a:off x="4206240" y="2999232"/>
            <a:ext cx="566928" cy="164592"/>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5 h</a:t>
            </a:r>
            <a:endParaRPr lang="en-US" sz="800" dirty="0"/>
          </a:p>
        </p:txBody>
      </p:sp>
      <p:sp>
        <p:nvSpPr>
          <p:cNvPr id="62" name="Shape 60"/>
          <p:cNvSpPr/>
          <p:nvPr/>
        </p:nvSpPr>
        <p:spPr>
          <a:xfrm>
            <a:off x="6655526" y="3026664"/>
            <a:ext cx="168511" cy="109728"/>
          </a:xfrm>
          <a:prstGeom prst="roundRect">
            <a:avLst>
              <a:gd name="adj" fmla="val 250000"/>
            </a:avLst>
          </a:prstGeom>
          <a:solidFill>
            <a:srgbClr val="E08A3C"/>
          </a:solidFill>
          <a:ln w="12700">
            <a:solidFill>
              <a:srgbClr val="E08A3C"/>
            </a:solidFill>
            <a:prstDash val="solid"/>
          </a:ln>
        </p:spPr>
      </p:sp>
      <p:sp>
        <p:nvSpPr>
          <p:cNvPr id="63" name="Shape 61"/>
          <p:cNvSpPr/>
          <p:nvPr/>
        </p:nvSpPr>
        <p:spPr>
          <a:xfrm>
            <a:off x="548640" y="3163824"/>
            <a:ext cx="11201400" cy="164592"/>
          </a:xfrm>
          <a:prstGeom prst="rect">
            <a:avLst/>
          </a:prstGeom>
          <a:solidFill>
            <a:srgbClr val="F7FAFA"/>
          </a:solidFill>
          <a:ln w="12700">
            <a:solidFill>
              <a:srgbClr val="F7FAFA"/>
            </a:solidFill>
            <a:prstDash val="solid"/>
          </a:ln>
        </p:spPr>
      </p:sp>
      <p:sp>
        <p:nvSpPr>
          <p:cNvPr id="64" name="Text 62"/>
          <p:cNvSpPr/>
          <p:nvPr/>
        </p:nvSpPr>
        <p:spPr>
          <a:xfrm>
            <a:off x="548640" y="3163824"/>
            <a:ext cx="320040" cy="164592"/>
          </a:xfrm>
          <a:prstGeom prst="rect">
            <a:avLst/>
          </a:prstGeom>
          <a:noFill/>
          <a:ln/>
        </p:spPr>
        <p:txBody>
          <a:bodyPr wrap="square" lIns="0" tIns="0" rIns="0" bIns="0" rtlCol="0" anchor="ctr"/>
          <a:lstStyle/>
          <a:p>
            <a:pPr marL="0" indent="0">
              <a:buNone/>
            </a:pPr>
            <a:r>
              <a:rPr lang="en-US" sz="750" b="1" dirty="0">
                <a:solidFill>
                  <a:srgbClr val="E08A3C"/>
                </a:solidFill>
                <a:latin typeface="Calibri" pitchFamily="34" charset="0"/>
                <a:ea typeface="Calibri" pitchFamily="34" charset="-122"/>
                <a:cs typeface="Calibri" pitchFamily="34" charset="-120"/>
              </a:rPr>
              <a:t>P5</a:t>
            </a:r>
            <a:endParaRPr lang="en-US" sz="750" dirty="0"/>
          </a:p>
        </p:txBody>
      </p:sp>
      <p:sp>
        <p:nvSpPr>
          <p:cNvPr id="65" name="Text 63"/>
          <p:cNvSpPr/>
          <p:nvPr/>
        </p:nvSpPr>
        <p:spPr>
          <a:xfrm>
            <a:off x="877824" y="3163824"/>
            <a:ext cx="3703320" cy="164592"/>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Server-side scoring + attempt completion (R34)</a:t>
            </a:r>
            <a:endParaRPr lang="en-US" sz="800" dirty="0"/>
          </a:p>
        </p:txBody>
      </p:sp>
      <p:sp>
        <p:nvSpPr>
          <p:cNvPr id="66" name="Text 64"/>
          <p:cNvSpPr/>
          <p:nvPr/>
        </p:nvSpPr>
        <p:spPr>
          <a:xfrm>
            <a:off x="4206240" y="3163824"/>
            <a:ext cx="566928" cy="164592"/>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5 h</a:t>
            </a:r>
            <a:endParaRPr lang="en-US" sz="800" dirty="0"/>
          </a:p>
        </p:txBody>
      </p:sp>
      <p:sp>
        <p:nvSpPr>
          <p:cNvPr id="67" name="Shape 65"/>
          <p:cNvSpPr/>
          <p:nvPr/>
        </p:nvSpPr>
        <p:spPr>
          <a:xfrm>
            <a:off x="6655526" y="3191256"/>
            <a:ext cx="364454" cy="109728"/>
          </a:xfrm>
          <a:prstGeom prst="roundRect">
            <a:avLst>
              <a:gd name="adj" fmla="val 250000"/>
            </a:avLst>
          </a:prstGeom>
          <a:solidFill>
            <a:srgbClr val="E08A3C"/>
          </a:solidFill>
          <a:ln w="12700">
            <a:solidFill>
              <a:srgbClr val="E08A3C"/>
            </a:solidFill>
            <a:prstDash val="solid"/>
          </a:ln>
        </p:spPr>
      </p:sp>
      <p:sp>
        <p:nvSpPr>
          <p:cNvPr id="68" name="Text 66"/>
          <p:cNvSpPr/>
          <p:nvPr/>
        </p:nvSpPr>
        <p:spPr>
          <a:xfrm>
            <a:off x="548640" y="3328416"/>
            <a:ext cx="320040" cy="164592"/>
          </a:xfrm>
          <a:prstGeom prst="rect">
            <a:avLst/>
          </a:prstGeom>
          <a:noFill/>
          <a:ln/>
        </p:spPr>
        <p:txBody>
          <a:bodyPr wrap="square" lIns="0" tIns="0" rIns="0" bIns="0" rtlCol="0" anchor="ctr"/>
          <a:lstStyle/>
          <a:p>
            <a:pPr marL="0" indent="0">
              <a:buNone/>
            </a:pPr>
            <a:r>
              <a:rPr lang="en-US" sz="750" b="1" dirty="0">
                <a:solidFill>
                  <a:srgbClr val="E08A3C"/>
                </a:solidFill>
                <a:latin typeface="Calibri" pitchFamily="34" charset="0"/>
                <a:ea typeface="Calibri" pitchFamily="34" charset="-122"/>
                <a:cs typeface="Calibri" pitchFamily="34" charset="-120"/>
              </a:rPr>
              <a:t>P5</a:t>
            </a:r>
            <a:endParaRPr lang="en-US" sz="750" dirty="0"/>
          </a:p>
        </p:txBody>
      </p:sp>
      <p:sp>
        <p:nvSpPr>
          <p:cNvPr id="69" name="Text 67"/>
          <p:cNvSpPr/>
          <p:nvPr/>
        </p:nvSpPr>
        <p:spPr>
          <a:xfrm>
            <a:off x="877824" y="3328416"/>
            <a:ext cx="3703320" cy="164592"/>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Mistake counting, threshold, adaption task C (R32)</a:t>
            </a:r>
            <a:endParaRPr lang="en-US" sz="800" dirty="0"/>
          </a:p>
        </p:txBody>
      </p:sp>
      <p:sp>
        <p:nvSpPr>
          <p:cNvPr id="70" name="Text 68"/>
          <p:cNvSpPr/>
          <p:nvPr/>
        </p:nvSpPr>
        <p:spPr>
          <a:xfrm>
            <a:off x="4206240" y="3328416"/>
            <a:ext cx="566928" cy="164592"/>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8 h</a:t>
            </a:r>
            <a:endParaRPr lang="en-US" sz="800" dirty="0"/>
          </a:p>
        </p:txBody>
      </p:sp>
      <p:sp>
        <p:nvSpPr>
          <p:cNvPr id="71" name="Shape 69"/>
          <p:cNvSpPr/>
          <p:nvPr/>
        </p:nvSpPr>
        <p:spPr>
          <a:xfrm>
            <a:off x="6851469" y="3355848"/>
            <a:ext cx="364454" cy="109728"/>
          </a:xfrm>
          <a:prstGeom prst="roundRect">
            <a:avLst>
              <a:gd name="adj" fmla="val 250000"/>
            </a:avLst>
          </a:prstGeom>
          <a:solidFill>
            <a:srgbClr val="E08A3C"/>
          </a:solidFill>
          <a:ln w="12700">
            <a:solidFill>
              <a:srgbClr val="E08A3C"/>
            </a:solidFill>
            <a:prstDash val="solid"/>
          </a:ln>
        </p:spPr>
      </p:sp>
      <p:sp>
        <p:nvSpPr>
          <p:cNvPr id="72" name="Shape 70"/>
          <p:cNvSpPr/>
          <p:nvPr/>
        </p:nvSpPr>
        <p:spPr>
          <a:xfrm>
            <a:off x="548640" y="3493008"/>
            <a:ext cx="11201400" cy="164592"/>
          </a:xfrm>
          <a:prstGeom prst="rect">
            <a:avLst/>
          </a:prstGeom>
          <a:solidFill>
            <a:srgbClr val="F7FAFA"/>
          </a:solidFill>
          <a:ln w="12700">
            <a:solidFill>
              <a:srgbClr val="F7FAFA"/>
            </a:solidFill>
            <a:prstDash val="solid"/>
          </a:ln>
        </p:spPr>
      </p:sp>
      <p:sp>
        <p:nvSpPr>
          <p:cNvPr id="73" name="Text 71"/>
          <p:cNvSpPr/>
          <p:nvPr/>
        </p:nvSpPr>
        <p:spPr>
          <a:xfrm>
            <a:off x="548640" y="3493008"/>
            <a:ext cx="320040" cy="164592"/>
          </a:xfrm>
          <a:prstGeom prst="rect">
            <a:avLst/>
          </a:prstGeom>
          <a:noFill/>
          <a:ln/>
        </p:spPr>
        <p:txBody>
          <a:bodyPr wrap="square" lIns="0" tIns="0" rIns="0" bIns="0" rtlCol="0" anchor="ctr"/>
          <a:lstStyle/>
          <a:p>
            <a:pPr marL="0" indent="0">
              <a:buNone/>
            </a:pPr>
            <a:r>
              <a:rPr lang="en-US" sz="750" b="1" dirty="0">
                <a:solidFill>
                  <a:srgbClr val="E08A3C"/>
                </a:solidFill>
                <a:latin typeface="Calibri" pitchFamily="34" charset="0"/>
                <a:ea typeface="Calibri" pitchFamily="34" charset="-122"/>
                <a:cs typeface="Calibri" pitchFamily="34" charset="-120"/>
              </a:rPr>
              <a:t>P5</a:t>
            </a:r>
            <a:endParaRPr lang="en-US" sz="750" dirty="0"/>
          </a:p>
        </p:txBody>
      </p:sp>
      <p:sp>
        <p:nvSpPr>
          <p:cNvPr id="74" name="Text 72"/>
          <p:cNvSpPr/>
          <p:nvPr/>
        </p:nvSpPr>
        <p:spPr>
          <a:xfrm>
            <a:off x="877824" y="3493008"/>
            <a:ext cx="3703320" cy="164592"/>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Resume an interrupted module (R35, NFR20)</a:t>
            </a:r>
            <a:endParaRPr lang="en-US" sz="800" dirty="0"/>
          </a:p>
        </p:txBody>
      </p:sp>
      <p:sp>
        <p:nvSpPr>
          <p:cNvPr id="75" name="Text 73"/>
          <p:cNvSpPr/>
          <p:nvPr/>
        </p:nvSpPr>
        <p:spPr>
          <a:xfrm>
            <a:off x="4206240" y="3493008"/>
            <a:ext cx="566928" cy="164592"/>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6 h</a:t>
            </a:r>
            <a:endParaRPr lang="en-US" sz="800" dirty="0"/>
          </a:p>
        </p:txBody>
      </p:sp>
      <p:sp>
        <p:nvSpPr>
          <p:cNvPr id="76" name="Shape 74"/>
          <p:cNvSpPr/>
          <p:nvPr/>
        </p:nvSpPr>
        <p:spPr>
          <a:xfrm>
            <a:off x="7047411" y="3520440"/>
            <a:ext cx="364454" cy="109728"/>
          </a:xfrm>
          <a:prstGeom prst="roundRect">
            <a:avLst>
              <a:gd name="adj" fmla="val 250000"/>
            </a:avLst>
          </a:prstGeom>
          <a:solidFill>
            <a:srgbClr val="E08A3C"/>
          </a:solidFill>
          <a:ln w="12700">
            <a:solidFill>
              <a:srgbClr val="E08A3C"/>
            </a:solidFill>
            <a:prstDash val="solid"/>
          </a:ln>
        </p:spPr>
      </p:sp>
      <p:sp>
        <p:nvSpPr>
          <p:cNvPr id="77" name="Text 75"/>
          <p:cNvSpPr/>
          <p:nvPr/>
        </p:nvSpPr>
        <p:spPr>
          <a:xfrm>
            <a:off x="548640" y="3657600"/>
            <a:ext cx="320040" cy="164592"/>
          </a:xfrm>
          <a:prstGeom prst="rect">
            <a:avLst/>
          </a:prstGeom>
          <a:noFill/>
          <a:ln/>
        </p:spPr>
        <p:txBody>
          <a:bodyPr wrap="square" lIns="0" tIns="0" rIns="0" bIns="0" rtlCol="0" anchor="ctr"/>
          <a:lstStyle/>
          <a:p>
            <a:pPr marL="0" indent="0">
              <a:buNone/>
            </a:pPr>
            <a:r>
              <a:rPr lang="en-US" sz="750" b="1" dirty="0">
                <a:solidFill>
                  <a:srgbClr val="1C7293"/>
                </a:solidFill>
                <a:latin typeface="Calibri" pitchFamily="34" charset="0"/>
                <a:ea typeface="Calibri" pitchFamily="34" charset="-122"/>
                <a:cs typeface="Calibri" pitchFamily="34" charset="-120"/>
              </a:rPr>
              <a:t>P6</a:t>
            </a:r>
            <a:endParaRPr lang="en-US" sz="750" dirty="0"/>
          </a:p>
        </p:txBody>
      </p:sp>
      <p:sp>
        <p:nvSpPr>
          <p:cNvPr id="78" name="Text 76"/>
          <p:cNvSpPr/>
          <p:nvPr/>
        </p:nvSpPr>
        <p:spPr>
          <a:xfrm>
            <a:off x="877824" y="3657600"/>
            <a:ext cx="3703320" cy="164592"/>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Class and student management screens (R05-R07)</a:t>
            </a:r>
            <a:endParaRPr lang="en-US" sz="800" dirty="0"/>
          </a:p>
        </p:txBody>
      </p:sp>
      <p:sp>
        <p:nvSpPr>
          <p:cNvPr id="79" name="Text 77"/>
          <p:cNvSpPr/>
          <p:nvPr/>
        </p:nvSpPr>
        <p:spPr>
          <a:xfrm>
            <a:off x="4206240" y="3657600"/>
            <a:ext cx="566928" cy="164592"/>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8 h</a:t>
            </a:r>
            <a:endParaRPr lang="en-US" sz="800" dirty="0"/>
          </a:p>
        </p:txBody>
      </p:sp>
      <p:sp>
        <p:nvSpPr>
          <p:cNvPr id="80" name="Shape 78"/>
          <p:cNvSpPr/>
          <p:nvPr/>
        </p:nvSpPr>
        <p:spPr>
          <a:xfrm>
            <a:off x="7439297" y="3685032"/>
            <a:ext cx="364454" cy="109728"/>
          </a:xfrm>
          <a:prstGeom prst="roundRect">
            <a:avLst>
              <a:gd name="adj" fmla="val 250000"/>
            </a:avLst>
          </a:prstGeom>
          <a:solidFill>
            <a:srgbClr val="1C7293"/>
          </a:solidFill>
          <a:ln w="12700">
            <a:solidFill>
              <a:srgbClr val="1C7293"/>
            </a:solidFill>
            <a:prstDash val="solid"/>
          </a:ln>
        </p:spPr>
      </p:sp>
      <p:sp>
        <p:nvSpPr>
          <p:cNvPr id="81" name="Shape 79"/>
          <p:cNvSpPr/>
          <p:nvPr/>
        </p:nvSpPr>
        <p:spPr>
          <a:xfrm>
            <a:off x="548640" y="3822192"/>
            <a:ext cx="11201400" cy="164592"/>
          </a:xfrm>
          <a:prstGeom prst="rect">
            <a:avLst/>
          </a:prstGeom>
          <a:solidFill>
            <a:srgbClr val="F7FAFA"/>
          </a:solidFill>
          <a:ln w="12700">
            <a:solidFill>
              <a:srgbClr val="F7FAFA"/>
            </a:solidFill>
            <a:prstDash val="solid"/>
          </a:ln>
        </p:spPr>
      </p:sp>
      <p:sp>
        <p:nvSpPr>
          <p:cNvPr id="82" name="Text 80"/>
          <p:cNvSpPr/>
          <p:nvPr/>
        </p:nvSpPr>
        <p:spPr>
          <a:xfrm>
            <a:off x="548640" y="3822192"/>
            <a:ext cx="320040" cy="164592"/>
          </a:xfrm>
          <a:prstGeom prst="rect">
            <a:avLst/>
          </a:prstGeom>
          <a:noFill/>
          <a:ln/>
        </p:spPr>
        <p:txBody>
          <a:bodyPr wrap="square" lIns="0" tIns="0" rIns="0" bIns="0" rtlCol="0" anchor="ctr"/>
          <a:lstStyle/>
          <a:p>
            <a:pPr marL="0" indent="0">
              <a:buNone/>
            </a:pPr>
            <a:r>
              <a:rPr lang="en-US" sz="750" b="1" dirty="0">
                <a:solidFill>
                  <a:srgbClr val="1C7293"/>
                </a:solidFill>
                <a:latin typeface="Calibri" pitchFamily="34" charset="0"/>
                <a:ea typeface="Calibri" pitchFamily="34" charset="-122"/>
                <a:cs typeface="Calibri" pitchFamily="34" charset="-120"/>
              </a:rPr>
              <a:t>P6</a:t>
            </a:r>
            <a:endParaRPr lang="en-US" sz="750" dirty="0"/>
          </a:p>
        </p:txBody>
      </p:sp>
      <p:sp>
        <p:nvSpPr>
          <p:cNvPr id="83" name="Text 81"/>
          <p:cNvSpPr/>
          <p:nvPr/>
        </p:nvSpPr>
        <p:spPr>
          <a:xfrm>
            <a:off x="877824" y="3822192"/>
            <a:ext cx="3703320" cy="164592"/>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Assign a module to a class or a student (R19)</a:t>
            </a:r>
            <a:endParaRPr lang="en-US" sz="800" dirty="0"/>
          </a:p>
        </p:txBody>
      </p:sp>
      <p:sp>
        <p:nvSpPr>
          <p:cNvPr id="84" name="Text 82"/>
          <p:cNvSpPr/>
          <p:nvPr/>
        </p:nvSpPr>
        <p:spPr>
          <a:xfrm>
            <a:off x="4206240" y="3822192"/>
            <a:ext cx="566928" cy="164592"/>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6 h</a:t>
            </a:r>
            <a:endParaRPr lang="en-US" sz="800" dirty="0"/>
          </a:p>
        </p:txBody>
      </p:sp>
      <p:sp>
        <p:nvSpPr>
          <p:cNvPr id="85" name="Shape 83"/>
          <p:cNvSpPr/>
          <p:nvPr/>
        </p:nvSpPr>
        <p:spPr>
          <a:xfrm>
            <a:off x="7635240" y="3849624"/>
            <a:ext cx="364454" cy="109728"/>
          </a:xfrm>
          <a:prstGeom prst="roundRect">
            <a:avLst>
              <a:gd name="adj" fmla="val 250000"/>
            </a:avLst>
          </a:prstGeom>
          <a:solidFill>
            <a:srgbClr val="1C7293"/>
          </a:solidFill>
          <a:ln w="12700">
            <a:solidFill>
              <a:srgbClr val="1C7293"/>
            </a:solidFill>
            <a:prstDash val="solid"/>
          </a:ln>
        </p:spPr>
      </p:sp>
      <p:sp>
        <p:nvSpPr>
          <p:cNvPr id="86" name="Text 84"/>
          <p:cNvSpPr/>
          <p:nvPr/>
        </p:nvSpPr>
        <p:spPr>
          <a:xfrm>
            <a:off x="548640" y="3986784"/>
            <a:ext cx="320040" cy="164592"/>
          </a:xfrm>
          <a:prstGeom prst="rect">
            <a:avLst/>
          </a:prstGeom>
          <a:noFill/>
          <a:ln/>
        </p:spPr>
        <p:txBody>
          <a:bodyPr wrap="square" lIns="0" tIns="0" rIns="0" bIns="0" rtlCol="0" anchor="ctr"/>
          <a:lstStyle/>
          <a:p>
            <a:pPr marL="0" indent="0">
              <a:buNone/>
            </a:pPr>
            <a:r>
              <a:rPr lang="en-US" sz="750" b="1" dirty="0">
                <a:solidFill>
                  <a:srgbClr val="1C7293"/>
                </a:solidFill>
                <a:latin typeface="Calibri" pitchFamily="34" charset="0"/>
                <a:ea typeface="Calibri" pitchFamily="34" charset="-122"/>
                <a:cs typeface="Calibri" pitchFamily="34" charset="-120"/>
              </a:rPr>
              <a:t>P6</a:t>
            </a:r>
            <a:endParaRPr lang="en-US" sz="750" dirty="0"/>
          </a:p>
        </p:txBody>
      </p:sp>
      <p:sp>
        <p:nvSpPr>
          <p:cNvPr id="87" name="Text 85"/>
          <p:cNvSpPr/>
          <p:nvPr/>
        </p:nvSpPr>
        <p:spPr>
          <a:xfrm>
            <a:off x="877824" y="3986784"/>
            <a:ext cx="3703320" cy="164592"/>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Progress aggregation endpoints (R36, R40)</a:t>
            </a:r>
            <a:endParaRPr lang="en-US" sz="800" dirty="0"/>
          </a:p>
        </p:txBody>
      </p:sp>
      <p:sp>
        <p:nvSpPr>
          <p:cNvPr id="88" name="Text 86"/>
          <p:cNvSpPr/>
          <p:nvPr/>
        </p:nvSpPr>
        <p:spPr>
          <a:xfrm>
            <a:off x="4206240" y="3986784"/>
            <a:ext cx="566928" cy="164592"/>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6 h</a:t>
            </a:r>
            <a:endParaRPr lang="en-US" sz="800" dirty="0"/>
          </a:p>
        </p:txBody>
      </p:sp>
      <p:sp>
        <p:nvSpPr>
          <p:cNvPr id="89" name="Shape 87"/>
          <p:cNvSpPr/>
          <p:nvPr/>
        </p:nvSpPr>
        <p:spPr>
          <a:xfrm>
            <a:off x="7831183" y="4014216"/>
            <a:ext cx="364454" cy="109728"/>
          </a:xfrm>
          <a:prstGeom prst="roundRect">
            <a:avLst>
              <a:gd name="adj" fmla="val 250000"/>
            </a:avLst>
          </a:prstGeom>
          <a:solidFill>
            <a:srgbClr val="1C7293"/>
          </a:solidFill>
          <a:ln w="12700">
            <a:solidFill>
              <a:srgbClr val="1C7293"/>
            </a:solidFill>
            <a:prstDash val="solid"/>
          </a:ln>
        </p:spPr>
      </p:sp>
      <p:sp>
        <p:nvSpPr>
          <p:cNvPr id="90" name="Shape 88"/>
          <p:cNvSpPr/>
          <p:nvPr/>
        </p:nvSpPr>
        <p:spPr>
          <a:xfrm>
            <a:off x="548640" y="4151376"/>
            <a:ext cx="11201400" cy="164592"/>
          </a:xfrm>
          <a:prstGeom prst="rect">
            <a:avLst/>
          </a:prstGeom>
          <a:solidFill>
            <a:srgbClr val="F7FAFA"/>
          </a:solidFill>
          <a:ln w="12700">
            <a:solidFill>
              <a:srgbClr val="F7FAFA"/>
            </a:solidFill>
            <a:prstDash val="solid"/>
          </a:ln>
        </p:spPr>
      </p:sp>
      <p:sp>
        <p:nvSpPr>
          <p:cNvPr id="91" name="Text 89"/>
          <p:cNvSpPr/>
          <p:nvPr/>
        </p:nvSpPr>
        <p:spPr>
          <a:xfrm>
            <a:off x="548640" y="4151376"/>
            <a:ext cx="320040" cy="164592"/>
          </a:xfrm>
          <a:prstGeom prst="rect">
            <a:avLst/>
          </a:prstGeom>
          <a:noFill/>
          <a:ln/>
        </p:spPr>
        <p:txBody>
          <a:bodyPr wrap="square" lIns="0" tIns="0" rIns="0" bIns="0" rtlCol="0" anchor="ctr"/>
          <a:lstStyle/>
          <a:p>
            <a:pPr marL="0" indent="0">
              <a:buNone/>
            </a:pPr>
            <a:r>
              <a:rPr lang="en-US" sz="750" b="1" dirty="0">
                <a:solidFill>
                  <a:srgbClr val="1C7293"/>
                </a:solidFill>
                <a:latin typeface="Calibri" pitchFamily="34" charset="0"/>
                <a:ea typeface="Calibri" pitchFamily="34" charset="-122"/>
                <a:cs typeface="Calibri" pitchFamily="34" charset="-120"/>
              </a:rPr>
              <a:t>P6</a:t>
            </a:r>
            <a:endParaRPr lang="en-US" sz="750" dirty="0"/>
          </a:p>
        </p:txBody>
      </p:sp>
      <p:sp>
        <p:nvSpPr>
          <p:cNvPr id="92" name="Text 90"/>
          <p:cNvSpPr/>
          <p:nvPr/>
        </p:nvSpPr>
        <p:spPr>
          <a:xfrm>
            <a:off x="877824" y="4151376"/>
            <a:ext cx="3703320" cy="164592"/>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Teacher dashboard + charts (R36, R40)</a:t>
            </a:r>
            <a:endParaRPr lang="en-US" sz="800" dirty="0"/>
          </a:p>
        </p:txBody>
      </p:sp>
      <p:sp>
        <p:nvSpPr>
          <p:cNvPr id="93" name="Text 91"/>
          <p:cNvSpPr/>
          <p:nvPr/>
        </p:nvSpPr>
        <p:spPr>
          <a:xfrm>
            <a:off x="4206240" y="4151376"/>
            <a:ext cx="566928" cy="164592"/>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8 h</a:t>
            </a:r>
            <a:endParaRPr lang="en-US" sz="800" dirty="0"/>
          </a:p>
        </p:txBody>
      </p:sp>
      <p:sp>
        <p:nvSpPr>
          <p:cNvPr id="94" name="Shape 92"/>
          <p:cNvSpPr/>
          <p:nvPr/>
        </p:nvSpPr>
        <p:spPr>
          <a:xfrm>
            <a:off x="8027126" y="4178808"/>
            <a:ext cx="560397" cy="109728"/>
          </a:xfrm>
          <a:prstGeom prst="roundRect">
            <a:avLst>
              <a:gd name="adj" fmla="val 250000"/>
            </a:avLst>
          </a:prstGeom>
          <a:solidFill>
            <a:srgbClr val="1C7293"/>
          </a:solidFill>
          <a:ln w="12700">
            <a:solidFill>
              <a:srgbClr val="1C7293"/>
            </a:solidFill>
            <a:prstDash val="solid"/>
          </a:ln>
        </p:spPr>
      </p:sp>
      <p:sp>
        <p:nvSpPr>
          <p:cNvPr id="95" name="Text 93"/>
          <p:cNvSpPr/>
          <p:nvPr/>
        </p:nvSpPr>
        <p:spPr>
          <a:xfrm>
            <a:off x="548640" y="4315968"/>
            <a:ext cx="320040" cy="164592"/>
          </a:xfrm>
          <a:prstGeom prst="rect">
            <a:avLst/>
          </a:prstGeom>
          <a:noFill/>
          <a:ln/>
        </p:spPr>
        <p:txBody>
          <a:bodyPr wrap="square" lIns="0" tIns="0" rIns="0" bIns="0" rtlCol="0" anchor="ctr"/>
          <a:lstStyle/>
          <a:p>
            <a:pPr marL="0" indent="0">
              <a:buNone/>
            </a:pPr>
            <a:r>
              <a:rPr lang="en-US" sz="750" b="1" dirty="0">
                <a:solidFill>
                  <a:srgbClr val="1C7293"/>
                </a:solidFill>
                <a:latin typeface="Calibri" pitchFamily="34" charset="0"/>
                <a:ea typeface="Calibri" pitchFamily="34" charset="-122"/>
                <a:cs typeface="Calibri" pitchFamily="34" charset="-120"/>
              </a:rPr>
              <a:t>P6</a:t>
            </a:r>
            <a:endParaRPr lang="en-US" sz="750" dirty="0"/>
          </a:p>
        </p:txBody>
      </p:sp>
      <p:sp>
        <p:nvSpPr>
          <p:cNvPr id="96" name="Text 94"/>
          <p:cNvSpPr/>
          <p:nvPr/>
        </p:nvSpPr>
        <p:spPr>
          <a:xfrm>
            <a:off x="877824" y="4315968"/>
            <a:ext cx="3703320" cy="164592"/>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Results page: filters, sort, per-task drill-down (R37, R41)</a:t>
            </a:r>
            <a:endParaRPr lang="en-US" sz="800" dirty="0"/>
          </a:p>
        </p:txBody>
      </p:sp>
      <p:sp>
        <p:nvSpPr>
          <p:cNvPr id="97" name="Text 95"/>
          <p:cNvSpPr/>
          <p:nvPr/>
        </p:nvSpPr>
        <p:spPr>
          <a:xfrm>
            <a:off x="4206240" y="4315968"/>
            <a:ext cx="566928" cy="164592"/>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8 h</a:t>
            </a:r>
            <a:endParaRPr lang="en-US" sz="800" dirty="0"/>
          </a:p>
        </p:txBody>
      </p:sp>
      <p:sp>
        <p:nvSpPr>
          <p:cNvPr id="98" name="Shape 96"/>
          <p:cNvSpPr/>
          <p:nvPr/>
        </p:nvSpPr>
        <p:spPr>
          <a:xfrm>
            <a:off x="8419011" y="4343400"/>
            <a:ext cx="364454" cy="109728"/>
          </a:xfrm>
          <a:prstGeom prst="roundRect">
            <a:avLst>
              <a:gd name="adj" fmla="val 250000"/>
            </a:avLst>
          </a:prstGeom>
          <a:solidFill>
            <a:srgbClr val="1C7293"/>
          </a:solidFill>
          <a:ln w="12700">
            <a:solidFill>
              <a:srgbClr val="1C7293"/>
            </a:solidFill>
            <a:prstDash val="solid"/>
          </a:ln>
        </p:spPr>
      </p:sp>
      <p:sp>
        <p:nvSpPr>
          <p:cNvPr id="99" name="Shape 97"/>
          <p:cNvSpPr/>
          <p:nvPr/>
        </p:nvSpPr>
        <p:spPr>
          <a:xfrm>
            <a:off x="548640" y="4480560"/>
            <a:ext cx="11201400" cy="164592"/>
          </a:xfrm>
          <a:prstGeom prst="rect">
            <a:avLst/>
          </a:prstGeom>
          <a:solidFill>
            <a:srgbClr val="F7FAFA"/>
          </a:solidFill>
          <a:ln w="12700">
            <a:solidFill>
              <a:srgbClr val="F7FAFA"/>
            </a:solidFill>
            <a:prstDash val="solid"/>
          </a:ln>
        </p:spPr>
      </p:sp>
      <p:sp>
        <p:nvSpPr>
          <p:cNvPr id="100" name="Text 98"/>
          <p:cNvSpPr/>
          <p:nvPr/>
        </p:nvSpPr>
        <p:spPr>
          <a:xfrm>
            <a:off x="548640" y="4480560"/>
            <a:ext cx="320040" cy="164592"/>
          </a:xfrm>
          <a:prstGeom prst="rect">
            <a:avLst/>
          </a:prstGeom>
          <a:noFill/>
          <a:ln/>
        </p:spPr>
        <p:txBody>
          <a:bodyPr wrap="square" lIns="0" tIns="0" rIns="0" bIns="0" rtlCol="0" anchor="ctr"/>
          <a:lstStyle/>
          <a:p>
            <a:pPr marL="0" indent="0">
              <a:buNone/>
            </a:pPr>
            <a:r>
              <a:rPr lang="en-US" sz="750" b="1" dirty="0">
                <a:solidFill>
                  <a:srgbClr val="1C7293"/>
                </a:solidFill>
                <a:latin typeface="Calibri" pitchFamily="34" charset="0"/>
                <a:ea typeface="Calibri" pitchFamily="34" charset="-122"/>
                <a:cs typeface="Calibri" pitchFamily="34" charset="-120"/>
              </a:rPr>
              <a:t>P6</a:t>
            </a:r>
            <a:endParaRPr lang="en-US" sz="750" dirty="0"/>
          </a:p>
        </p:txBody>
      </p:sp>
      <p:sp>
        <p:nvSpPr>
          <p:cNvPr id="101" name="Text 99"/>
          <p:cNvSpPr/>
          <p:nvPr/>
        </p:nvSpPr>
        <p:spPr>
          <a:xfrm>
            <a:off x="877824" y="4480560"/>
            <a:ext cx="3703320" cy="164592"/>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Module reset, confirmations, input validation (R43-R46)</a:t>
            </a:r>
            <a:endParaRPr lang="en-US" sz="800" dirty="0"/>
          </a:p>
        </p:txBody>
      </p:sp>
      <p:sp>
        <p:nvSpPr>
          <p:cNvPr id="102" name="Text 100"/>
          <p:cNvSpPr/>
          <p:nvPr/>
        </p:nvSpPr>
        <p:spPr>
          <a:xfrm>
            <a:off x="4206240" y="4480560"/>
            <a:ext cx="566928" cy="164592"/>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4 h</a:t>
            </a:r>
            <a:endParaRPr lang="en-US" sz="800" dirty="0"/>
          </a:p>
        </p:txBody>
      </p:sp>
      <p:sp>
        <p:nvSpPr>
          <p:cNvPr id="103" name="Shape 101"/>
          <p:cNvSpPr/>
          <p:nvPr/>
        </p:nvSpPr>
        <p:spPr>
          <a:xfrm>
            <a:off x="8614954" y="4507992"/>
            <a:ext cx="364454" cy="109728"/>
          </a:xfrm>
          <a:prstGeom prst="roundRect">
            <a:avLst>
              <a:gd name="adj" fmla="val 250000"/>
            </a:avLst>
          </a:prstGeom>
          <a:solidFill>
            <a:srgbClr val="1C7293"/>
          </a:solidFill>
          <a:ln w="12700">
            <a:solidFill>
              <a:srgbClr val="1C7293"/>
            </a:solidFill>
            <a:prstDash val="solid"/>
          </a:ln>
        </p:spPr>
      </p:sp>
      <p:sp>
        <p:nvSpPr>
          <p:cNvPr id="104" name="Text 102"/>
          <p:cNvSpPr/>
          <p:nvPr/>
        </p:nvSpPr>
        <p:spPr>
          <a:xfrm>
            <a:off x="548640" y="4645152"/>
            <a:ext cx="320040" cy="164592"/>
          </a:xfrm>
          <a:prstGeom prst="rect">
            <a:avLst/>
          </a:prstGeom>
          <a:noFill/>
          <a:ln/>
        </p:spPr>
        <p:txBody>
          <a:bodyPr wrap="square" lIns="0" tIns="0" rIns="0" bIns="0" rtlCol="0" anchor="ctr"/>
          <a:lstStyle/>
          <a:p>
            <a:pPr marL="0" indent="0">
              <a:buNone/>
            </a:pPr>
            <a:r>
              <a:rPr lang="en-US" sz="750" b="1" dirty="0">
                <a:solidFill>
                  <a:srgbClr val="1C7293"/>
                </a:solidFill>
                <a:latin typeface="Calibri" pitchFamily="34" charset="0"/>
                <a:ea typeface="Calibri" pitchFamily="34" charset="-122"/>
                <a:cs typeface="Calibri" pitchFamily="34" charset="-120"/>
              </a:rPr>
              <a:t>P6</a:t>
            </a:r>
            <a:endParaRPr lang="en-US" sz="750" dirty="0"/>
          </a:p>
        </p:txBody>
      </p:sp>
      <p:sp>
        <p:nvSpPr>
          <p:cNvPr id="105" name="Text 103"/>
          <p:cNvSpPr/>
          <p:nvPr/>
        </p:nvSpPr>
        <p:spPr>
          <a:xfrm>
            <a:off x="877824" y="4645152"/>
            <a:ext cx="3703320" cy="164592"/>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Print and CSV export of results (R45, R48)</a:t>
            </a:r>
            <a:endParaRPr lang="en-US" sz="800" dirty="0"/>
          </a:p>
        </p:txBody>
      </p:sp>
      <p:sp>
        <p:nvSpPr>
          <p:cNvPr id="106" name="Text 104"/>
          <p:cNvSpPr/>
          <p:nvPr/>
        </p:nvSpPr>
        <p:spPr>
          <a:xfrm>
            <a:off x="4206240" y="4645152"/>
            <a:ext cx="566928" cy="164592"/>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4 h</a:t>
            </a:r>
            <a:endParaRPr lang="en-US" sz="800" dirty="0"/>
          </a:p>
        </p:txBody>
      </p:sp>
      <p:sp>
        <p:nvSpPr>
          <p:cNvPr id="107" name="Shape 105"/>
          <p:cNvSpPr/>
          <p:nvPr/>
        </p:nvSpPr>
        <p:spPr>
          <a:xfrm>
            <a:off x="8810897" y="4672584"/>
            <a:ext cx="168511" cy="109728"/>
          </a:xfrm>
          <a:prstGeom prst="roundRect">
            <a:avLst>
              <a:gd name="adj" fmla="val 250000"/>
            </a:avLst>
          </a:prstGeom>
          <a:solidFill>
            <a:srgbClr val="1C7293"/>
          </a:solidFill>
          <a:ln w="12700">
            <a:solidFill>
              <a:srgbClr val="1C7293"/>
            </a:solidFill>
            <a:prstDash val="solid"/>
          </a:ln>
        </p:spPr>
      </p:sp>
      <p:sp>
        <p:nvSpPr>
          <p:cNvPr id="108" name="Shape 106"/>
          <p:cNvSpPr/>
          <p:nvPr/>
        </p:nvSpPr>
        <p:spPr>
          <a:xfrm>
            <a:off x="548640" y="4809744"/>
            <a:ext cx="11201400" cy="164592"/>
          </a:xfrm>
          <a:prstGeom prst="rect">
            <a:avLst/>
          </a:prstGeom>
          <a:solidFill>
            <a:srgbClr val="F7FAFA"/>
          </a:solidFill>
          <a:ln w="12700">
            <a:solidFill>
              <a:srgbClr val="F7FAFA"/>
            </a:solidFill>
            <a:prstDash val="solid"/>
          </a:ln>
        </p:spPr>
      </p:sp>
      <p:sp>
        <p:nvSpPr>
          <p:cNvPr id="109" name="Text 107"/>
          <p:cNvSpPr/>
          <p:nvPr/>
        </p:nvSpPr>
        <p:spPr>
          <a:xfrm>
            <a:off x="548640" y="4809744"/>
            <a:ext cx="320040" cy="164592"/>
          </a:xfrm>
          <a:prstGeom prst="rect">
            <a:avLst/>
          </a:prstGeom>
          <a:noFill/>
          <a:ln/>
        </p:spPr>
        <p:txBody>
          <a:bodyPr wrap="square" lIns="0" tIns="0" rIns="0" bIns="0" rtlCol="0" anchor="ctr"/>
          <a:lstStyle/>
          <a:p>
            <a:pPr marL="0" indent="0">
              <a:buNone/>
            </a:pPr>
            <a:r>
              <a:rPr lang="en-US" sz="750" b="1" dirty="0">
                <a:solidFill>
                  <a:srgbClr val="50808E"/>
                </a:solidFill>
                <a:latin typeface="Calibri" pitchFamily="34" charset="0"/>
                <a:ea typeface="Calibri" pitchFamily="34" charset="-122"/>
                <a:cs typeface="Calibri" pitchFamily="34" charset="-120"/>
              </a:rPr>
              <a:t>P7</a:t>
            </a:r>
            <a:endParaRPr lang="en-US" sz="750" dirty="0"/>
          </a:p>
        </p:txBody>
      </p:sp>
      <p:sp>
        <p:nvSpPr>
          <p:cNvPr id="110" name="Text 108"/>
          <p:cNvSpPr/>
          <p:nvPr/>
        </p:nvSpPr>
        <p:spPr>
          <a:xfrm>
            <a:off x="877824" y="4809744"/>
            <a:ext cx="3703320" cy="164592"/>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Playwright end-to-end suite (TR09)</a:t>
            </a:r>
            <a:endParaRPr lang="en-US" sz="800" dirty="0"/>
          </a:p>
        </p:txBody>
      </p:sp>
      <p:sp>
        <p:nvSpPr>
          <p:cNvPr id="111" name="Text 109"/>
          <p:cNvSpPr/>
          <p:nvPr/>
        </p:nvSpPr>
        <p:spPr>
          <a:xfrm>
            <a:off x="4206240" y="4809744"/>
            <a:ext cx="566928" cy="164592"/>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8 h</a:t>
            </a:r>
            <a:endParaRPr lang="en-US" sz="800" dirty="0"/>
          </a:p>
        </p:txBody>
      </p:sp>
      <p:sp>
        <p:nvSpPr>
          <p:cNvPr id="112" name="Shape 110"/>
          <p:cNvSpPr/>
          <p:nvPr/>
        </p:nvSpPr>
        <p:spPr>
          <a:xfrm>
            <a:off x="9006840" y="4837176"/>
            <a:ext cx="364454" cy="109728"/>
          </a:xfrm>
          <a:prstGeom prst="roundRect">
            <a:avLst>
              <a:gd name="adj" fmla="val 250000"/>
            </a:avLst>
          </a:prstGeom>
          <a:solidFill>
            <a:srgbClr val="50808E"/>
          </a:solidFill>
          <a:ln w="12700">
            <a:solidFill>
              <a:srgbClr val="50808E"/>
            </a:solidFill>
            <a:prstDash val="solid"/>
          </a:ln>
        </p:spPr>
      </p:sp>
      <p:sp>
        <p:nvSpPr>
          <p:cNvPr id="113" name="Text 111"/>
          <p:cNvSpPr/>
          <p:nvPr/>
        </p:nvSpPr>
        <p:spPr>
          <a:xfrm>
            <a:off x="548640" y="4974336"/>
            <a:ext cx="320040" cy="164592"/>
          </a:xfrm>
          <a:prstGeom prst="rect">
            <a:avLst/>
          </a:prstGeom>
          <a:noFill/>
          <a:ln/>
        </p:spPr>
        <p:txBody>
          <a:bodyPr wrap="square" lIns="0" tIns="0" rIns="0" bIns="0" rtlCol="0" anchor="ctr"/>
          <a:lstStyle/>
          <a:p>
            <a:pPr marL="0" indent="0">
              <a:buNone/>
            </a:pPr>
            <a:r>
              <a:rPr lang="en-US" sz="750" b="1" dirty="0">
                <a:solidFill>
                  <a:srgbClr val="50808E"/>
                </a:solidFill>
                <a:latin typeface="Calibri" pitchFamily="34" charset="0"/>
                <a:ea typeface="Calibri" pitchFamily="34" charset="-122"/>
                <a:cs typeface="Calibri" pitchFamily="34" charset="-120"/>
              </a:rPr>
              <a:t>P7</a:t>
            </a:r>
            <a:endParaRPr lang="en-US" sz="750" dirty="0"/>
          </a:p>
        </p:txBody>
      </p:sp>
      <p:sp>
        <p:nvSpPr>
          <p:cNvPr id="114" name="Text 112"/>
          <p:cNvSpPr/>
          <p:nvPr/>
        </p:nvSpPr>
        <p:spPr>
          <a:xfrm>
            <a:off x="877824" y="4974336"/>
            <a:ext cx="3703320" cy="164592"/>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Security checklist, rate limits, error-leak audit</a:t>
            </a:r>
            <a:endParaRPr lang="en-US" sz="800" dirty="0"/>
          </a:p>
        </p:txBody>
      </p:sp>
      <p:sp>
        <p:nvSpPr>
          <p:cNvPr id="115" name="Text 113"/>
          <p:cNvSpPr/>
          <p:nvPr/>
        </p:nvSpPr>
        <p:spPr>
          <a:xfrm>
            <a:off x="4206240" y="4974336"/>
            <a:ext cx="566928" cy="164592"/>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5 h</a:t>
            </a:r>
            <a:endParaRPr lang="en-US" sz="800" dirty="0"/>
          </a:p>
        </p:txBody>
      </p:sp>
      <p:sp>
        <p:nvSpPr>
          <p:cNvPr id="116" name="Shape 114"/>
          <p:cNvSpPr/>
          <p:nvPr/>
        </p:nvSpPr>
        <p:spPr>
          <a:xfrm>
            <a:off x="9202783" y="5001768"/>
            <a:ext cx="364454" cy="109728"/>
          </a:xfrm>
          <a:prstGeom prst="roundRect">
            <a:avLst>
              <a:gd name="adj" fmla="val 250000"/>
            </a:avLst>
          </a:prstGeom>
          <a:solidFill>
            <a:srgbClr val="50808E"/>
          </a:solidFill>
          <a:ln w="12700">
            <a:solidFill>
              <a:srgbClr val="50808E"/>
            </a:solidFill>
            <a:prstDash val="solid"/>
          </a:ln>
        </p:spPr>
      </p:sp>
      <p:sp>
        <p:nvSpPr>
          <p:cNvPr id="117" name="Shape 115"/>
          <p:cNvSpPr/>
          <p:nvPr/>
        </p:nvSpPr>
        <p:spPr>
          <a:xfrm>
            <a:off x="548640" y="5138928"/>
            <a:ext cx="11201400" cy="164592"/>
          </a:xfrm>
          <a:prstGeom prst="rect">
            <a:avLst/>
          </a:prstGeom>
          <a:solidFill>
            <a:srgbClr val="F7FAFA"/>
          </a:solidFill>
          <a:ln w="12700">
            <a:solidFill>
              <a:srgbClr val="F7FAFA"/>
            </a:solidFill>
            <a:prstDash val="solid"/>
          </a:ln>
        </p:spPr>
      </p:sp>
      <p:sp>
        <p:nvSpPr>
          <p:cNvPr id="118" name="Text 116"/>
          <p:cNvSpPr/>
          <p:nvPr/>
        </p:nvSpPr>
        <p:spPr>
          <a:xfrm>
            <a:off x="548640" y="5138928"/>
            <a:ext cx="320040" cy="164592"/>
          </a:xfrm>
          <a:prstGeom prst="rect">
            <a:avLst/>
          </a:prstGeom>
          <a:noFill/>
          <a:ln/>
        </p:spPr>
        <p:txBody>
          <a:bodyPr wrap="square" lIns="0" tIns="0" rIns="0" bIns="0" rtlCol="0" anchor="ctr"/>
          <a:lstStyle/>
          <a:p>
            <a:pPr marL="0" indent="0">
              <a:buNone/>
            </a:pPr>
            <a:r>
              <a:rPr lang="en-US" sz="750" b="1" dirty="0">
                <a:solidFill>
                  <a:srgbClr val="50808E"/>
                </a:solidFill>
                <a:latin typeface="Calibri" pitchFamily="34" charset="0"/>
                <a:ea typeface="Calibri" pitchFamily="34" charset="-122"/>
                <a:cs typeface="Calibri" pitchFamily="34" charset="-120"/>
              </a:rPr>
              <a:t>P7</a:t>
            </a:r>
            <a:endParaRPr lang="en-US" sz="750" dirty="0"/>
          </a:p>
        </p:txBody>
      </p:sp>
      <p:sp>
        <p:nvSpPr>
          <p:cNvPr id="119" name="Text 117"/>
          <p:cNvSpPr/>
          <p:nvPr/>
        </p:nvSpPr>
        <p:spPr>
          <a:xfrm>
            <a:off x="877824" y="5138928"/>
            <a:ext cx="3703320" cy="164592"/>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Tablet, browser and child-usability pass (NFR16-NFR18)</a:t>
            </a:r>
            <a:endParaRPr lang="en-US" sz="800" dirty="0"/>
          </a:p>
        </p:txBody>
      </p:sp>
      <p:sp>
        <p:nvSpPr>
          <p:cNvPr id="120" name="Text 118"/>
          <p:cNvSpPr/>
          <p:nvPr/>
        </p:nvSpPr>
        <p:spPr>
          <a:xfrm>
            <a:off x="4206240" y="5138928"/>
            <a:ext cx="566928" cy="164592"/>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4 h</a:t>
            </a:r>
            <a:endParaRPr lang="en-US" sz="800" dirty="0"/>
          </a:p>
        </p:txBody>
      </p:sp>
      <p:sp>
        <p:nvSpPr>
          <p:cNvPr id="121" name="Shape 119"/>
          <p:cNvSpPr/>
          <p:nvPr/>
        </p:nvSpPr>
        <p:spPr>
          <a:xfrm>
            <a:off x="9398726" y="5166360"/>
            <a:ext cx="364454" cy="109728"/>
          </a:xfrm>
          <a:prstGeom prst="roundRect">
            <a:avLst>
              <a:gd name="adj" fmla="val 250000"/>
            </a:avLst>
          </a:prstGeom>
          <a:solidFill>
            <a:srgbClr val="50808E"/>
          </a:solidFill>
          <a:ln w="12700">
            <a:solidFill>
              <a:srgbClr val="50808E"/>
            </a:solidFill>
            <a:prstDash val="solid"/>
          </a:ln>
        </p:spPr>
      </p:sp>
      <p:sp>
        <p:nvSpPr>
          <p:cNvPr id="122" name="Text 120"/>
          <p:cNvSpPr/>
          <p:nvPr/>
        </p:nvSpPr>
        <p:spPr>
          <a:xfrm>
            <a:off x="548640" y="5303520"/>
            <a:ext cx="320040" cy="164592"/>
          </a:xfrm>
          <a:prstGeom prst="rect">
            <a:avLst/>
          </a:prstGeom>
          <a:noFill/>
          <a:ln/>
        </p:spPr>
        <p:txBody>
          <a:bodyPr wrap="square" lIns="0" tIns="0" rIns="0" bIns="0" rtlCol="0" anchor="ctr"/>
          <a:lstStyle/>
          <a:p>
            <a:pPr marL="0" indent="0">
              <a:buNone/>
            </a:pPr>
            <a:r>
              <a:rPr lang="en-US" sz="750" b="1" dirty="0">
                <a:solidFill>
                  <a:srgbClr val="50808E"/>
                </a:solidFill>
                <a:latin typeface="Calibri" pitchFamily="34" charset="0"/>
                <a:ea typeface="Calibri" pitchFamily="34" charset="-122"/>
                <a:cs typeface="Calibri" pitchFamily="34" charset="-120"/>
              </a:rPr>
              <a:t>P7</a:t>
            </a:r>
            <a:endParaRPr lang="en-US" sz="750" dirty="0"/>
          </a:p>
        </p:txBody>
      </p:sp>
      <p:sp>
        <p:nvSpPr>
          <p:cNvPr id="123" name="Text 121"/>
          <p:cNvSpPr/>
          <p:nvPr/>
        </p:nvSpPr>
        <p:spPr>
          <a:xfrm>
            <a:off x="877824" y="5303520"/>
            <a:ext cx="3703320" cy="164592"/>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Interruption test + backup-restore rehearsal</a:t>
            </a:r>
            <a:endParaRPr lang="en-US" sz="800" dirty="0"/>
          </a:p>
        </p:txBody>
      </p:sp>
      <p:sp>
        <p:nvSpPr>
          <p:cNvPr id="124" name="Text 122"/>
          <p:cNvSpPr/>
          <p:nvPr/>
        </p:nvSpPr>
        <p:spPr>
          <a:xfrm>
            <a:off x="4206240" y="5303520"/>
            <a:ext cx="566928" cy="164592"/>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4 h</a:t>
            </a:r>
            <a:endParaRPr lang="en-US" sz="800" dirty="0"/>
          </a:p>
        </p:txBody>
      </p:sp>
      <p:sp>
        <p:nvSpPr>
          <p:cNvPr id="125" name="Shape 123"/>
          <p:cNvSpPr/>
          <p:nvPr/>
        </p:nvSpPr>
        <p:spPr>
          <a:xfrm>
            <a:off x="9594669" y="5330952"/>
            <a:ext cx="168511" cy="109728"/>
          </a:xfrm>
          <a:prstGeom prst="roundRect">
            <a:avLst>
              <a:gd name="adj" fmla="val 250000"/>
            </a:avLst>
          </a:prstGeom>
          <a:solidFill>
            <a:srgbClr val="50808E"/>
          </a:solidFill>
          <a:ln w="12700">
            <a:solidFill>
              <a:srgbClr val="50808E"/>
            </a:solidFill>
            <a:prstDash val="solid"/>
          </a:ln>
        </p:spPr>
      </p:sp>
      <p:sp>
        <p:nvSpPr>
          <p:cNvPr id="126" name="Shape 124"/>
          <p:cNvSpPr/>
          <p:nvPr/>
        </p:nvSpPr>
        <p:spPr>
          <a:xfrm>
            <a:off x="548640" y="5468112"/>
            <a:ext cx="11201400" cy="164592"/>
          </a:xfrm>
          <a:prstGeom prst="rect">
            <a:avLst/>
          </a:prstGeom>
          <a:solidFill>
            <a:srgbClr val="F7FAFA"/>
          </a:solidFill>
          <a:ln w="12700">
            <a:solidFill>
              <a:srgbClr val="F7FAFA"/>
            </a:solidFill>
            <a:prstDash val="solid"/>
          </a:ln>
        </p:spPr>
      </p:sp>
      <p:sp>
        <p:nvSpPr>
          <p:cNvPr id="127" name="Text 125"/>
          <p:cNvSpPr/>
          <p:nvPr/>
        </p:nvSpPr>
        <p:spPr>
          <a:xfrm>
            <a:off x="548640" y="5468112"/>
            <a:ext cx="320040" cy="164592"/>
          </a:xfrm>
          <a:prstGeom prst="rect">
            <a:avLst/>
          </a:prstGeom>
          <a:noFill/>
          <a:ln/>
        </p:spPr>
        <p:txBody>
          <a:bodyPr wrap="square" lIns="0" tIns="0" rIns="0" bIns="0" rtlCol="0" anchor="ctr"/>
          <a:lstStyle/>
          <a:p>
            <a:pPr marL="0" indent="0">
              <a:buNone/>
            </a:pPr>
            <a:r>
              <a:rPr lang="en-US" sz="750" b="1" dirty="0">
                <a:solidFill>
                  <a:srgbClr val="50808E"/>
                </a:solidFill>
                <a:latin typeface="Calibri" pitchFamily="34" charset="0"/>
                <a:ea typeface="Calibri" pitchFamily="34" charset="-122"/>
                <a:cs typeface="Calibri" pitchFamily="34" charset="-120"/>
              </a:rPr>
              <a:t>P7</a:t>
            </a:r>
            <a:endParaRPr lang="en-US" sz="750" dirty="0"/>
          </a:p>
        </p:txBody>
      </p:sp>
      <p:sp>
        <p:nvSpPr>
          <p:cNvPr id="128" name="Text 126"/>
          <p:cNvSpPr/>
          <p:nvPr/>
        </p:nvSpPr>
        <p:spPr>
          <a:xfrm>
            <a:off x="877824" y="5468112"/>
            <a:ext cx="3703320" cy="164592"/>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Traceability matrix complete - Gate 3</a:t>
            </a:r>
            <a:endParaRPr lang="en-US" sz="800" dirty="0"/>
          </a:p>
        </p:txBody>
      </p:sp>
      <p:sp>
        <p:nvSpPr>
          <p:cNvPr id="129" name="Text 127"/>
          <p:cNvSpPr/>
          <p:nvPr/>
        </p:nvSpPr>
        <p:spPr>
          <a:xfrm>
            <a:off x="4206240" y="5468112"/>
            <a:ext cx="566928" cy="164592"/>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4 h</a:t>
            </a:r>
            <a:endParaRPr lang="en-US" sz="800" dirty="0"/>
          </a:p>
        </p:txBody>
      </p:sp>
      <p:sp>
        <p:nvSpPr>
          <p:cNvPr id="130" name="Shape 128"/>
          <p:cNvSpPr/>
          <p:nvPr/>
        </p:nvSpPr>
        <p:spPr>
          <a:xfrm>
            <a:off x="9790611" y="5495544"/>
            <a:ext cx="168511" cy="109728"/>
          </a:xfrm>
          <a:prstGeom prst="roundRect">
            <a:avLst>
              <a:gd name="adj" fmla="val 250000"/>
            </a:avLst>
          </a:prstGeom>
          <a:solidFill>
            <a:srgbClr val="50808E"/>
          </a:solidFill>
          <a:ln w="12700">
            <a:solidFill>
              <a:srgbClr val="50808E"/>
            </a:solidFill>
            <a:prstDash val="solid"/>
          </a:ln>
        </p:spPr>
      </p:sp>
      <p:sp>
        <p:nvSpPr>
          <p:cNvPr id="131" name="Text 129"/>
          <p:cNvSpPr/>
          <p:nvPr/>
        </p:nvSpPr>
        <p:spPr>
          <a:xfrm>
            <a:off x="548640" y="5632704"/>
            <a:ext cx="320040" cy="164592"/>
          </a:xfrm>
          <a:prstGeom prst="rect">
            <a:avLst/>
          </a:prstGeom>
          <a:noFill/>
          <a:ln/>
        </p:spPr>
        <p:txBody>
          <a:bodyPr wrap="square" lIns="0" tIns="0" rIns="0" bIns="0" rtlCol="0" anchor="ctr"/>
          <a:lstStyle/>
          <a:p>
            <a:pPr marL="0" indent="0">
              <a:buNone/>
            </a:pPr>
            <a:r>
              <a:rPr lang="en-US" sz="750" b="1" dirty="0">
                <a:solidFill>
                  <a:srgbClr val="50808E"/>
                </a:solidFill>
                <a:latin typeface="Calibri" pitchFamily="34" charset="0"/>
                <a:ea typeface="Calibri" pitchFamily="34" charset="-122"/>
                <a:cs typeface="Calibri" pitchFamily="34" charset="-120"/>
              </a:rPr>
              <a:t>P7</a:t>
            </a:r>
            <a:endParaRPr lang="en-US" sz="750" dirty="0"/>
          </a:p>
        </p:txBody>
      </p:sp>
      <p:sp>
        <p:nvSpPr>
          <p:cNvPr id="132" name="Text 130"/>
          <p:cNvSpPr/>
          <p:nvPr/>
        </p:nvSpPr>
        <p:spPr>
          <a:xfrm>
            <a:off x="877824" y="5632704"/>
            <a:ext cx="3703320" cy="164592"/>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Production deploy (Hetzner EU), blue/green, runbook</a:t>
            </a:r>
            <a:endParaRPr lang="en-US" sz="800" dirty="0"/>
          </a:p>
        </p:txBody>
      </p:sp>
      <p:sp>
        <p:nvSpPr>
          <p:cNvPr id="133" name="Text 131"/>
          <p:cNvSpPr/>
          <p:nvPr/>
        </p:nvSpPr>
        <p:spPr>
          <a:xfrm>
            <a:off x="4206240" y="5632704"/>
            <a:ext cx="566928" cy="164592"/>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5 h</a:t>
            </a:r>
            <a:endParaRPr lang="en-US" sz="800" dirty="0"/>
          </a:p>
        </p:txBody>
      </p:sp>
      <p:sp>
        <p:nvSpPr>
          <p:cNvPr id="134" name="Shape 132"/>
          <p:cNvSpPr/>
          <p:nvPr/>
        </p:nvSpPr>
        <p:spPr>
          <a:xfrm>
            <a:off x="9790611" y="5660136"/>
            <a:ext cx="364454" cy="109728"/>
          </a:xfrm>
          <a:prstGeom prst="roundRect">
            <a:avLst>
              <a:gd name="adj" fmla="val 250000"/>
            </a:avLst>
          </a:prstGeom>
          <a:solidFill>
            <a:srgbClr val="50808E"/>
          </a:solidFill>
          <a:ln w="12700">
            <a:solidFill>
              <a:srgbClr val="50808E"/>
            </a:solidFill>
            <a:prstDash val="solid"/>
          </a:ln>
        </p:spPr>
      </p:sp>
      <p:sp>
        <p:nvSpPr>
          <p:cNvPr id="135" name="Shape 133"/>
          <p:cNvSpPr/>
          <p:nvPr/>
        </p:nvSpPr>
        <p:spPr>
          <a:xfrm>
            <a:off x="548640" y="5797296"/>
            <a:ext cx="11201400" cy="164592"/>
          </a:xfrm>
          <a:prstGeom prst="rect">
            <a:avLst/>
          </a:prstGeom>
          <a:solidFill>
            <a:srgbClr val="F7FAFA"/>
          </a:solidFill>
          <a:ln w="12700">
            <a:solidFill>
              <a:srgbClr val="F7FAFA"/>
            </a:solidFill>
            <a:prstDash val="solid"/>
          </a:ln>
        </p:spPr>
      </p:sp>
      <p:sp>
        <p:nvSpPr>
          <p:cNvPr id="136" name="Text 134"/>
          <p:cNvSpPr/>
          <p:nvPr/>
        </p:nvSpPr>
        <p:spPr>
          <a:xfrm>
            <a:off x="548640" y="5797296"/>
            <a:ext cx="320040" cy="164592"/>
          </a:xfrm>
          <a:prstGeom prst="rect">
            <a:avLst/>
          </a:prstGeom>
          <a:noFill/>
          <a:ln/>
        </p:spPr>
        <p:txBody>
          <a:bodyPr wrap="square" lIns="0" tIns="0" rIns="0" bIns="0" rtlCol="0" anchor="ctr"/>
          <a:lstStyle/>
          <a:p>
            <a:pPr marL="0" indent="0">
              <a:buNone/>
            </a:pPr>
            <a:r>
              <a:rPr lang="en-US" sz="750" b="1" dirty="0">
                <a:solidFill>
                  <a:srgbClr val="5C6E71"/>
                </a:solidFill>
                <a:latin typeface="Calibri" pitchFamily="34" charset="0"/>
                <a:ea typeface="Calibri" pitchFamily="34" charset="-122"/>
                <a:cs typeface="Calibri" pitchFamily="34" charset="-120"/>
              </a:rPr>
              <a:t>--</a:t>
            </a:r>
            <a:endParaRPr lang="en-US" sz="750" dirty="0"/>
          </a:p>
        </p:txBody>
      </p:sp>
      <p:sp>
        <p:nvSpPr>
          <p:cNvPr id="137" name="Text 135"/>
          <p:cNvSpPr/>
          <p:nvPr/>
        </p:nvSpPr>
        <p:spPr>
          <a:xfrm>
            <a:off x="877824" y="5797296"/>
            <a:ext cx="3703320" cy="164592"/>
          </a:xfrm>
          <a:prstGeom prst="rect">
            <a:avLst/>
          </a:prstGeom>
          <a:noFill/>
          <a:ln/>
        </p:spPr>
        <p:txBody>
          <a:bodyPr wrap="square" lIns="0" tIns="0" rIns="0" bIns="0" rtlCol="0" anchor="ctr"/>
          <a:lstStyle/>
          <a:p>
            <a:pPr marL="0" indent="0">
              <a:buNone/>
            </a:pPr>
            <a:r>
              <a:rPr lang="en-US" sz="800" dirty="0">
                <a:solidFill>
                  <a:srgbClr val="31474B"/>
                </a:solidFill>
                <a:latin typeface="Calibri" pitchFamily="34" charset="0"/>
                <a:ea typeface="Calibri" pitchFamily="34" charset="-122"/>
                <a:cs typeface="Calibri" pitchFamily="34" charset="-120"/>
              </a:rPr>
              <a:t>Contingency, defect fixing, acceptance walkthrough R01-R39</a:t>
            </a:r>
            <a:endParaRPr lang="en-US" sz="800" dirty="0"/>
          </a:p>
        </p:txBody>
      </p:sp>
      <p:sp>
        <p:nvSpPr>
          <p:cNvPr id="138" name="Text 136"/>
          <p:cNvSpPr/>
          <p:nvPr/>
        </p:nvSpPr>
        <p:spPr>
          <a:xfrm>
            <a:off x="4206240" y="5797296"/>
            <a:ext cx="566928" cy="164592"/>
          </a:xfrm>
          <a:prstGeom prst="rect">
            <a:avLst/>
          </a:prstGeom>
          <a:noFill/>
          <a:ln/>
        </p:spPr>
        <p:txBody>
          <a:bodyPr wrap="square" lIns="0" tIns="0" rIns="0" bIns="0" rtlCol="0" anchor="ctr"/>
          <a:lstStyle/>
          <a:p>
            <a:pPr marL="0" indent="0" algn="r">
              <a:buNone/>
            </a:pPr>
            <a:r>
              <a:rPr lang="en-US" sz="800" dirty="0">
                <a:solidFill>
                  <a:srgbClr val="5C6E71"/>
                </a:solidFill>
                <a:latin typeface="Calibri" pitchFamily="34" charset="0"/>
                <a:ea typeface="Calibri" pitchFamily="34" charset="-122"/>
                <a:cs typeface="Calibri" pitchFamily="34" charset="-120"/>
              </a:rPr>
              <a:t>43 h</a:t>
            </a:r>
            <a:endParaRPr lang="en-US" sz="800" dirty="0"/>
          </a:p>
        </p:txBody>
      </p:sp>
      <p:sp>
        <p:nvSpPr>
          <p:cNvPr id="139" name="Shape 137"/>
          <p:cNvSpPr/>
          <p:nvPr/>
        </p:nvSpPr>
        <p:spPr>
          <a:xfrm>
            <a:off x="10182497" y="5824728"/>
            <a:ext cx="1540111" cy="109728"/>
          </a:xfrm>
          <a:prstGeom prst="roundRect">
            <a:avLst>
              <a:gd name="adj" fmla="val 250000"/>
            </a:avLst>
          </a:prstGeom>
          <a:solidFill>
            <a:srgbClr val="B9C4C6"/>
          </a:solidFill>
          <a:ln w="12700">
            <a:solidFill>
              <a:srgbClr val="B9C4C6"/>
            </a:solidFill>
            <a:prstDash val="solid"/>
          </a:ln>
        </p:spPr>
      </p:sp>
      <p:sp>
        <p:nvSpPr>
          <p:cNvPr id="140" name="Shape 138"/>
          <p:cNvSpPr/>
          <p:nvPr/>
        </p:nvSpPr>
        <p:spPr>
          <a:xfrm>
            <a:off x="4892040" y="5980176"/>
            <a:ext cx="6858000" cy="0"/>
          </a:xfrm>
          <a:prstGeom prst="line">
            <a:avLst/>
          </a:prstGeom>
          <a:noFill/>
          <a:ln w="12700">
            <a:solidFill>
              <a:srgbClr val="D5E0E1"/>
            </a:solidFill>
            <a:prstDash val="solid"/>
          </a:ln>
        </p:spPr>
      </p:sp>
      <p:sp>
        <p:nvSpPr>
          <p:cNvPr id="141" name="Text 139"/>
          <p:cNvSpPr/>
          <p:nvPr/>
        </p:nvSpPr>
        <p:spPr>
          <a:xfrm>
            <a:off x="548640" y="6144768"/>
            <a:ext cx="11064240" cy="274320"/>
          </a:xfrm>
          <a:prstGeom prst="rect">
            <a:avLst/>
          </a:prstGeom>
          <a:noFill/>
          <a:ln/>
        </p:spPr>
        <p:txBody>
          <a:bodyPr wrap="square" lIns="0" tIns="0" rIns="0" bIns="0" rtlCol="0" anchor="ctr"/>
          <a:lstStyle/>
          <a:p>
            <a:pPr marL="0" indent="0">
              <a:buNone/>
            </a:pPr>
            <a:r>
              <a:rPr lang="en-US" sz="1100" i="1" dirty="0">
                <a:solidFill>
                  <a:srgbClr val="5C6E71"/>
                </a:solidFill>
                <a:latin typeface="Calibri" pitchFamily="34" charset="0"/>
                <a:ea typeface="Calibri" pitchFamily="34" charset="-122"/>
                <a:cs typeface="Calibri" pitchFamily="34" charset="-120"/>
              </a:rPr>
              <a:t>Optional items (R47-R50: recording, gamification, multi-language) are deliberately not on this chart. They are additive, and are quoted separately.</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200" b="1" dirty="0">
                <a:solidFill>
                  <a:srgbClr val="06474F"/>
                </a:solidFill>
                <a:latin typeface="Cambria" pitchFamily="34" charset="0"/>
                <a:ea typeface="Cambria" pitchFamily="34" charset="-122"/>
                <a:cs typeface="Cambria" pitchFamily="34" charset="-120"/>
              </a:rPr>
              <a:t>Milestones: what you will see, and when</a:t>
            </a:r>
            <a:endParaRPr lang="en-US" sz="3200" dirty="0"/>
          </a:p>
        </p:txBody>
      </p:sp>
      <p:sp>
        <p:nvSpPr>
          <p:cNvPr id="3" name="Text 1"/>
          <p:cNvSpPr/>
          <p:nvPr/>
        </p:nvSpPr>
        <p:spPr>
          <a:xfrm>
            <a:off x="548640" y="941832"/>
            <a:ext cx="11064240" cy="310896"/>
          </a:xfrm>
          <a:prstGeom prst="rect">
            <a:avLst/>
          </a:prstGeom>
          <a:noFill/>
          <a:ln/>
        </p:spPr>
        <p:txBody>
          <a:bodyPr wrap="square" lIns="0" tIns="0" rIns="0" bIns="0" rtlCol="0" anchor="ctr"/>
          <a:lstStyle/>
          <a:p>
            <a:pPr marL="0" indent="0">
              <a:buNone/>
            </a:pPr>
            <a:r>
              <a:rPr lang="en-US" sz="1400" i="1" dirty="0">
                <a:solidFill>
                  <a:srgbClr val="5C6E71"/>
                </a:solidFill>
                <a:latin typeface="Calibri" pitchFamily="34" charset="0"/>
                <a:ea typeface="Calibri" pitchFamily="34" charset="-122"/>
                <a:cs typeface="Calibri" pitchFamily="34" charset="-120"/>
              </a:rPr>
              <a:t>Nine points at which there is something real to show you</a:t>
            </a:r>
            <a:endParaRPr lang="en-US" sz="1400" dirty="0"/>
          </a:p>
        </p:txBody>
      </p:sp>
      <p:sp>
        <p:nvSpPr>
          <p:cNvPr id="4" name="Text 2"/>
          <p:cNvSpPr/>
          <p:nvPr/>
        </p:nvSpPr>
        <p:spPr>
          <a:xfrm>
            <a:off x="548640" y="6473952"/>
            <a:ext cx="5486400" cy="237744"/>
          </a:xfrm>
          <a:prstGeom prst="rect">
            <a:avLst/>
          </a:prstGeom>
          <a:noFill/>
          <a:ln/>
        </p:spPr>
        <p:txBody>
          <a:bodyPr wrap="square" lIns="0" tIns="0" rIns="0" bIns="0" rtlCol="0" anchor="ctr"/>
          <a:lstStyle/>
          <a:p>
            <a:pPr marL="0" indent="0">
              <a:buNone/>
            </a:pPr>
            <a:r>
              <a:rPr lang="en-US" sz="900" dirty="0">
                <a:solidFill>
                  <a:srgbClr val="B9C4C6"/>
                </a:solidFill>
                <a:latin typeface="Calibri" pitchFamily="34" charset="0"/>
                <a:ea typeface="Calibri" pitchFamily="34" charset="-122"/>
                <a:cs typeface="Calibri" pitchFamily="34" charset="-120"/>
              </a:rPr>
              <a:t>SPEAK  |  Status &amp; Delivery Plan  |  12 July 2026</a:t>
            </a:r>
            <a:endParaRPr lang="en-US" sz="900" dirty="0"/>
          </a:p>
        </p:txBody>
      </p:sp>
      <p:sp>
        <p:nvSpPr>
          <p:cNvPr id="5" name="Text 3"/>
          <p:cNvSpPr/>
          <p:nvPr/>
        </p:nvSpPr>
        <p:spPr>
          <a:xfrm>
            <a:off x="11064240" y="6473952"/>
            <a:ext cx="548640" cy="237744"/>
          </a:xfrm>
          <a:prstGeom prst="rect">
            <a:avLst/>
          </a:prstGeom>
          <a:noFill/>
          <a:ln/>
        </p:spPr>
        <p:txBody>
          <a:bodyPr wrap="square" lIns="0" tIns="0" rIns="0" bIns="0" rtlCol="0" anchor="ctr"/>
          <a:lstStyle/>
          <a:p>
            <a:pPr marL="0" indent="0" algn="r">
              <a:buNone/>
            </a:pPr>
            <a:r>
              <a:rPr lang="en-US" sz="900" dirty="0">
                <a:solidFill>
                  <a:srgbClr val="B9C4C6"/>
                </a:solidFill>
                <a:latin typeface="Calibri" pitchFamily="34" charset="0"/>
                <a:ea typeface="Calibri" pitchFamily="34" charset="-122"/>
                <a:cs typeface="Calibri" pitchFamily="34" charset="-120"/>
              </a:rPr>
              <a:t>13</a:t>
            </a:r>
            <a:endParaRPr lang="en-US" sz="900" dirty="0"/>
          </a:p>
        </p:txBody>
      </p:sp>
      <p:sp>
        <p:nvSpPr>
          <p:cNvPr id="6" name="Shape 4"/>
          <p:cNvSpPr/>
          <p:nvPr/>
        </p:nvSpPr>
        <p:spPr>
          <a:xfrm>
            <a:off x="1234440" y="2148840"/>
            <a:ext cx="10287000" cy="0"/>
          </a:xfrm>
          <a:prstGeom prst="line">
            <a:avLst/>
          </a:prstGeom>
          <a:noFill/>
          <a:ln w="25400">
            <a:solidFill>
              <a:srgbClr val="D5E0E1"/>
            </a:solidFill>
            <a:prstDash val="solid"/>
          </a:ln>
        </p:spPr>
      </p:sp>
      <p:sp>
        <p:nvSpPr>
          <p:cNvPr id="7" name="Shape 5"/>
          <p:cNvSpPr/>
          <p:nvPr/>
        </p:nvSpPr>
        <p:spPr>
          <a:xfrm>
            <a:off x="1097280" y="2011680"/>
            <a:ext cx="274320" cy="274320"/>
          </a:xfrm>
          <a:prstGeom prst="ellipse">
            <a:avLst/>
          </a:prstGeom>
          <a:solidFill>
            <a:srgbClr val="50808E"/>
          </a:solidFill>
          <a:ln w="25400">
            <a:solidFill>
              <a:srgbClr val="FFFFFF"/>
            </a:solidFill>
            <a:prstDash val="solid"/>
          </a:ln>
        </p:spPr>
      </p:sp>
      <p:sp>
        <p:nvSpPr>
          <p:cNvPr id="8" name="Text 6"/>
          <p:cNvSpPr/>
          <p:nvPr/>
        </p:nvSpPr>
        <p:spPr>
          <a:xfrm>
            <a:off x="822960" y="1700784"/>
            <a:ext cx="822960" cy="237744"/>
          </a:xfrm>
          <a:prstGeom prst="rect">
            <a:avLst/>
          </a:prstGeom>
          <a:noFill/>
          <a:ln/>
        </p:spPr>
        <p:txBody>
          <a:bodyPr wrap="square" lIns="0" tIns="0" rIns="0" bIns="0" rtlCol="0" anchor="ctr"/>
          <a:lstStyle/>
          <a:p>
            <a:pPr marL="0" indent="0" algn="ctr">
              <a:buNone/>
            </a:pPr>
            <a:r>
              <a:rPr lang="en-US" sz="1000" b="1" dirty="0">
                <a:solidFill>
                  <a:srgbClr val="50808E"/>
                </a:solidFill>
                <a:latin typeface="Calibri" pitchFamily="34" charset="0"/>
                <a:ea typeface="Calibri" pitchFamily="34" charset="-122"/>
                <a:cs typeface="Calibri" pitchFamily="34" charset="-120"/>
              </a:rPr>
              <a:t>M1</a:t>
            </a:r>
            <a:endParaRPr lang="en-US" sz="1000" dirty="0"/>
          </a:p>
        </p:txBody>
      </p:sp>
      <p:sp>
        <p:nvSpPr>
          <p:cNvPr id="9" name="Shape 7"/>
          <p:cNvSpPr/>
          <p:nvPr/>
        </p:nvSpPr>
        <p:spPr>
          <a:xfrm>
            <a:off x="2383155" y="2011680"/>
            <a:ext cx="274320" cy="274320"/>
          </a:xfrm>
          <a:prstGeom prst="ellipse">
            <a:avLst/>
          </a:prstGeom>
          <a:solidFill>
            <a:srgbClr val="06474F"/>
          </a:solidFill>
          <a:ln w="25400">
            <a:solidFill>
              <a:srgbClr val="FFFFFF"/>
            </a:solidFill>
            <a:prstDash val="solid"/>
          </a:ln>
        </p:spPr>
      </p:sp>
      <p:sp>
        <p:nvSpPr>
          <p:cNvPr id="10" name="Text 8"/>
          <p:cNvSpPr/>
          <p:nvPr/>
        </p:nvSpPr>
        <p:spPr>
          <a:xfrm>
            <a:off x="2108835" y="2331720"/>
            <a:ext cx="822960" cy="237744"/>
          </a:xfrm>
          <a:prstGeom prst="rect">
            <a:avLst/>
          </a:prstGeom>
          <a:noFill/>
          <a:ln/>
        </p:spPr>
        <p:txBody>
          <a:bodyPr wrap="square" lIns="0" tIns="0" rIns="0" bIns="0" rtlCol="0" anchor="ctr"/>
          <a:lstStyle/>
          <a:p>
            <a:pPr marL="0" indent="0" algn="ctr">
              <a:buNone/>
            </a:pPr>
            <a:r>
              <a:rPr lang="en-US" sz="1000" b="1" dirty="0">
                <a:solidFill>
                  <a:srgbClr val="06474F"/>
                </a:solidFill>
                <a:latin typeface="Calibri" pitchFamily="34" charset="0"/>
                <a:ea typeface="Calibri" pitchFamily="34" charset="-122"/>
                <a:cs typeface="Calibri" pitchFamily="34" charset="-120"/>
              </a:rPr>
              <a:t>M2</a:t>
            </a:r>
            <a:endParaRPr lang="en-US" sz="1000" dirty="0"/>
          </a:p>
        </p:txBody>
      </p:sp>
      <p:sp>
        <p:nvSpPr>
          <p:cNvPr id="11" name="Shape 9"/>
          <p:cNvSpPr/>
          <p:nvPr/>
        </p:nvSpPr>
        <p:spPr>
          <a:xfrm>
            <a:off x="3669030" y="2011680"/>
            <a:ext cx="274320" cy="274320"/>
          </a:xfrm>
          <a:prstGeom prst="ellipse">
            <a:avLst/>
          </a:prstGeom>
          <a:solidFill>
            <a:srgbClr val="00A896"/>
          </a:solidFill>
          <a:ln w="25400">
            <a:solidFill>
              <a:srgbClr val="FFFFFF"/>
            </a:solidFill>
            <a:prstDash val="solid"/>
          </a:ln>
        </p:spPr>
      </p:sp>
      <p:sp>
        <p:nvSpPr>
          <p:cNvPr id="12" name="Text 10"/>
          <p:cNvSpPr/>
          <p:nvPr/>
        </p:nvSpPr>
        <p:spPr>
          <a:xfrm>
            <a:off x="3394710" y="1700784"/>
            <a:ext cx="822960" cy="237744"/>
          </a:xfrm>
          <a:prstGeom prst="rect">
            <a:avLst/>
          </a:prstGeom>
          <a:noFill/>
          <a:ln/>
        </p:spPr>
        <p:txBody>
          <a:bodyPr wrap="square" lIns="0" tIns="0" rIns="0" bIns="0" rtlCol="0" anchor="ctr"/>
          <a:lstStyle/>
          <a:p>
            <a:pPr marL="0" indent="0" algn="ctr">
              <a:buNone/>
            </a:pPr>
            <a:r>
              <a:rPr lang="en-US" sz="1000" b="1" dirty="0">
                <a:solidFill>
                  <a:srgbClr val="00A896"/>
                </a:solidFill>
                <a:latin typeface="Calibri" pitchFamily="34" charset="0"/>
                <a:ea typeface="Calibri" pitchFamily="34" charset="-122"/>
                <a:cs typeface="Calibri" pitchFamily="34" charset="-120"/>
              </a:rPr>
              <a:t>M3</a:t>
            </a:r>
            <a:endParaRPr lang="en-US" sz="1000" dirty="0"/>
          </a:p>
        </p:txBody>
      </p:sp>
      <p:sp>
        <p:nvSpPr>
          <p:cNvPr id="13" name="Shape 11"/>
          <p:cNvSpPr/>
          <p:nvPr/>
        </p:nvSpPr>
        <p:spPr>
          <a:xfrm>
            <a:off x="4954905" y="2011680"/>
            <a:ext cx="274320" cy="274320"/>
          </a:xfrm>
          <a:prstGeom prst="ellipse">
            <a:avLst/>
          </a:prstGeom>
          <a:solidFill>
            <a:srgbClr val="E08A3C"/>
          </a:solidFill>
          <a:ln w="25400">
            <a:solidFill>
              <a:srgbClr val="FFFFFF"/>
            </a:solidFill>
            <a:prstDash val="solid"/>
          </a:ln>
        </p:spPr>
      </p:sp>
      <p:sp>
        <p:nvSpPr>
          <p:cNvPr id="14" name="Text 12"/>
          <p:cNvSpPr/>
          <p:nvPr/>
        </p:nvSpPr>
        <p:spPr>
          <a:xfrm>
            <a:off x="4680585" y="2331720"/>
            <a:ext cx="822960" cy="237744"/>
          </a:xfrm>
          <a:prstGeom prst="rect">
            <a:avLst/>
          </a:prstGeom>
          <a:noFill/>
          <a:ln/>
        </p:spPr>
        <p:txBody>
          <a:bodyPr wrap="square" lIns="0" tIns="0" rIns="0" bIns="0" rtlCol="0" anchor="ctr"/>
          <a:lstStyle/>
          <a:p>
            <a:pPr marL="0" indent="0" algn="ctr">
              <a:buNone/>
            </a:pPr>
            <a:r>
              <a:rPr lang="en-US" sz="1000" b="1" dirty="0">
                <a:solidFill>
                  <a:srgbClr val="E08A3C"/>
                </a:solidFill>
                <a:latin typeface="Calibri" pitchFamily="34" charset="0"/>
                <a:ea typeface="Calibri" pitchFamily="34" charset="-122"/>
                <a:cs typeface="Calibri" pitchFamily="34" charset="-120"/>
              </a:rPr>
              <a:t>M4</a:t>
            </a:r>
            <a:endParaRPr lang="en-US" sz="1000" dirty="0"/>
          </a:p>
        </p:txBody>
      </p:sp>
      <p:sp>
        <p:nvSpPr>
          <p:cNvPr id="15" name="Shape 13"/>
          <p:cNvSpPr/>
          <p:nvPr/>
        </p:nvSpPr>
        <p:spPr>
          <a:xfrm>
            <a:off x="6240780" y="2011680"/>
            <a:ext cx="274320" cy="274320"/>
          </a:xfrm>
          <a:prstGeom prst="ellipse">
            <a:avLst/>
          </a:prstGeom>
          <a:solidFill>
            <a:srgbClr val="E08A3C"/>
          </a:solidFill>
          <a:ln w="25400">
            <a:solidFill>
              <a:srgbClr val="FFFFFF"/>
            </a:solidFill>
            <a:prstDash val="solid"/>
          </a:ln>
        </p:spPr>
      </p:sp>
      <p:sp>
        <p:nvSpPr>
          <p:cNvPr id="16" name="Text 14"/>
          <p:cNvSpPr/>
          <p:nvPr/>
        </p:nvSpPr>
        <p:spPr>
          <a:xfrm>
            <a:off x="5966460" y="1700784"/>
            <a:ext cx="822960" cy="237744"/>
          </a:xfrm>
          <a:prstGeom prst="rect">
            <a:avLst/>
          </a:prstGeom>
          <a:noFill/>
          <a:ln/>
        </p:spPr>
        <p:txBody>
          <a:bodyPr wrap="square" lIns="0" tIns="0" rIns="0" bIns="0" rtlCol="0" anchor="ctr"/>
          <a:lstStyle/>
          <a:p>
            <a:pPr marL="0" indent="0" algn="ctr">
              <a:buNone/>
            </a:pPr>
            <a:r>
              <a:rPr lang="en-US" sz="1000" b="1" dirty="0">
                <a:solidFill>
                  <a:srgbClr val="E08A3C"/>
                </a:solidFill>
                <a:latin typeface="Calibri" pitchFamily="34" charset="0"/>
                <a:ea typeface="Calibri" pitchFamily="34" charset="-122"/>
                <a:cs typeface="Calibri" pitchFamily="34" charset="-120"/>
              </a:rPr>
              <a:t>M5</a:t>
            </a:r>
            <a:endParaRPr lang="en-US" sz="1000" dirty="0"/>
          </a:p>
        </p:txBody>
      </p:sp>
      <p:sp>
        <p:nvSpPr>
          <p:cNvPr id="17" name="Shape 15"/>
          <p:cNvSpPr/>
          <p:nvPr/>
        </p:nvSpPr>
        <p:spPr>
          <a:xfrm>
            <a:off x="7526655" y="2011680"/>
            <a:ext cx="274320" cy="274320"/>
          </a:xfrm>
          <a:prstGeom prst="ellipse">
            <a:avLst/>
          </a:prstGeom>
          <a:solidFill>
            <a:srgbClr val="E08A3C"/>
          </a:solidFill>
          <a:ln w="25400">
            <a:solidFill>
              <a:srgbClr val="FFFFFF"/>
            </a:solidFill>
            <a:prstDash val="solid"/>
          </a:ln>
        </p:spPr>
      </p:sp>
      <p:sp>
        <p:nvSpPr>
          <p:cNvPr id="18" name="Text 16"/>
          <p:cNvSpPr/>
          <p:nvPr/>
        </p:nvSpPr>
        <p:spPr>
          <a:xfrm>
            <a:off x="7252335" y="2331720"/>
            <a:ext cx="822960" cy="237744"/>
          </a:xfrm>
          <a:prstGeom prst="rect">
            <a:avLst/>
          </a:prstGeom>
          <a:noFill/>
          <a:ln/>
        </p:spPr>
        <p:txBody>
          <a:bodyPr wrap="square" lIns="0" tIns="0" rIns="0" bIns="0" rtlCol="0" anchor="ctr"/>
          <a:lstStyle/>
          <a:p>
            <a:pPr marL="0" indent="0" algn="ctr">
              <a:buNone/>
            </a:pPr>
            <a:r>
              <a:rPr lang="en-US" sz="1000" b="1" dirty="0">
                <a:solidFill>
                  <a:srgbClr val="E08A3C"/>
                </a:solidFill>
                <a:latin typeface="Calibri" pitchFamily="34" charset="0"/>
                <a:ea typeface="Calibri" pitchFamily="34" charset="-122"/>
                <a:cs typeface="Calibri" pitchFamily="34" charset="-120"/>
              </a:rPr>
              <a:t>M6</a:t>
            </a:r>
            <a:endParaRPr lang="en-US" sz="1000" dirty="0"/>
          </a:p>
        </p:txBody>
      </p:sp>
      <p:sp>
        <p:nvSpPr>
          <p:cNvPr id="19" name="Shape 17"/>
          <p:cNvSpPr/>
          <p:nvPr/>
        </p:nvSpPr>
        <p:spPr>
          <a:xfrm>
            <a:off x="8812530" y="2011680"/>
            <a:ext cx="274320" cy="274320"/>
          </a:xfrm>
          <a:prstGeom prst="ellipse">
            <a:avLst/>
          </a:prstGeom>
          <a:solidFill>
            <a:srgbClr val="1C7293"/>
          </a:solidFill>
          <a:ln w="25400">
            <a:solidFill>
              <a:srgbClr val="FFFFFF"/>
            </a:solidFill>
            <a:prstDash val="solid"/>
          </a:ln>
        </p:spPr>
      </p:sp>
      <p:sp>
        <p:nvSpPr>
          <p:cNvPr id="20" name="Text 18"/>
          <p:cNvSpPr/>
          <p:nvPr/>
        </p:nvSpPr>
        <p:spPr>
          <a:xfrm>
            <a:off x="8538210" y="1700784"/>
            <a:ext cx="822960" cy="237744"/>
          </a:xfrm>
          <a:prstGeom prst="rect">
            <a:avLst/>
          </a:prstGeom>
          <a:noFill/>
          <a:ln/>
        </p:spPr>
        <p:txBody>
          <a:bodyPr wrap="square" lIns="0" tIns="0" rIns="0" bIns="0" rtlCol="0" anchor="ctr"/>
          <a:lstStyle/>
          <a:p>
            <a:pPr marL="0" indent="0" algn="ctr">
              <a:buNone/>
            </a:pPr>
            <a:r>
              <a:rPr lang="en-US" sz="1000" b="1" dirty="0">
                <a:solidFill>
                  <a:srgbClr val="1C7293"/>
                </a:solidFill>
                <a:latin typeface="Calibri" pitchFamily="34" charset="0"/>
                <a:ea typeface="Calibri" pitchFamily="34" charset="-122"/>
                <a:cs typeface="Calibri" pitchFamily="34" charset="-120"/>
              </a:rPr>
              <a:t>M7</a:t>
            </a:r>
            <a:endParaRPr lang="en-US" sz="1000" dirty="0"/>
          </a:p>
        </p:txBody>
      </p:sp>
      <p:sp>
        <p:nvSpPr>
          <p:cNvPr id="21" name="Shape 19"/>
          <p:cNvSpPr/>
          <p:nvPr/>
        </p:nvSpPr>
        <p:spPr>
          <a:xfrm>
            <a:off x="10098405" y="2011680"/>
            <a:ext cx="274320" cy="274320"/>
          </a:xfrm>
          <a:prstGeom prst="ellipse">
            <a:avLst/>
          </a:prstGeom>
          <a:solidFill>
            <a:srgbClr val="50808E"/>
          </a:solidFill>
          <a:ln w="25400">
            <a:solidFill>
              <a:srgbClr val="FFFFFF"/>
            </a:solidFill>
            <a:prstDash val="solid"/>
          </a:ln>
        </p:spPr>
      </p:sp>
      <p:sp>
        <p:nvSpPr>
          <p:cNvPr id="22" name="Text 20"/>
          <p:cNvSpPr/>
          <p:nvPr/>
        </p:nvSpPr>
        <p:spPr>
          <a:xfrm>
            <a:off x="9824085" y="2331720"/>
            <a:ext cx="822960" cy="237744"/>
          </a:xfrm>
          <a:prstGeom prst="rect">
            <a:avLst/>
          </a:prstGeom>
          <a:noFill/>
          <a:ln/>
        </p:spPr>
        <p:txBody>
          <a:bodyPr wrap="square" lIns="0" tIns="0" rIns="0" bIns="0" rtlCol="0" anchor="ctr"/>
          <a:lstStyle/>
          <a:p>
            <a:pPr marL="0" indent="0" algn="ctr">
              <a:buNone/>
            </a:pPr>
            <a:r>
              <a:rPr lang="en-US" sz="1000" b="1" dirty="0">
                <a:solidFill>
                  <a:srgbClr val="50808E"/>
                </a:solidFill>
                <a:latin typeface="Calibri" pitchFamily="34" charset="0"/>
                <a:ea typeface="Calibri" pitchFamily="34" charset="-122"/>
                <a:cs typeface="Calibri" pitchFamily="34" charset="-120"/>
              </a:rPr>
              <a:t>M8</a:t>
            </a:r>
            <a:endParaRPr lang="en-US" sz="1000" dirty="0"/>
          </a:p>
        </p:txBody>
      </p:sp>
      <p:sp>
        <p:nvSpPr>
          <p:cNvPr id="23" name="Shape 21"/>
          <p:cNvSpPr/>
          <p:nvPr/>
        </p:nvSpPr>
        <p:spPr>
          <a:xfrm>
            <a:off x="11384280" y="2011680"/>
            <a:ext cx="274320" cy="274320"/>
          </a:xfrm>
          <a:prstGeom prst="ellipse">
            <a:avLst/>
          </a:prstGeom>
          <a:solidFill>
            <a:srgbClr val="B4453C"/>
          </a:solidFill>
          <a:ln w="25400">
            <a:solidFill>
              <a:srgbClr val="FFFFFF"/>
            </a:solidFill>
            <a:prstDash val="solid"/>
          </a:ln>
        </p:spPr>
      </p:sp>
      <p:sp>
        <p:nvSpPr>
          <p:cNvPr id="24" name="Text 22"/>
          <p:cNvSpPr/>
          <p:nvPr/>
        </p:nvSpPr>
        <p:spPr>
          <a:xfrm>
            <a:off x="11109960" y="1700784"/>
            <a:ext cx="822960" cy="237744"/>
          </a:xfrm>
          <a:prstGeom prst="rect">
            <a:avLst/>
          </a:prstGeom>
          <a:noFill/>
          <a:ln/>
        </p:spPr>
        <p:txBody>
          <a:bodyPr wrap="square" lIns="0" tIns="0" rIns="0" bIns="0" rtlCol="0" anchor="ctr"/>
          <a:lstStyle/>
          <a:p>
            <a:pPr marL="0" indent="0" algn="ctr">
              <a:buNone/>
            </a:pPr>
            <a:r>
              <a:rPr lang="en-US" sz="1000" b="1" dirty="0">
                <a:solidFill>
                  <a:srgbClr val="B4453C"/>
                </a:solidFill>
                <a:latin typeface="Calibri" pitchFamily="34" charset="0"/>
                <a:ea typeface="Calibri" pitchFamily="34" charset="-122"/>
                <a:cs typeface="Calibri" pitchFamily="34" charset="-120"/>
              </a:rPr>
              <a:t>M9</a:t>
            </a:r>
            <a:endParaRPr lang="en-US" sz="1000" dirty="0"/>
          </a:p>
        </p:txBody>
      </p:sp>
      <p:sp>
        <p:nvSpPr>
          <p:cNvPr id="25" name="Shape 23"/>
          <p:cNvSpPr/>
          <p:nvPr/>
        </p:nvSpPr>
        <p:spPr>
          <a:xfrm>
            <a:off x="548640" y="2880360"/>
            <a:ext cx="5394960" cy="566928"/>
          </a:xfrm>
          <a:prstGeom prst="roundRect">
            <a:avLst>
              <a:gd name="adj" fmla="val 12903"/>
            </a:avLst>
          </a:prstGeom>
          <a:solidFill>
            <a:srgbClr val="EEF4F4"/>
          </a:solidFill>
          <a:ln w="9525">
            <a:solidFill>
              <a:srgbClr val="EEF4F4"/>
            </a:solidFill>
            <a:prstDash val="solid"/>
          </a:ln>
        </p:spPr>
      </p:sp>
      <p:sp>
        <p:nvSpPr>
          <p:cNvPr id="26" name="Shape 24"/>
          <p:cNvSpPr/>
          <p:nvPr/>
        </p:nvSpPr>
        <p:spPr>
          <a:xfrm>
            <a:off x="548640" y="2880360"/>
            <a:ext cx="5394960" cy="566928"/>
          </a:xfrm>
          <a:prstGeom prst="roundRect">
            <a:avLst>
              <a:gd name="adj" fmla="val 9677"/>
            </a:avLst>
          </a:prstGeom>
          <a:solidFill>
            <a:srgbClr val="F7FAFA"/>
          </a:solidFill>
          <a:ln w="9525">
            <a:solidFill>
              <a:srgbClr val="D5E0E1"/>
            </a:solidFill>
            <a:prstDash val="solid"/>
          </a:ln>
        </p:spPr>
      </p:sp>
      <p:sp>
        <p:nvSpPr>
          <p:cNvPr id="27" name="Shape 25"/>
          <p:cNvSpPr/>
          <p:nvPr/>
        </p:nvSpPr>
        <p:spPr>
          <a:xfrm>
            <a:off x="676656" y="3008376"/>
            <a:ext cx="310896" cy="310896"/>
          </a:xfrm>
          <a:prstGeom prst="ellipse">
            <a:avLst/>
          </a:prstGeom>
          <a:solidFill>
            <a:srgbClr val="50808E"/>
          </a:solidFill>
          <a:ln w="12700">
            <a:solidFill>
              <a:srgbClr val="50808E"/>
            </a:solidFill>
            <a:prstDash val="solid"/>
          </a:ln>
        </p:spPr>
      </p:sp>
      <p:sp>
        <p:nvSpPr>
          <p:cNvPr id="28" name="Text 26"/>
          <p:cNvSpPr/>
          <p:nvPr/>
        </p:nvSpPr>
        <p:spPr>
          <a:xfrm>
            <a:off x="676656" y="300837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M1</a:t>
            </a:r>
            <a:endParaRPr lang="en-US" sz="1200" dirty="0"/>
          </a:p>
        </p:txBody>
      </p:sp>
      <p:sp>
        <p:nvSpPr>
          <p:cNvPr id="29" name="Text 27"/>
          <p:cNvSpPr/>
          <p:nvPr/>
        </p:nvSpPr>
        <p:spPr>
          <a:xfrm>
            <a:off x="1060704" y="2935224"/>
            <a:ext cx="1463040" cy="228600"/>
          </a:xfrm>
          <a:prstGeom prst="rect">
            <a:avLst/>
          </a:prstGeom>
          <a:noFill/>
          <a:ln/>
        </p:spPr>
        <p:txBody>
          <a:bodyPr wrap="square" lIns="0" tIns="0" rIns="0" bIns="0" rtlCol="0" anchor="ctr"/>
          <a:lstStyle/>
          <a:p>
            <a:pPr marL="0" indent="0">
              <a:buNone/>
            </a:pPr>
            <a:r>
              <a:rPr lang="en-US" sz="950" b="1" dirty="0">
                <a:solidFill>
                  <a:srgbClr val="50808E"/>
                </a:solidFill>
                <a:latin typeface="Calibri" pitchFamily="34" charset="0"/>
                <a:ea typeface="Calibri" pitchFamily="34" charset="-122"/>
                <a:cs typeface="Calibri" pitchFamily="34" charset="-120"/>
              </a:rPr>
              <a:t>W3  ·  2 Aug 26</a:t>
            </a:r>
            <a:endParaRPr lang="en-US" sz="950" dirty="0"/>
          </a:p>
        </p:txBody>
      </p:sp>
      <p:sp>
        <p:nvSpPr>
          <p:cNvPr id="30" name="Text 28"/>
          <p:cNvSpPr/>
          <p:nvPr/>
        </p:nvSpPr>
        <p:spPr>
          <a:xfrm>
            <a:off x="1060704" y="3136392"/>
            <a:ext cx="4754880" cy="274320"/>
          </a:xfrm>
          <a:prstGeom prst="rect">
            <a:avLst/>
          </a:prstGeom>
          <a:noFill/>
          <a:ln/>
        </p:spPr>
        <p:txBody>
          <a:bodyPr wrap="square" lIns="0" tIns="0" rIns="0" bIns="0" rtlCol="0" anchor="ctr"/>
          <a:lstStyle/>
          <a:p>
            <a:pPr marL="0" indent="0">
              <a:buNone/>
            </a:pPr>
            <a:r>
              <a:rPr lang="en-US" sz="1000" dirty="0">
                <a:solidFill>
                  <a:srgbClr val="31474B"/>
                </a:solidFill>
                <a:latin typeface="Calibri" pitchFamily="34" charset="0"/>
                <a:ea typeface="Calibri" pitchFamily="34" charset="-122"/>
                <a:cs typeface="Calibri" pitchFamily="34" charset="-120"/>
              </a:rPr>
              <a:t>The empty shell runs on an EU staging server, behind HTTPS</a:t>
            </a:r>
            <a:endParaRPr lang="en-US" sz="1000" dirty="0"/>
          </a:p>
        </p:txBody>
      </p:sp>
      <p:sp>
        <p:nvSpPr>
          <p:cNvPr id="31" name="Shape 29"/>
          <p:cNvSpPr/>
          <p:nvPr/>
        </p:nvSpPr>
        <p:spPr>
          <a:xfrm>
            <a:off x="548640" y="3538728"/>
            <a:ext cx="5394960" cy="566928"/>
          </a:xfrm>
          <a:prstGeom prst="roundRect">
            <a:avLst>
              <a:gd name="adj" fmla="val 12903"/>
            </a:avLst>
          </a:prstGeom>
          <a:solidFill>
            <a:srgbClr val="EEF4F4"/>
          </a:solidFill>
          <a:ln w="9525">
            <a:solidFill>
              <a:srgbClr val="EEF4F4"/>
            </a:solidFill>
            <a:prstDash val="solid"/>
          </a:ln>
        </p:spPr>
      </p:sp>
      <p:sp>
        <p:nvSpPr>
          <p:cNvPr id="32" name="Shape 30"/>
          <p:cNvSpPr/>
          <p:nvPr/>
        </p:nvSpPr>
        <p:spPr>
          <a:xfrm>
            <a:off x="548640" y="3538728"/>
            <a:ext cx="5394960" cy="566928"/>
          </a:xfrm>
          <a:prstGeom prst="roundRect">
            <a:avLst>
              <a:gd name="adj" fmla="val 9677"/>
            </a:avLst>
          </a:prstGeom>
          <a:solidFill>
            <a:srgbClr val="F7FAFA"/>
          </a:solidFill>
          <a:ln w="9525">
            <a:solidFill>
              <a:srgbClr val="D5E0E1"/>
            </a:solidFill>
            <a:prstDash val="solid"/>
          </a:ln>
        </p:spPr>
      </p:sp>
      <p:sp>
        <p:nvSpPr>
          <p:cNvPr id="33" name="Shape 31"/>
          <p:cNvSpPr/>
          <p:nvPr/>
        </p:nvSpPr>
        <p:spPr>
          <a:xfrm>
            <a:off x="676656" y="3666744"/>
            <a:ext cx="310896" cy="310896"/>
          </a:xfrm>
          <a:prstGeom prst="ellipse">
            <a:avLst/>
          </a:prstGeom>
          <a:solidFill>
            <a:srgbClr val="06474F"/>
          </a:solidFill>
          <a:ln w="12700">
            <a:solidFill>
              <a:srgbClr val="06474F"/>
            </a:solidFill>
            <a:prstDash val="solid"/>
          </a:ln>
        </p:spPr>
      </p:sp>
      <p:sp>
        <p:nvSpPr>
          <p:cNvPr id="34" name="Text 32"/>
          <p:cNvSpPr/>
          <p:nvPr/>
        </p:nvSpPr>
        <p:spPr>
          <a:xfrm>
            <a:off x="676656" y="366674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M2</a:t>
            </a:r>
            <a:endParaRPr lang="en-US" sz="1200" dirty="0"/>
          </a:p>
        </p:txBody>
      </p:sp>
      <p:sp>
        <p:nvSpPr>
          <p:cNvPr id="35" name="Text 33"/>
          <p:cNvSpPr/>
          <p:nvPr/>
        </p:nvSpPr>
        <p:spPr>
          <a:xfrm>
            <a:off x="1060704" y="3593592"/>
            <a:ext cx="1463040" cy="228600"/>
          </a:xfrm>
          <a:prstGeom prst="rect">
            <a:avLst/>
          </a:prstGeom>
          <a:noFill/>
          <a:ln/>
        </p:spPr>
        <p:txBody>
          <a:bodyPr wrap="square" lIns="0" tIns="0" rIns="0" bIns="0" rtlCol="0" anchor="ctr"/>
          <a:lstStyle/>
          <a:p>
            <a:pPr marL="0" indent="0">
              <a:buNone/>
            </a:pPr>
            <a:r>
              <a:rPr lang="en-US" sz="950" b="1" dirty="0">
                <a:solidFill>
                  <a:srgbClr val="06474F"/>
                </a:solidFill>
                <a:latin typeface="Calibri" pitchFamily="34" charset="0"/>
                <a:ea typeface="Calibri" pitchFamily="34" charset="-122"/>
                <a:cs typeface="Calibri" pitchFamily="34" charset="-120"/>
              </a:rPr>
              <a:t>W10  ·  20 Sep 26</a:t>
            </a:r>
            <a:endParaRPr lang="en-US" sz="950" dirty="0"/>
          </a:p>
        </p:txBody>
      </p:sp>
      <p:sp>
        <p:nvSpPr>
          <p:cNvPr id="36" name="Text 34"/>
          <p:cNvSpPr/>
          <p:nvPr/>
        </p:nvSpPr>
        <p:spPr>
          <a:xfrm>
            <a:off x="1060704" y="3794760"/>
            <a:ext cx="4754880" cy="274320"/>
          </a:xfrm>
          <a:prstGeom prst="rect">
            <a:avLst/>
          </a:prstGeom>
          <a:noFill/>
          <a:ln/>
        </p:spPr>
        <p:txBody>
          <a:bodyPr wrap="square" lIns="0" tIns="0" rIns="0" bIns="0" rtlCol="0" anchor="ctr"/>
          <a:lstStyle/>
          <a:p>
            <a:pPr marL="0" indent="0">
              <a:buNone/>
            </a:pPr>
            <a:r>
              <a:rPr lang="en-US" sz="1000" dirty="0">
                <a:solidFill>
                  <a:srgbClr val="31474B"/>
                </a:solidFill>
                <a:latin typeface="Calibri" pitchFamily="34" charset="0"/>
                <a:ea typeface="Calibri" pitchFamily="34" charset="-122"/>
                <a:cs typeface="Calibri" pitchFamily="34" charset="-120"/>
              </a:rPr>
              <a:t>All three logins work. A teacher cannot see another teacher's class.</a:t>
            </a:r>
            <a:endParaRPr lang="en-US" sz="1000" dirty="0"/>
          </a:p>
        </p:txBody>
      </p:sp>
      <p:sp>
        <p:nvSpPr>
          <p:cNvPr id="37" name="Shape 35"/>
          <p:cNvSpPr/>
          <p:nvPr/>
        </p:nvSpPr>
        <p:spPr>
          <a:xfrm>
            <a:off x="548640" y="4197096"/>
            <a:ext cx="5394960" cy="566928"/>
          </a:xfrm>
          <a:prstGeom prst="roundRect">
            <a:avLst>
              <a:gd name="adj" fmla="val 12903"/>
            </a:avLst>
          </a:prstGeom>
          <a:solidFill>
            <a:srgbClr val="EEF4F4"/>
          </a:solidFill>
          <a:ln w="9525">
            <a:solidFill>
              <a:srgbClr val="EEF4F4"/>
            </a:solidFill>
            <a:prstDash val="solid"/>
          </a:ln>
        </p:spPr>
      </p:sp>
      <p:sp>
        <p:nvSpPr>
          <p:cNvPr id="38" name="Shape 36"/>
          <p:cNvSpPr/>
          <p:nvPr/>
        </p:nvSpPr>
        <p:spPr>
          <a:xfrm>
            <a:off x="548640" y="4197096"/>
            <a:ext cx="5394960" cy="566928"/>
          </a:xfrm>
          <a:prstGeom prst="roundRect">
            <a:avLst>
              <a:gd name="adj" fmla="val 9677"/>
            </a:avLst>
          </a:prstGeom>
          <a:solidFill>
            <a:srgbClr val="F7FAFA"/>
          </a:solidFill>
          <a:ln w="9525">
            <a:solidFill>
              <a:srgbClr val="D5E0E1"/>
            </a:solidFill>
            <a:prstDash val="solid"/>
          </a:ln>
        </p:spPr>
      </p:sp>
      <p:sp>
        <p:nvSpPr>
          <p:cNvPr id="39" name="Shape 37"/>
          <p:cNvSpPr/>
          <p:nvPr/>
        </p:nvSpPr>
        <p:spPr>
          <a:xfrm>
            <a:off x="676656" y="4325112"/>
            <a:ext cx="310896" cy="310896"/>
          </a:xfrm>
          <a:prstGeom prst="ellipse">
            <a:avLst/>
          </a:prstGeom>
          <a:solidFill>
            <a:srgbClr val="00A896"/>
          </a:solidFill>
          <a:ln w="12700">
            <a:solidFill>
              <a:srgbClr val="00A896"/>
            </a:solidFill>
            <a:prstDash val="solid"/>
          </a:ln>
        </p:spPr>
      </p:sp>
      <p:sp>
        <p:nvSpPr>
          <p:cNvPr id="40" name="Text 38"/>
          <p:cNvSpPr/>
          <p:nvPr/>
        </p:nvSpPr>
        <p:spPr>
          <a:xfrm>
            <a:off x="676656" y="432511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M3</a:t>
            </a:r>
            <a:endParaRPr lang="en-US" sz="1200" dirty="0"/>
          </a:p>
        </p:txBody>
      </p:sp>
      <p:sp>
        <p:nvSpPr>
          <p:cNvPr id="41" name="Text 39"/>
          <p:cNvSpPr/>
          <p:nvPr/>
        </p:nvSpPr>
        <p:spPr>
          <a:xfrm>
            <a:off x="1060704" y="4251960"/>
            <a:ext cx="1463040" cy="228600"/>
          </a:xfrm>
          <a:prstGeom prst="rect">
            <a:avLst/>
          </a:prstGeom>
          <a:noFill/>
          <a:ln/>
        </p:spPr>
        <p:txBody>
          <a:bodyPr wrap="square" lIns="0" tIns="0" rIns="0" bIns="0" rtlCol="0" anchor="ctr"/>
          <a:lstStyle/>
          <a:p>
            <a:pPr marL="0" indent="0">
              <a:buNone/>
            </a:pPr>
            <a:r>
              <a:rPr lang="en-US" sz="950" b="1" dirty="0">
                <a:solidFill>
                  <a:srgbClr val="00A896"/>
                </a:solidFill>
                <a:latin typeface="Calibri" pitchFamily="34" charset="0"/>
                <a:ea typeface="Calibri" pitchFamily="34" charset="-122"/>
                <a:cs typeface="Calibri" pitchFamily="34" charset="-120"/>
              </a:rPr>
              <a:t>W18  ·  15 Nov 26</a:t>
            </a:r>
            <a:endParaRPr lang="en-US" sz="950" dirty="0"/>
          </a:p>
        </p:txBody>
      </p:sp>
      <p:sp>
        <p:nvSpPr>
          <p:cNvPr id="42" name="Text 40"/>
          <p:cNvSpPr/>
          <p:nvPr/>
        </p:nvSpPr>
        <p:spPr>
          <a:xfrm>
            <a:off x="1060704" y="4453128"/>
            <a:ext cx="4754880" cy="274320"/>
          </a:xfrm>
          <a:prstGeom prst="rect">
            <a:avLst/>
          </a:prstGeom>
          <a:noFill/>
          <a:ln/>
        </p:spPr>
        <p:txBody>
          <a:bodyPr wrap="square" lIns="0" tIns="0" rIns="0" bIns="0" rtlCol="0" anchor="ctr"/>
          <a:lstStyle/>
          <a:p>
            <a:pPr marL="0" indent="0">
              <a:buNone/>
            </a:pPr>
            <a:r>
              <a:rPr lang="en-US" sz="1000" dirty="0">
                <a:solidFill>
                  <a:srgbClr val="31474B"/>
                </a:solidFill>
                <a:latin typeface="Calibri" pitchFamily="34" charset="0"/>
                <a:ea typeface="Calibri" pitchFamily="34" charset="-122"/>
                <a:cs typeface="Calibri" pitchFamily="34" charset="-120"/>
              </a:rPr>
              <a:t>Weeks 6, 10 and 12 imported. All 2,055 media files resolve.</a:t>
            </a:r>
            <a:endParaRPr lang="en-US" sz="1000" dirty="0"/>
          </a:p>
        </p:txBody>
      </p:sp>
      <p:sp>
        <p:nvSpPr>
          <p:cNvPr id="43" name="Shape 41"/>
          <p:cNvSpPr/>
          <p:nvPr/>
        </p:nvSpPr>
        <p:spPr>
          <a:xfrm>
            <a:off x="548640" y="4855464"/>
            <a:ext cx="5394960" cy="566928"/>
          </a:xfrm>
          <a:prstGeom prst="roundRect">
            <a:avLst>
              <a:gd name="adj" fmla="val 12903"/>
            </a:avLst>
          </a:prstGeom>
          <a:solidFill>
            <a:srgbClr val="EEF4F4"/>
          </a:solidFill>
          <a:ln w="9525">
            <a:solidFill>
              <a:srgbClr val="EEF4F4"/>
            </a:solidFill>
            <a:prstDash val="solid"/>
          </a:ln>
        </p:spPr>
      </p:sp>
      <p:sp>
        <p:nvSpPr>
          <p:cNvPr id="44" name="Shape 42"/>
          <p:cNvSpPr/>
          <p:nvPr/>
        </p:nvSpPr>
        <p:spPr>
          <a:xfrm>
            <a:off x="548640" y="4855464"/>
            <a:ext cx="5394960" cy="566928"/>
          </a:xfrm>
          <a:prstGeom prst="roundRect">
            <a:avLst>
              <a:gd name="adj" fmla="val 9677"/>
            </a:avLst>
          </a:prstGeom>
          <a:solidFill>
            <a:srgbClr val="F7FAFA"/>
          </a:solidFill>
          <a:ln w="9525">
            <a:solidFill>
              <a:srgbClr val="D5E0E1"/>
            </a:solidFill>
            <a:prstDash val="solid"/>
          </a:ln>
        </p:spPr>
      </p:sp>
      <p:sp>
        <p:nvSpPr>
          <p:cNvPr id="45" name="Shape 43"/>
          <p:cNvSpPr/>
          <p:nvPr/>
        </p:nvSpPr>
        <p:spPr>
          <a:xfrm>
            <a:off x="676656" y="4983480"/>
            <a:ext cx="310896" cy="310896"/>
          </a:xfrm>
          <a:prstGeom prst="ellipse">
            <a:avLst/>
          </a:prstGeom>
          <a:solidFill>
            <a:srgbClr val="E08A3C"/>
          </a:solidFill>
          <a:ln w="12700">
            <a:solidFill>
              <a:srgbClr val="E08A3C"/>
            </a:solidFill>
            <a:prstDash val="solid"/>
          </a:ln>
        </p:spPr>
      </p:sp>
      <p:sp>
        <p:nvSpPr>
          <p:cNvPr id="46" name="Text 44"/>
          <p:cNvSpPr/>
          <p:nvPr/>
        </p:nvSpPr>
        <p:spPr>
          <a:xfrm>
            <a:off x="676656" y="498348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M4</a:t>
            </a:r>
            <a:endParaRPr lang="en-US" sz="1200" dirty="0"/>
          </a:p>
        </p:txBody>
      </p:sp>
      <p:sp>
        <p:nvSpPr>
          <p:cNvPr id="47" name="Text 45"/>
          <p:cNvSpPr/>
          <p:nvPr/>
        </p:nvSpPr>
        <p:spPr>
          <a:xfrm>
            <a:off x="1060704" y="4910328"/>
            <a:ext cx="1463040" cy="228600"/>
          </a:xfrm>
          <a:prstGeom prst="rect">
            <a:avLst/>
          </a:prstGeom>
          <a:noFill/>
          <a:ln/>
        </p:spPr>
        <p:txBody>
          <a:bodyPr wrap="square" lIns="0" tIns="0" rIns="0" bIns="0" rtlCol="0" anchor="ctr"/>
          <a:lstStyle/>
          <a:p>
            <a:pPr marL="0" indent="0">
              <a:buNone/>
            </a:pPr>
            <a:r>
              <a:rPr lang="en-US" sz="950" b="1" dirty="0">
                <a:solidFill>
                  <a:srgbClr val="E08A3C"/>
                </a:solidFill>
                <a:latin typeface="Calibri" pitchFamily="34" charset="0"/>
                <a:ea typeface="Calibri" pitchFamily="34" charset="-122"/>
                <a:cs typeface="Calibri" pitchFamily="34" charset="-120"/>
              </a:rPr>
              <a:t>W25  ·  3 Jan 27</a:t>
            </a:r>
            <a:endParaRPr lang="en-US" sz="950" dirty="0"/>
          </a:p>
        </p:txBody>
      </p:sp>
      <p:sp>
        <p:nvSpPr>
          <p:cNvPr id="48" name="Text 46"/>
          <p:cNvSpPr/>
          <p:nvPr/>
        </p:nvSpPr>
        <p:spPr>
          <a:xfrm>
            <a:off x="1060704" y="5111496"/>
            <a:ext cx="4754880" cy="274320"/>
          </a:xfrm>
          <a:prstGeom prst="rect">
            <a:avLst/>
          </a:prstGeom>
          <a:noFill/>
          <a:ln/>
        </p:spPr>
        <p:txBody>
          <a:bodyPr wrap="square" lIns="0" tIns="0" rIns="0" bIns="0" rtlCol="0" anchor="ctr"/>
          <a:lstStyle/>
          <a:p>
            <a:pPr marL="0" indent="0">
              <a:buNone/>
            </a:pPr>
            <a:r>
              <a:rPr lang="en-US" sz="1000" dirty="0">
                <a:solidFill>
                  <a:srgbClr val="31474B"/>
                </a:solidFill>
                <a:latin typeface="Calibri" pitchFamily="34" charset="0"/>
                <a:ea typeface="Calibri" pitchFamily="34" charset="-122"/>
                <a:cs typeface="Calibri" pitchFamily="34" charset="-120"/>
              </a:rPr>
              <a:t>A child plays a real task end to end. The engine is proven.</a:t>
            </a:r>
            <a:endParaRPr lang="en-US" sz="1000" dirty="0"/>
          </a:p>
        </p:txBody>
      </p:sp>
      <p:sp>
        <p:nvSpPr>
          <p:cNvPr id="49" name="Shape 47"/>
          <p:cNvSpPr/>
          <p:nvPr/>
        </p:nvSpPr>
        <p:spPr>
          <a:xfrm>
            <a:off x="548640" y="5513832"/>
            <a:ext cx="5394960" cy="566928"/>
          </a:xfrm>
          <a:prstGeom prst="roundRect">
            <a:avLst>
              <a:gd name="adj" fmla="val 12903"/>
            </a:avLst>
          </a:prstGeom>
          <a:solidFill>
            <a:srgbClr val="EEF4F4"/>
          </a:solidFill>
          <a:ln w="9525">
            <a:solidFill>
              <a:srgbClr val="EEF4F4"/>
            </a:solidFill>
            <a:prstDash val="solid"/>
          </a:ln>
        </p:spPr>
      </p:sp>
      <p:sp>
        <p:nvSpPr>
          <p:cNvPr id="50" name="Shape 48"/>
          <p:cNvSpPr/>
          <p:nvPr/>
        </p:nvSpPr>
        <p:spPr>
          <a:xfrm>
            <a:off x="548640" y="5513832"/>
            <a:ext cx="5394960" cy="566928"/>
          </a:xfrm>
          <a:prstGeom prst="roundRect">
            <a:avLst>
              <a:gd name="adj" fmla="val 9677"/>
            </a:avLst>
          </a:prstGeom>
          <a:solidFill>
            <a:srgbClr val="F7FAFA"/>
          </a:solidFill>
          <a:ln w="9525">
            <a:solidFill>
              <a:srgbClr val="D5E0E1"/>
            </a:solidFill>
            <a:prstDash val="solid"/>
          </a:ln>
        </p:spPr>
      </p:sp>
      <p:sp>
        <p:nvSpPr>
          <p:cNvPr id="51" name="Shape 49"/>
          <p:cNvSpPr/>
          <p:nvPr/>
        </p:nvSpPr>
        <p:spPr>
          <a:xfrm>
            <a:off x="676656" y="5641848"/>
            <a:ext cx="310896" cy="310896"/>
          </a:xfrm>
          <a:prstGeom prst="ellipse">
            <a:avLst/>
          </a:prstGeom>
          <a:solidFill>
            <a:srgbClr val="E08A3C"/>
          </a:solidFill>
          <a:ln w="12700">
            <a:solidFill>
              <a:srgbClr val="E08A3C"/>
            </a:solidFill>
            <a:prstDash val="solid"/>
          </a:ln>
        </p:spPr>
      </p:sp>
      <p:sp>
        <p:nvSpPr>
          <p:cNvPr id="52" name="Text 50"/>
          <p:cNvSpPr/>
          <p:nvPr/>
        </p:nvSpPr>
        <p:spPr>
          <a:xfrm>
            <a:off x="676656" y="5641848"/>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M5</a:t>
            </a:r>
            <a:endParaRPr lang="en-US" sz="1200" dirty="0"/>
          </a:p>
        </p:txBody>
      </p:sp>
      <p:sp>
        <p:nvSpPr>
          <p:cNvPr id="53" name="Text 51"/>
          <p:cNvSpPr/>
          <p:nvPr/>
        </p:nvSpPr>
        <p:spPr>
          <a:xfrm>
            <a:off x="1060704" y="5568696"/>
            <a:ext cx="1463040" cy="228600"/>
          </a:xfrm>
          <a:prstGeom prst="rect">
            <a:avLst/>
          </a:prstGeom>
          <a:noFill/>
          <a:ln/>
        </p:spPr>
        <p:txBody>
          <a:bodyPr wrap="square" lIns="0" tIns="0" rIns="0" bIns="0" rtlCol="0" anchor="ctr"/>
          <a:lstStyle/>
          <a:p>
            <a:pPr marL="0" indent="0">
              <a:buNone/>
            </a:pPr>
            <a:r>
              <a:rPr lang="en-US" sz="950" b="1" dirty="0">
                <a:solidFill>
                  <a:srgbClr val="E08A3C"/>
                </a:solidFill>
                <a:latin typeface="Calibri" pitchFamily="34" charset="0"/>
                <a:ea typeface="Calibri" pitchFamily="34" charset="-122"/>
                <a:cs typeface="Calibri" pitchFamily="34" charset="-120"/>
              </a:rPr>
              <a:t>W34  ·  7 Mar 27</a:t>
            </a:r>
            <a:endParaRPr lang="en-US" sz="950" dirty="0"/>
          </a:p>
        </p:txBody>
      </p:sp>
      <p:sp>
        <p:nvSpPr>
          <p:cNvPr id="54" name="Text 52"/>
          <p:cNvSpPr/>
          <p:nvPr/>
        </p:nvSpPr>
        <p:spPr>
          <a:xfrm>
            <a:off x="1060704" y="5769864"/>
            <a:ext cx="4754880" cy="274320"/>
          </a:xfrm>
          <a:prstGeom prst="rect">
            <a:avLst/>
          </a:prstGeom>
          <a:noFill/>
          <a:ln/>
        </p:spPr>
        <p:txBody>
          <a:bodyPr wrap="square" lIns="0" tIns="0" rIns="0" bIns="0" rtlCol="0" anchor="ctr"/>
          <a:lstStyle/>
          <a:p>
            <a:pPr marL="0" indent="0">
              <a:buNone/>
            </a:pPr>
            <a:r>
              <a:rPr lang="en-US" sz="1000" dirty="0">
                <a:solidFill>
                  <a:srgbClr val="31474B"/>
                </a:solidFill>
                <a:latin typeface="Calibri" pitchFamily="34" charset="0"/>
                <a:ea typeface="Calibri" pitchFamily="34" charset="-122"/>
                <a:cs typeface="Calibri" pitchFamily="34" charset="-120"/>
              </a:rPr>
              <a:t>All eleven task types playable</a:t>
            </a:r>
            <a:endParaRPr lang="en-US" sz="1000" dirty="0"/>
          </a:p>
        </p:txBody>
      </p:sp>
      <p:sp>
        <p:nvSpPr>
          <p:cNvPr id="55" name="Shape 53"/>
          <p:cNvSpPr/>
          <p:nvPr/>
        </p:nvSpPr>
        <p:spPr>
          <a:xfrm>
            <a:off x="6172200" y="2880360"/>
            <a:ext cx="5394960" cy="566928"/>
          </a:xfrm>
          <a:prstGeom prst="roundRect">
            <a:avLst>
              <a:gd name="adj" fmla="val 12903"/>
            </a:avLst>
          </a:prstGeom>
          <a:solidFill>
            <a:srgbClr val="EEF4F4"/>
          </a:solidFill>
          <a:ln w="9525">
            <a:solidFill>
              <a:srgbClr val="EEF4F4"/>
            </a:solidFill>
            <a:prstDash val="solid"/>
          </a:ln>
        </p:spPr>
      </p:sp>
      <p:sp>
        <p:nvSpPr>
          <p:cNvPr id="56" name="Shape 54"/>
          <p:cNvSpPr/>
          <p:nvPr/>
        </p:nvSpPr>
        <p:spPr>
          <a:xfrm>
            <a:off x="6172200" y="2880360"/>
            <a:ext cx="5394960" cy="566928"/>
          </a:xfrm>
          <a:prstGeom prst="roundRect">
            <a:avLst>
              <a:gd name="adj" fmla="val 9677"/>
            </a:avLst>
          </a:prstGeom>
          <a:solidFill>
            <a:srgbClr val="F7FAFA"/>
          </a:solidFill>
          <a:ln w="9525">
            <a:solidFill>
              <a:srgbClr val="D5E0E1"/>
            </a:solidFill>
            <a:prstDash val="solid"/>
          </a:ln>
        </p:spPr>
      </p:sp>
      <p:sp>
        <p:nvSpPr>
          <p:cNvPr id="57" name="Shape 55"/>
          <p:cNvSpPr/>
          <p:nvPr/>
        </p:nvSpPr>
        <p:spPr>
          <a:xfrm>
            <a:off x="6300216" y="3008376"/>
            <a:ext cx="310896" cy="310896"/>
          </a:xfrm>
          <a:prstGeom prst="ellipse">
            <a:avLst/>
          </a:prstGeom>
          <a:solidFill>
            <a:srgbClr val="E08A3C"/>
          </a:solidFill>
          <a:ln w="12700">
            <a:solidFill>
              <a:srgbClr val="E08A3C"/>
            </a:solidFill>
            <a:prstDash val="solid"/>
          </a:ln>
        </p:spPr>
      </p:sp>
      <p:sp>
        <p:nvSpPr>
          <p:cNvPr id="58" name="Text 56"/>
          <p:cNvSpPr/>
          <p:nvPr/>
        </p:nvSpPr>
        <p:spPr>
          <a:xfrm>
            <a:off x="6300216" y="3008376"/>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M6</a:t>
            </a:r>
            <a:endParaRPr lang="en-US" sz="1200" dirty="0"/>
          </a:p>
        </p:txBody>
      </p:sp>
      <p:sp>
        <p:nvSpPr>
          <p:cNvPr id="59" name="Text 57"/>
          <p:cNvSpPr/>
          <p:nvPr/>
        </p:nvSpPr>
        <p:spPr>
          <a:xfrm>
            <a:off x="6684264" y="2935224"/>
            <a:ext cx="1463040" cy="228600"/>
          </a:xfrm>
          <a:prstGeom prst="rect">
            <a:avLst/>
          </a:prstGeom>
          <a:noFill/>
          <a:ln/>
        </p:spPr>
        <p:txBody>
          <a:bodyPr wrap="square" lIns="0" tIns="0" rIns="0" bIns="0" rtlCol="0" anchor="ctr"/>
          <a:lstStyle/>
          <a:p>
            <a:pPr marL="0" indent="0">
              <a:buNone/>
            </a:pPr>
            <a:r>
              <a:rPr lang="en-US" sz="950" b="1" dirty="0">
                <a:solidFill>
                  <a:srgbClr val="E08A3C"/>
                </a:solidFill>
                <a:latin typeface="Calibri" pitchFamily="34" charset="0"/>
                <a:ea typeface="Calibri" pitchFamily="34" charset="-122"/>
                <a:cs typeface="Calibri" pitchFamily="34" charset="-120"/>
              </a:rPr>
              <a:t>W38  ·  4 Apr 27</a:t>
            </a:r>
            <a:endParaRPr lang="en-US" sz="950" dirty="0"/>
          </a:p>
        </p:txBody>
      </p:sp>
      <p:sp>
        <p:nvSpPr>
          <p:cNvPr id="60" name="Text 58"/>
          <p:cNvSpPr/>
          <p:nvPr/>
        </p:nvSpPr>
        <p:spPr>
          <a:xfrm>
            <a:off x="6684264" y="3136392"/>
            <a:ext cx="4754880" cy="274320"/>
          </a:xfrm>
          <a:prstGeom prst="rect">
            <a:avLst/>
          </a:prstGeom>
          <a:noFill/>
          <a:ln/>
        </p:spPr>
        <p:txBody>
          <a:bodyPr wrap="square" lIns="0" tIns="0" rIns="0" bIns="0" rtlCol="0" anchor="ctr"/>
          <a:lstStyle/>
          <a:p>
            <a:pPr marL="0" indent="0">
              <a:buNone/>
            </a:pPr>
            <a:r>
              <a:rPr lang="en-US" sz="1000" dirty="0">
                <a:solidFill>
                  <a:srgbClr val="31474B"/>
                </a:solidFill>
                <a:latin typeface="Calibri" pitchFamily="34" charset="0"/>
                <a:ea typeface="Calibri" pitchFamily="34" charset="-122"/>
                <a:cs typeface="Calibri" pitchFamily="34" charset="-120"/>
              </a:rPr>
              <a:t>Remediation, resume and full response capture working</a:t>
            </a:r>
            <a:endParaRPr lang="en-US" sz="1000" dirty="0"/>
          </a:p>
        </p:txBody>
      </p:sp>
      <p:sp>
        <p:nvSpPr>
          <p:cNvPr id="61" name="Shape 59"/>
          <p:cNvSpPr/>
          <p:nvPr/>
        </p:nvSpPr>
        <p:spPr>
          <a:xfrm>
            <a:off x="6172200" y="3538728"/>
            <a:ext cx="5394960" cy="566928"/>
          </a:xfrm>
          <a:prstGeom prst="roundRect">
            <a:avLst>
              <a:gd name="adj" fmla="val 12903"/>
            </a:avLst>
          </a:prstGeom>
          <a:solidFill>
            <a:srgbClr val="EEF4F4"/>
          </a:solidFill>
          <a:ln w="9525">
            <a:solidFill>
              <a:srgbClr val="EEF4F4"/>
            </a:solidFill>
            <a:prstDash val="solid"/>
          </a:ln>
        </p:spPr>
      </p:sp>
      <p:sp>
        <p:nvSpPr>
          <p:cNvPr id="62" name="Shape 60"/>
          <p:cNvSpPr/>
          <p:nvPr/>
        </p:nvSpPr>
        <p:spPr>
          <a:xfrm>
            <a:off x="6172200" y="3538728"/>
            <a:ext cx="5394960" cy="566928"/>
          </a:xfrm>
          <a:prstGeom prst="roundRect">
            <a:avLst>
              <a:gd name="adj" fmla="val 9677"/>
            </a:avLst>
          </a:prstGeom>
          <a:solidFill>
            <a:srgbClr val="F7FAFA"/>
          </a:solidFill>
          <a:ln w="9525">
            <a:solidFill>
              <a:srgbClr val="D5E0E1"/>
            </a:solidFill>
            <a:prstDash val="solid"/>
          </a:ln>
        </p:spPr>
      </p:sp>
      <p:sp>
        <p:nvSpPr>
          <p:cNvPr id="63" name="Shape 61"/>
          <p:cNvSpPr/>
          <p:nvPr/>
        </p:nvSpPr>
        <p:spPr>
          <a:xfrm>
            <a:off x="6300216" y="3666744"/>
            <a:ext cx="310896" cy="310896"/>
          </a:xfrm>
          <a:prstGeom prst="ellipse">
            <a:avLst/>
          </a:prstGeom>
          <a:solidFill>
            <a:srgbClr val="1C7293"/>
          </a:solidFill>
          <a:ln w="12700">
            <a:solidFill>
              <a:srgbClr val="1C7293"/>
            </a:solidFill>
            <a:prstDash val="solid"/>
          </a:ln>
        </p:spPr>
      </p:sp>
      <p:sp>
        <p:nvSpPr>
          <p:cNvPr id="64" name="Text 62"/>
          <p:cNvSpPr/>
          <p:nvPr/>
        </p:nvSpPr>
        <p:spPr>
          <a:xfrm>
            <a:off x="6300216" y="3666744"/>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M7</a:t>
            </a:r>
            <a:endParaRPr lang="en-US" sz="1200" dirty="0"/>
          </a:p>
        </p:txBody>
      </p:sp>
      <p:sp>
        <p:nvSpPr>
          <p:cNvPr id="65" name="Text 63"/>
          <p:cNvSpPr/>
          <p:nvPr/>
        </p:nvSpPr>
        <p:spPr>
          <a:xfrm>
            <a:off x="6684264" y="3593592"/>
            <a:ext cx="1463040" cy="228600"/>
          </a:xfrm>
          <a:prstGeom prst="rect">
            <a:avLst/>
          </a:prstGeom>
          <a:noFill/>
          <a:ln/>
        </p:spPr>
        <p:txBody>
          <a:bodyPr wrap="square" lIns="0" tIns="0" rIns="0" bIns="0" rtlCol="0" anchor="ctr"/>
          <a:lstStyle/>
          <a:p>
            <a:pPr marL="0" indent="0">
              <a:buNone/>
            </a:pPr>
            <a:r>
              <a:rPr lang="en-US" sz="950" b="1" dirty="0">
                <a:solidFill>
                  <a:srgbClr val="1C7293"/>
                </a:solidFill>
                <a:latin typeface="Calibri" pitchFamily="34" charset="0"/>
                <a:ea typeface="Calibri" pitchFamily="34" charset="-122"/>
                <a:cs typeface="Calibri" pitchFamily="34" charset="-120"/>
              </a:rPr>
              <a:t>W46  ·  30 May 27</a:t>
            </a:r>
            <a:endParaRPr lang="en-US" sz="950" dirty="0"/>
          </a:p>
        </p:txBody>
      </p:sp>
      <p:sp>
        <p:nvSpPr>
          <p:cNvPr id="66" name="Text 64"/>
          <p:cNvSpPr/>
          <p:nvPr/>
        </p:nvSpPr>
        <p:spPr>
          <a:xfrm>
            <a:off x="6684264" y="3794760"/>
            <a:ext cx="4754880" cy="274320"/>
          </a:xfrm>
          <a:prstGeom prst="rect">
            <a:avLst/>
          </a:prstGeom>
          <a:noFill/>
          <a:ln/>
        </p:spPr>
        <p:txBody>
          <a:bodyPr wrap="square" lIns="0" tIns="0" rIns="0" bIns="0" rtlCol="0" anchor="ctr"/>
          <a:lstStyle/>
          <a:p>
            <a:pPr marL="0" indent="0">
              <a:buNone/>
            </a:pPr>
            <a:r>
              <a:rPr lang="en-US" sz="1000" dirty="0">
                <a:solidFill>
                  <a:srgbClr val="31474B"/>
                </a:solidFill>
                <a:latin typeface="Calibri" pitchFamily="34" charset="0"/>
                <a:ea typeface="Calibri" pitchFamily="34" charset="-122"/>
                <a:cs typeface="Calibri" pitchFamily="34" charset="-120"/>
              </a:rPr>
              <a:t>Teacher and administrator dashboards complete</a:t>
            </a:r>
            <a:endParaRPr lang="en-US" sz="1000" dirty="0"/>
          </a:p>
        </p:txBody>
      </p:sp>
      <p:sp>
        <p:nvSpPr>
          <p:cNvPr id="67" name="Shape 65"/>
          <p:cNvSpPr/>
          <p:nvPr/>
        </p:nvSpPr>
        <p:spPr>
          <a:xfrm>
            <a:off x="6172200" y="4197096"/>
            <a:ext cx="5394960" cy="566928"/>
          </a:xfrm>
          <a:prstGeom prst="roundRect">
            <a:avLst>
              <a:gd name="adj" fmla="val 12903"/>
            </a:avLst>
          </a:prstGeom>
          <a:solidFill>
            <a:srgbClr val="EEF4F4"/>
          </a:solidFill>
          <a:ln w="9525">
            <a:solidFill>
              <a:srgbClr val="EEF4F4"/>
            </a:solidFill>
            <a:prstDash val="solid"/>
          </a:ln>
        </p:spPr>
      </p:sp>
      <p:sp>
        <p:nvSpPr>
          <p:cNvPr id="68" name="Shape 66"/>
          <p:cNvSpPr/>
          <p:nvPr/>
        </p:nvSpPr>
        <p:spPr>
          <a:xfrm>
            <a:off x="6172200" y="4197096"/>
            <a:ext cx="5394960" cy="566928"/>
          </a:xfrm>
          <a:prstGeom prst="roundRect">
            <a:avLst>
              <a:gd name="adj" fmla="val 9677"/>
            </a:avLst>
          </a:prstGeom>
          <a:solidFill>
            <a:srgbClr val="F7FAFA"/>
          </a:solidFill>
          <a:ln w="9525">
            <a:solidFill>
              <a:srgbClr val="D5E0E1"/>
            </a:solidFill>
            <a:prstDash val="solid"/>
          </a:ln>
        </p:spPr>
      </p:sp>
      <p:sp>
        <p:nvSpPr>
          <p:cNvPr id="69" name="Shape 67"/>
          <p:cNvSpPr/>
          <p:nvPr/>
        </p:nvSpPr>
        <p:spPr>
          <a:xfrm>
            <a:off x="6300216" y="4325112"/>
            <a:ext cx="310896" cy="310896"/>
          </a:xfrm>
          <a:prstGeom prst="ellipse">
            <a:avLst/>
          </a:prstGeom>
          <a:solidFill>
            <a:srgbClr val="50808E"/>
          </a:solidFill>
          <a:ln w="12700">
            <a:solidFill>
              <a:srgbClr val="50808E"/>
            </a:solidFill>
            <a:prstDash val="solid"/>
          </a:ln>
        </p:spPr>
      </p:sp>
      <p:sp>
        <p:nvSpPr>
          <p:cNvPr id="70" name="Text 68"/>
          <p:cNvSpPr/>
          <p:nvPr/>
        </p:nvSpPr>
        <p:spPr>
          <a:xfrm>
            <a:off x="6300216" y="4325112"/>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M8</a:t>
            </a:r>
            <a:endParaRPr lang="en-US" sz="1200" dirty="0"/>
          </a:p>
        </p:txBody>
      </p:sp>
      <p:sp>
        <p:nvSpPr>
          <p:cNvPr id="71" name="Text 69"/>
          <p:cNvSpPr/>
          <p:nvPr/>
        </p:nvSpPr>
        <p:spPr>
          <a:xfrm>
            <a:off x="6684264" y="4251960"/>
            <a:ext cx="1463040" cy="228600"/>
          </a:xfrm>
          <a:prstGeom prst="rect">
            <a:avLst/>
          </a:prstGeom>
          <a:noFill/>
          <a:ln/>
        </p:spPr>
        <p:txBody>
          <a:bodyPr wrap="square" lIns="0" tIns="0" rIns="0" bIns="0" rtlCol="0" anchor="ctr"/>
          <a:lstStyle/>
          <a:p>
            <a:pPr marL="0" indent="0">
              <a:buNone/>
            </a:pPr>
            <a:r>
              <a:rPr lang="en-US" sz="950" b="1" dirty="0">
                <a:solidFill>
                  <a:srgbClr val="50808E"/>
                </a:solidFill>
                <a:latin typeface="Calibri" pitchFamily="34" charset="0"/>
                <a:ea typeface="Calibri" pitchFamily="34" charset="-122"/>
                <a:cs typeface="Calibri" pitchFamily="34" charset="-120"/>
              </a:rPr>
              <a:t>W52  ·  11 Jul 27</a:t>
            </a:r>
            <a:endParaRPr lang="en-US" sz="950" dirty="0"/>
          </a:p>
        </p:txBody>
      </p:sp>
      <p:sp>
        <p:nvSpPr>
          <p:cNvPr id="72" name="Text 70"/>
          <p:cNvSpPr/>
          <p:nvPr/>
        </p:nvSpPr>
        <p:spPr>
          <a:xfrm>
            <a:off x="6684264" y="4453128"/>
            <a:ext cx="4754880" cy="274320"/>
          </a:xfrm>
          <a:prstGeom prst="rect">
            <a:avLst/>
          </a:prstGeom>
          <a:noFill/>
          <a:ln/>
        </p:spPr>
        <p:txBody>
          <a:bodyPr wrap="square" lIns="0" tIns="0" rIns="0" bIns="0" rtlCol="0" anchor="ctr"/>
          <a:lstStyle/>
          <a:p>
            <a:pPr marL="0" indent="0">
              <a:buNone/>
            </a:pPr>
            <a:r>
              <a:rPr lang="en-US" sz="1000" dirty="0">
                <a:solidFill>
                  <a:srgbClr val="31474B"/>
                </a:solidFill>
                <a:latin typeface="Calibri" pitchFamily="34" charset="0"/>
                <a:ea typeface="Calibri" pitchFamily="34" charset="-122"/>
                <a:cs typeface="Calibri" pitchFamily="34" charset="-120"/>
              </a:rPr>
              <a:t>Release candidate. Gate 3 passed.</a:t>
            </a:r>
            <a:endParaRPr lang="en-US" sz="1000" dirty="0"/>
          </a:p>
        </p:txBody>
      </p:sp>
      <p:sp>
        <p:nvSpPr>
          <p:cNvPr id="73" name="Shape 71"/>
          <p:cNvSpPr/>
          <p:nvPr/>
        </p:nvSpPr>
        <p:spPr>
          <a:xfrm>
            <a:off x="6172200" y="4855464"/>
            <a:ext cx="5394960" cy="566928"/>
          </a:xfrm>
          <a:prstGeom prst="roundRect">
            <a:avLst>
              <a:gd name="adj" fmla="val 12903"/>
            </a:avLst>
          </a:prstGeom>
          <a:solidFill>
            <a:srgbClr val="EEF4F4"/>
          </a:solidFill>
          <a:ln w="9525">
            <a:solidFill>
              <a:srgbClr val="EEF4F4"/>
            </a:solidFill>
            <a:prstDash val="solid"/>
          </a:ln>
        </p:spPr>
      </p:sp>
      <p:sp>
        <p:nvSpPr>
          <p:cNvPr id="74" name="Shape 72"/>
          <p:cNvSpPr/>
          <p:nvPr/>
        </p:nvSpPr>
        <p:spPr>
          <a:xfrm>
            <a:off x="6172200" y="4855464"/>
            <a:ext cx="5394960" cy="566928"/>
          </a:xfrm>
          <a:prstGeom prst="roundRect">
            <a:avLst>
              <a:gd name="adj" fmla="val 9677"/>
            </a:avLst>
          </a:prstGeom>
          <a:solidFill>
            <a:srgbClr val="F7FAFA"/>
          </a:solidFill>
          <a:ln w="9525">
            <a:solidFill>
              <a:srgbClr val="D5E0E1"/>
            </a:solidFill>
            <a:prstDash val="solid"/>
          </a:ln>
        </p:spPr>
      </p:sp>
      <p:sp>
        <p:nvSpPr>
          <p:cNvPr id="75" name="Shape 73"/>
          <p:cNvSpPr/>
          <p:nvPr/>
        </p:nvSpPr>
        <p:spPr>
          <a:xfrm>
            <a:off x="6300216" y="4983480"/>
            <a:ext cx="310896" cy="310896"/>
          </a:xfrm>
          <a:prstGeom prst="ellipse">
            <a:avLst/>
          </a:prstGeom>
          <a:solidFill>
            <a:srgbClr val="B4453C"/>
          </a:solidFill>
          <a:ln w="12700">
            <a:solidFill>
              <a:srgbClr val="B4453C"/>
            </a:solidFill>
            <a:prstDash val="solid"/>
          </a:ln>
        </p:spPr>
      </p:sp>
      <p:sp>
        <p:nvSpPr>
          <p:cNvPr id="76" name="Text 74"/>
          <p:cNvSpPr/>
          <p:nvPr/>
        </p:nvSpPr>
        <p:spPr>
          <a:xfrm>
            <a:off x="6300216" y="498348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M9</a:t>
            </a:r>
            <a:endParaRPr lang="en-US" sz="1200" dirty="0"/>
          </a:p>
        </p:txBody>
      </p:sp>
      <p:sp>
        <p:nvSpPr>
          <p:cNvPr id="77" name="Text 75"/>
          <p:cNvSpPr/>
          <p:nvPr/>
        </p:nvSpPr>
        <p:spPr>
          <a:xfrm>
            <a:off x="6684264" y="4910328"/>
            <a:ext cx="1463040" cy="228600"/>
          </a:xfrm>
          <a:prstGeom prst="rect">
            <a:avLst/>
          </a:prstGeom>
          <a:noFill/>
          <a:ln/>
        </p:spPr>
        <p:txBody>
          <a:bodyPr wrap="square" lIns="0" tIns="0" rIns="0" bIns="0" rtlCol="0" anchor="ctr"/>
          <a:lstStyle/>
          <a:p>
            <a:pPr marL="0" indent="0">
              <a:buNone/>
            </a:pPr>
            <a:r>
              <a:rPr lang="en-US" sz="950" b="1" dirty="0">
                <a:solidFill>
                  <a:srgbClr val="B4453C"/>
                </a:solidFill>
                <a:latin typeface="Calibri" pitchFamily="34" charset="0"/>
                <a:ea typeface="Calibri" pitchFamily="34" charset="-122"/>
                <a:cs typeface="Calibri" pitchFamily="34" charset="-120"/>
              </a:rPr>
              <a:t>W60  ·  5 Sep 27</a:t>
            </a:r>
            <a:endParaRPr lang="en-US" sz="950" dirty="0"/>
          </a:p>
        </p:txBody>
      </p:sp>
      <p:sp>
        <p:nvSpPr>
          <p:cNvPr id="78" name="Text 76"/>
          <p:cNvSpPr/>
          <p:nvPr/>
        </p:nvSpPr>
        <p:spPr>
          <a:xfrm>
            <a:off x="6684264" y="5111496"/>
            <a:ext cx="4754880" cy="274320"/>
          </a:xfrm>
          <a:prstGeom prst="rect">
            <a:avLst/>
          </a:prstGeom>
          <a:noFill/>
          <a:ln/>
        </p:spPr>
        <p:txBody>
          <a:bodyPr wrap="square" lIns="0" tIns="0" rIns="0" bIns="0" rtlCol="0" anchor="ctr"/>
          <a:lstStyle/>
          <a:p>
            <a:pPr marL="0" indent="0">
              <a:buNone/>
            </a:pPr>
            <a:r>
              <a:rPr lang="en-US" sz="1000" dirty="0">
                <a:solidFill>
                  <a:srgbClr val="31474B"/>
                </a:solidFill>
                <a:latin typeface="Calibri" pitchFamily="34" charset="0"/>
                <a:ea typeface="Calibri" pitchFamily="34" charset="-122"/>
                <a:cs typeface="Calibri" pitchFamily="34" charset="-120"/>
              </a:rPr>
              <a:t>Client acceptance: R01-R39 demonstrated one by one. Go-live.</a:t>
            </a:r>
            <a:endParaRPr lang="en-US" sz="1000" dirty="0"/>
          </a:p>
        </p:txBody>
      </p:sp>
      <p:sp>
        <p:nvSpPr>
          <p:cNvPr id="79" name="Text 77"/>
          <p:cNvSpPr/>
          <p:nvPr/>
        </p:nvSpPr>
        <p:spPr>
          <a:xfrm>
            <a:off x="548640" y="6172200"/>
            <a:ext cx="11064240" cy="274320"/>
          </a:xfrm>
          <a:prstGeom prst="rect">
            <a:avLst/>
          </a:prstGeom>
          <a:noFill/>
          <a:ln/>
        </p:spPr>
        <p:txBody>
          <a:bodyPr wrap="square" lIns="0" tIns="0" rIns="0" bIns="0" rtlCol="0" anchor="ctr"/>
          <a:lstStyle/>
          <a:p>
            <a:pPr marL="0" indent="0">
              <a:buNone/>
            </a:pPr>
            <a:r>
              <a:rPr lang="en-US" sz="1100" i="1" dirty="0">
                <a:solidFill>
                  <a:srgbClr val="5C6E71"/>
                </a:solidFill>
                <a:latin typeface="Calibri" pitchFamily="34" charset="0"/>
                <a:ea typeface="Calibri" pitchFamily="34" charset="-122"/>
                <a:cs typeface="Calibri" pitchFamily="34" charset="-120"/>
              </a:rPr>
              <a:t>Each milestone is a working, deployed increment - not a document. If a milestone slips, you will hear it at the fortnightly meeting, not at the end.</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200" b="1" dirty="0">
                <a:solidFill>
                  <a:srgbClr val="06474F"/>
                </a:solidFill>
                <a:latin typeface="Cambria" pitchFamily="34" charset="0"/>
                <a:ea typeface="Cambria" pitchFamily="34" charset="-122"/>
                <a:cs typeface="Cambria" pitchFamily="34" charset="-120"/>
              </a:rPr>
              <a:t>Meetings - inside the six hours, on the schedule</a:t>
            </a:r>
            <a:endParaRPr lang="en-US" sz="3200" dirty="0"/>
          </a:p>
        </p:txBody>
      </p:sp>
      <p:sp>
        <p:nvSpPr>
          <p:cNvPr id="3" name="Text 1"/>
          <p:cNvSpPr/>
          <p:nvPr/>
        </p:nvSpPr>
        <p:spPr>
          <a:xfrm>
            <a:off x="548640" y="941832"/>
            <a:ext cx="11064240" cy="310896"/>
          </a:xfrm>
          <a:prstGeom prst="rect">
            <a:avLst/>
          </a:prstGeom>
          <a:noFill/>
          <a:ln/>
        </p:spPr>
        <p:txBody>
          <a:bodyPr wrap="square" lIns="0" tIns="0" rIns="0" bIns="0" rtlCol="0" anchor="ctr"/>
          <a:lstStyle/>
          <a:p>
            <a:pPr marL="0" indent="0">
              <a:buNone/>
            </a:pPr>
            <a:r>
              <a:rPr lang="en-US" sz="1400" i="1" dirty="0">
                <a:solidFill>
                  <a:srgbClr val="5C6E71"/>
                </a:solidFill>
                <a:latin typeface="Calibri" pitchFamily="34" charset="0"/>
                <a:ea typeface="Calibri" pitchFamily="34" charset="-122"/>
                <a:cs typeface="Calibri" pitchFamily="34" charset="-120"/>
              </a:rPr>
              <a:t>0.5 h per week on average, ~33 hours over the project, already deducted from build time</a:t>
            </a:r>
            <a:endParaRPr lang="en-US" sz="1400" dirty="0"/>
          </a:p>
        </p:txBody>
      </p:sp>
      <p:sp>
        <p:nvSpPr>
          <p:cNvPr id="4" name="Text 2"/>
          <p:cNvSpPr/>
          <p:nvPr/>
        </p:nvSpPr>
        <p:spPr>
          <a:xfrm>
            <a:off x="548640" y="6473952"/>
            <a:ext cx="5486400" cy="237744"/>
          </a:xfrm>
          <a:prstGeom prst="rect">
            <a:avLst/>
          </a:prstGeom>
          <a:noFill/>
          <a:ln/>
        </p:spPr>
        <p:txBody>
          <a:bodyPr wrap="square" lIns="0" tIns="0" rIns="0" bIns="0" rtlCol="0" anchor="ctr"/>
          <a:lstStyle/>
          <a:p>
            <a:pPr marL="0" indent="0">
              <a:buNone/>
            </a:pPr>
            <a:r>
              <a:rPr lang="en-US" sz="900" dirty="0">
                <a:solidFill>
                  <a:srgbClr val="B9C4C6"/>
                </a:solidFill>
                <a:latin typeface="Calibri" pitchFamily="34" charset="0"/>
                <a:ea typeface="Calibri" pitchFamily="34" charset="-122"/>
                <a:cs typeface="Calibri" pitchFamily="34" charset="-120"/>
              </a:rPr>
              <a:t>SPEAK  |  Status &amp; Delivery Plan  |  12 July 2026</a:t>
            </a:r>
            <a:endParaRPr lang="en-US" sz="900" dirty="0"/>
          </a:p>
        </p:txBody>
      </p:sp>
      <p:sp>
        <p:nvSpPr>
          <p:cNvPr id="5" name="Text 3"/>
          <p:cNvSpPr/>
          <p:nvPr/>
        </p:nvSpPr>
        <p:spPr>
          <a:xfrm>
            <a:off x="11064240" y="6473952"/>
            <a:ext cx="548640" cy="237744"/>
          </a:xfrm>
          <a:prstGeom prst="rect">
            <a:avLst/>
          </a:prstGeom>
          <a:noFill/>
          <a:ln/>
        </p:spPr>
        <p:txBody>
          <a:bodyPr wrap="square" lIns="0" tIns="0" rIns="0" bIns="0" rtlCol="0" anchor="ctr"/>
          <a:lstStyle/>
          <a:p>
            <a:pPr marL="0" indent="0" algn="r">
              <a:buNone/>
            </a:pPr>
            <a:r>
              <a:rPr lang="en-US" sz="900" dirty="0">
                <a:solidFill>
                  <a:srgbClr val="B9C4C6"/>
                </a:solidFill>
                <a:latin typeface="Calibri" pitchFamily="34" charset="0"/>
                <a:ea typeface="Calibri" pitchFamily="34" charset="-122"/>
                <a:cs typeface="Calibri" pitchFamily="34" charset="-120"/>
              </a:rPr>
              <a:t>14</a:t>
            </a:r>
            <a:endParaRPr lang="en-US" sz="900" dirty="0"/>
          </a:p>
        </p:txBody>
      </p:sp>
      <p:sp>
        <p:nvSpPr>
          <p:cNvPr id="6" name="Shape 4"/>
          <p:cNvSpPr/>
          <p:nvPr/>
        </p:nvSpPr>
        <p:spPr>
          <a:xfrm>
            <a:off x="548640" y="1508760"/>
            <a:ext cx="11064240" cy="987552"/>
          </a:xfrm>
          <a:prstGeom prst="roundRect">
            <a:avLst>
              <a:gd name="adj" fmla="val 7407"/>
            </a:avLst>
          </a:prstGeom>
          <a:solidFill>
            <a:srgbClr val="EEF4F4"/>
          </a:solidFill>
          <a:ln w="9525">
            <a:solidFill>
              <a:srgbClr val="EEF4F4"/>
            </a:solidFill>
            <a:prstDash val="solid"/>
          </a:ln>
          <a:effectLst>
            <a:outerShdw blurRad="101600" dist="25400" dir="5400000" algn="bl" rotWithShape="0">
              <a:srgbClr val="0A2B31">
                <a:alpha val="10000"/>
              </a:srgbClr>
            </a:outerShdw>
          </a:effectLst>
        </p:spPr>
      </p:sp>
      <p:sp>
        <p:nvSpPr>
          <p:cNvPr id="7" name="Shape 5"/>
          <p:cNvSpPr/>
          <p:nvPr/>
        </p:nvSpPr>
        <p:spPr>
          <a:xfrm>
            <a:off x="804672" y="1783080"/>
            <a:ext cx="438912" cy="438912"/>
          </a:xfrm>
          <a:prstGeom prst="ellipse">
            <a:avLst/>
          </a:prstGeom>
          <a:solidFill>
            <a:srgbClr val="00A896"/>
          </a:solidFill>
          <a:ln w="12700">
            <a:solidFill>
              <a:srgbClr val="00A896"/>
            </a:solidFill>
            <a:prstDash val="solid"/>
          </a:ln>
        </p:spPr>
      </p:sp>
      <p:sp>
        <p:nvSpPr>
          <p:cNvPr id="8" name="Text 6"/>
          <p:cNvSpPr/>
          <p:nvPr/>
        </p:nvSpPr>
        <p:spPr>
          <a:xfrm>
            <a:off x="1463040" y="1618488"/>
            <a:ext cx="3931920" cy="292608"/>
          </a:xfrm>
          <a:prstGeom prst="rect">
            <a:avLst/>
          </a:prstGeom>
          <a:noFill/>
          <a:ln/>
        </p:spPr>
        <p:txBody>
          <a:bodyPr wrap="square" lIns="0" tIns="0" rIns="0" bIns="0" rtlCol="0" anchor="ctr"/>
          <a:lstStyle/>
          <a:p>
            <a:pPr marL="0" indent="0">
              <a:buNone/>
            </a:pPr>
            <a:r>
              <a:rPr lang="en-US" sz="1400" b="1" dirty="0">
                <a:solidFill>
                  <a:srgbClr val="06474F"/>
                </a:solidFill>
                <a:latin typeface="Calibri" pitchFamily="34" charset="0"/>
                <a:ea typeface="Calibri" pitchFamily="34" charset="-122"/>
                <a:cs typeface="Calibri" pitchFamily="34" charset="-120"/>
              </a:rPr>
              <a:t>Fortnightly progress sync</a:t>
            </a:r>
            <a:endParaRPr lang="en-US" sz="1400" dirty="0"/>
          </a:p>
        </p:txBody>
      </p:sp>
      <p:sp>
        <p:nvSpPr>
          <p:cNvPr id="9" name="Text 7"/>
          <p:cNvSpPr/>
          <p:nvPr/>
        </p:nvSpPr>
        <p:spPr>
          <a:xfrm>
            <a:off x="1463040" y="1911096"/>
            <a:ext cx="3931920" cy="237744"/>
          </a:xfrm>
          <a:prstGeom prst="rect">
            <a:avLst/>
          </a:prstGeom>
          <a:noFill/>
          <a:ln/>
        </p:spPr>
        <p:txBody>
          <a:bodyPr wrap="square" lIns="0" tIns="0" rIns="0" bIns="0" rtlCol="0" anchor="ctr"/>
          <a:lstStyle/>
          <a:p>
            <a:pPr marL="0" indent="0">
              <a:buNone/>
            </a:pPr>
            <a:r>
              <a:rPr lang="en-US" sz="1100" b="1" dirty="0">
                <a:solidFill>
                  <a:srgbClr val="00A896"/>
                </a:solidFill>
                <a:latin typeface="Calibri" pitchFamily="34" charset="0"/>
                <a:ea typeface="Calibri" pitchFamily="34" charset="-122"/>
                <a:cs typeface="Calibri" pitchFamily="34" charset="-120"/>
              </a:rPr>
              <a:t>45 min</a:t>
            </a:r>
            <a:endParaRPr lang="en-US" sz="1100" dirty="0"/>
          </a:p>
        </p:txBody>
      </p:sp>
      <p:sp>
        <p:nvSpPr>
          <p:cNvPr id="10" name="Text 8"/>
          <p:cNvSpPr/>
          <p:nvPr/>
        </p:nvSpPr>
        <p:spPr>
          <a:xfrm>
            <a:off x="1463040" y="2167128"/>
            <a:ext cx="3931920" cy="237744"/>
          </a:xfrm>
          <a:prstGeom prst="rect">
            <a:avLst/>
          </a:prstGeom>
          <a:noFill/>
          <a:ln/>
        </p:spPr>
        <p:txBody>
          <a:bodyPr wrap="square" lIns="0" tIns="0" rIns="0" bIns="0" rtlCol="0" anchor="ctr"/>
          <a:lstStyle/>
          <a:p>
            <a:pPr marL="0" indent="0">
              <a:buNone/>
            </a:pPr>
            <a:r>
              <a:rPr lang="en-US" sz="1000" i="1" dirty="0">
                <a:solidFill>
                  <a:srgbClr val="5C6E71"/>
                </a:solidFill>
                <a:latin typeface="Calibri" pitchFamily="34" charset="0"/>
                <a:ea typeface="Calibri" pitchFamily="34" charset="-122"/>
                <a:cs typeface="Calibri" pitchFamily="34" charset="-120"/>
              </a:rPr>
              <a:t>Weeks 1-60  ·  ~30 sessions  ·  22.5 h</a:t>
            </a:r>
            <a:endParaRPr lang="en-US" sz="1000" dirty="0"/>
          </a:p>
        </p:txBody>
      </p:sp>
      <p:sp>
        <p:nvSpPr>
          <p:cNvPr id="11" name="Shape 9"/>
          <p:cNvSpPr/>
          <p:nvPr/>
        </p:nvSpPr>
        <p:spPr>
          <a:xfrm>
            <a:off x="5623560" y="1673352"/>
            <a:ext cx="0" cy="658368"/>
          </a:xfrm>
          <a:prstGeom prst="line">
            <a:avLst/>
          </a:prstGeom>
          <a:noFill/>
          <a:ln w="12700">
            <a:solidFill>
              <a:srgbClr val="D5E0E1"/>
            </a:solidFill>
            <a:prstDash val="solid"/>
          </a:ln>
        </p:spPr>
      </p:sp>
      <p:sp>
        <p:nvSpPr>
          <p:cNvPr id="12" name="Text 10"/>
          <p:cNvSpPr/>
          <p:nvPr/>
        </p:nvSpPr>
        <p:spPr>
          <a:xfrm>
            <a:off x="5897880" y="1618488"/>
            <a:ext cx="5577840" cy="777240"/>
          </a:xfrm>
          <a:prstGeom prst="rect">
            <a:avLst/>
          </a:prstGeom>
          <a:noFill/>
          <a:ln/>
        </p:spPr>
        <p:txBody>
          <a:bodyPr wrap="square" lIns="0" tIns="0" rIns="0" bIns="0" rtlCol="0" anchor="ctr"/>
          <a:lstStyle/>
          <a:p>
            <a:pPr marL="0" indent="0">
              <a:lnSpc>
                <a:spcPts val="1500"/>
              </a:lnSpc>
              <a:buNone/>
            </a:pPr>
            <a:r>
              <a:rPr lang="en-US" sz="1100" dirty="0">
                <a:solidFill>
                  <a:srgbClr val="31474B"/>
                </a:solidFill>
                <a:latin typeface="Calibri" pitchFamily="34" charset="0"/>
                <a:ea typeface="Calibri" pitchFamily="34" charset="-122"/>
                <a:cs typeface="Calibri" pitchFamily="34" charset="-120"/>
              </a:rPr>
              <a:t>Screen-share of what runs. Blockers. Decisions needed in the next fortnight.</a:t>
            </a:r>
            <a:endParaRPr lang="en-US" sz="1100" dirty="0"/>
          </a:p>
        </p:txBody>
      </p:sp>
      <p:sp>
        <p:nvSpPr>
          <p:cNvPr id="13" name="Shape 11"/>
          <p:cNvSpPr/>
          <p:nvPr/>
        </p:nvSpPr>
        <p:spPr>
          <a:xfrm>
            <a:off x="548640" y="2633472"/>
            <a:ext cx="11064240" cy="987552"/>
          </a:xfrm>
          <a:prstGeom prst="roundRect">
            <a:avLst>
              <a:gd name="adj" fmla="val 7407"/>
            </a:avLst>
          </a:prstGeom>
          <a:solidFill>
            <a:srgbClr val="EEF4F4"/>
          </a:solidFill>
          <a:ln w="9525">
            <a:solidFill>
              <a:srgbClr val="EEF4F4"/>
            </a:solidFill>
            <a:prstDash val="solid"/>
          </a:ln>
          <a:effectLst>
            <a:outerShdw blurRad="101600" dist="25400" dir="5400000" algn="bl" rotWithShape="0">
              <a:srgbClr val="0A2B31">
                <a:alpha val="10000"/>
              </a:srgbClr>
            </a:outerShdw>
          </a:effectLst>
        </p:spPr>
      </p:sp>
      <p:sp>
        <p:nvSpPr>
          <p:cNvPr id="14" name="Shape 12"/>
          <p:cNvSpPr/>
          <p:nvPr/>
        </p:nvSpPr>
        <p:spPr>
          <a:xfrm>
            <a:off x="804672" y="2907792"/>
            <a:ext cx="438912" cy="438912"/>
          </a:xfrm>
          <a:prstGeom prst="ellipse">
            <a:avLst/>
          </a:prstGeom>
          <a:solidFill>
            <a:srgbClr val="1C7293"/>
          </a:solidFill>
          <a:ln w="12700">
            <a:solidFill>
              <a:srgbClr val="1C7293"/>
            </a:solidFill>
            <a:prstDash val="solid"/>
          </a:ln>
        </p:spPr>
      </p:sp>
      <p:sp>
        <p:nvSpPr>
          <p:cNvPr id="15" name="Text 13"/>
          <p:cNvSpPr/>
          <p:nvPr/>
        </p:nvSpPr>
        <p:spPr>
          <a:xfrm>
            <a:off x="1463040" y="2743200"/>
            <a:ext cx="3931920" cy="292608"/>
          </a:xfrm>
          <a:prstGeom prst="rect">
            <a:avLst/>
          </a:prstGeom>
          <a:noFill/>
          <a:ln/>
        </p:spPr>
        <p:txBody>
          <a:bodyPr wrap="square" lIns="0" tIns="0" rIns="0" bIns="0" rtlCol="0" anchor="ctr"/>
          <a:lstStyle/>
          <a:p>
            <a:pPr marL="0" indent="0">
              <a:buNone/>
            </a:pPr>
            <a:r>
              <a:rPr lang="en-US" sz="1400" b="1" dirty="0">
                <a:solidFill>
                  <a:srgbClr val="06474F"/>
                </a:solidFill>
                <a:latin typeface="Calibri" pitchFamily="34" charset="0"/>
                <a:ea typeface="Calibri" pitchFamily="34" charset="-122"/>
                <a:cs typeface="Calibri" pitchFamily="34" charset="-120"/>
              </a:rPr>
              <a:t>Phase gate review</a:t>
            </a:r>
            <a:endParaRPr lang="en-US" sz="1400" dirty="0"/>
          </a:p>
        </p:txBody>
      </p:sp>
      <p:sp>
        <p:nvSpPr>
          <p:cNvPr id="16" name="Text 14"/>
          <p:cNvSpPr/>
          <p:nvPr/>
        </p:nvSpPr>
        <p:spPr>
          <a:xfrm>
            <a:off x="1463040" y="3035808"/>
            <a:ext cx="3931920" cy="237744"/>
          </a:xfrm>
          <a:prstGeom prst="rect">
            <a:avLst/>
          </a:prstGeom>
          <a:noFill/>
          <a:ln/>
        </p:spPr>
        <p:txBody>
          <a:bodyPr wrap="square" lIns="0" tIns="0" rIns="0" bIns="0" rtlCol="0" anchor="ctr"/>
          <a:lstStyle/>
          <a:p>
            <a:pPr marL="0" indent="0">
              <a:buNone/>
            </a:pPr>
            <a:r>
              <a:rPr lang="en-US" sz="1100" b="1" dirty="0">
                <a:solidFill>
                  <a:srgbClr val="1C7293"/>
                </a:solidFill>
                <a:latin typeface="Calibri" pitchFamily="34" charset="0"/>
                <a:ea typeface="Calibri" pitchFamily="34" charset="-122"/>
                <a:cs typeface="Calibri" pitchFamily="34" charset="-120"/>
              </a:rPr>
              <a:t>60 min, at each milestone</a:t>
            </a:r>
            <a:endParaRPr lang="en-US" sz="1100" dirty="0"/>
          </a:p>
        </p:txBody>
      </p:sp>
      <p:sp>
        <p:nvSpPr>
          <p:cNvPr id="17" name="Text 15"/>
          <p:cNvSpPr/>
          <p:nvPr/>
        </p:nvSpPr>
        <p:spPr>
          <a:xfrm>
            <a:off x="1463040" y="3291840"/>
            <a:ext cx="3931920" cy="237744"/>
          </a:xfrm>
          <a:prstGeom prst="rect">
            <a:avLst/>
          </a:prstGeom>
          <a:noFill/>
          <a:ln/>
        </p:spPr>
        <p:txBody>
          <a:bodyPr wrap="square" lIns="0" tIns="0" rIns="0" bIns="0" rtlCol="0" anchor="ctr"/>
          <a:lstStyle/>
          <a:p>
            <a:pPr marL="0" indent="0">
              <a:buNone/>
            </a:pPr>
            <a:r>
              <a:rPr lang="en-US" sz="1000" i="1" dirty="0">
                <a:solidFill>
                  <a:srgbClr val="5C6E71"/>
                </a:solidFill>
                <a:latin typeface="Calibri" pitchFamily="34" charset="0"/>
                <a:ea typeface="Calibri" pitchFamily="34" charset="-122"/>
                <a:cs typeface="Calibri" pitchFamily="34" charset="-120"/>
              </a:rPr>
              <a:t>M1-M8  ·  8 sessions  ·  8 h</a:t>
            </a:r>
            <a:endParaRPr lang="en-US" sz="1000" dirty="0"/>
          </a:p>
        </p:txBody>
      </p:sp>
      <p:sp>
        <p:nvSpPr>
          <p:cNvPr id="18" name="Shape 16"/>
          <p:cNvSpPr/>
          <p:nvPr/>
        </p:nvSpPr>
        <p:spPr>
          <a:xfrm>
            <a:off x="5623560" y="2798064"/>
            <a:ext cx="0" cy="658368"/>
          </a:xfrm>
          <a:prstGeom prst="line">
            <a:avLst/>
          </a:prstGeom>
          <a:noFill/>
          <a:ln w="12700">
            <a:solidFill>
              <a:srgbClr val="D5E0E1"/>
            </a:solidFill>
            <a:prstDash val="solid"/>
          </a:ln>
        </p:spPr>
      </p:sp>
      <p:sp>
        <p:nvSpPr>
          <p:cNvPr id="19" name="Text 17"/>
          <p:cNvSpPr/>
          <p:nvPr/>
        </p:nvSpPr>
        <p:spPr>
          <a:xfrm>
            <a:off x="5897880" y="2743200"/>
            <a:ext cx="5577840" cy="777240"/>
          </a:xfrm>
          <a:prstGeom prst="rect">
            <a:avLst/>
          </a:prstGeom>
          <a:noFill/>
          <a:ln/>
        </p:spPr>
        <p:txBody>
          <a:bodyPr wrap="square" lIns="0" tIns="0" rIns="0" bIns="0" rtlCol="0" anchor="ctr"/>
          <a:lstStyle/>
          <a:p>
            <a:pPr marL="0" indent="0">
              <a:lnSpc>
                <a:spcPts val="1500"/>
              </a:lnSpc>
              <a:buNone/>
            </a:pPr>
            <a:r>
              <a:rPr lang="en-US" sz="1100" dirty="0">
                <a:solidFill>
                  <a:srgbClr val="31474B"/>
                </a:solidFill>
                <a:latin typeface="Calibri" pitchFamily="34" charset="0"/>
                <a:ea typeface="Calibri" pitchFamily="34" charset="-122"/>
                <a:cs typeface="Calibri" pitchFamily="34" charset="-120"/>
              </a:rPr>
              <a:t>Demo of the milestone against the requirement numbers it satisfies. Go / no-go for the next phase.</a:t>
            </a:r>
            <a:endParaRPr lang="en-US" sz="1100" dirty="0"/>
          </a:p>
        </p:txBody>
      </p:sp>
      <p:sp>
        <p:nvSpPr>
          <p:cNvPr id="20" name="Shape 18"/>
          <p:cNvSpPr/>
          <p:nvPr/>
        </p:nvSpPr>
        <p:spPr>
          <a:xfrm>
            <a:off x="548640" y="3758184"/>
            <a:ext cx="11064240" cy="987552"/>
          </a:xfrm>
          <a:prstGeom prst="roundRect">
            <a:avLst>
              <a:gd name="adj" fmla="val 7407"/>
            </a:avLst>
          </a:prstGeom>
          <a:solidFill>
            <a:srgbClr val="EEF4F4"/>
          </a:solidFill>
          <a:ln w="9525">
            <a:solidFill>
              <a:srgbClr val="EEF4F4"/>
            </a:solidFill>
            <a:prstDash val="solid"/>
          </a:ln>
          <a:effectLst>
            <a:outerShdw blurRad="101600" dist="25400" dir="5400000" algn="bl" rotWithShape="0">
              <a:srgbClr val="0A2B31">
                <a:alpha val="10000"/>
              </a:srgbClr>
            </a:outerShdw>
          </a:effectLst>
        </p:spPr>
      </p:sp>
      <p:sp>
        <p:nvSpPr>
          <p:cNvPr id="21" name="Shape 19"/>
          <p:cNvSpPr/>
          <p:nvPr/>
        </p:nvSpPr>
        <p:spPr>
          <a:xfrm>
            <a:off x="804672" y="4032504"/>
            <a:ext cx="438912" cy="438912"/>
          </a:xfrm>
          <a:prstGeom prst="ellipse">
            <a:avLst/>
          </a:prstGeom>
          <a:solidFill>
            <a:srgbClr val="E08A3C"/>
          </a:solidFill>
          <a:ln w="12700">
            <a:solidFill>
              <a:srgbClr val="E08A3C"/>
            </a:solidFill>
            <a:prstDash val="solid"/>
          </a:ln>
        </p:spPr>
      </p:sp>
      <p:sp>
        <p:nvSpPr>
          <p:cNvPr id="22" name="Text 20"/>
          <p:cNvSpPr/>
          <p:nvPr/>
        </p:nvSpPr>
        <p:spPr>
          <a:xfrm>
            <a:off x="1463040" y="3867912"/>
            <a:ext cx="3931920" cy="292608"/>
          </a:xfrm>
          <a:prstGeom prst="rect">
            <a:avLst/>
          </a:prstGeom>
          <a:noFill/>
          <a:ln/>
        </p:spPr>
        <p:txBody>
          <a:bodyPr wrap="square" lIns="0" tIns="0" rIns="0" bIns="0" rtlCol="0" anchor="ctr"/>
          <a:lstStyle/>
          <a:p>
            <a:pPr marL="0" indent="0">
              <a:buNone/>
            </a:pPr>
            <a:r>
              <a:rPr lang="en-US" sz="1400" b="1" dirty="0">
                <a:solidFill>
                  <a:srgbClr val="06474F"/>
                </a:solidFill>
                <a:latin typeface="Calibri" pitchFamily="34" charset="0"/>
                <a:ea typeface="Calibri" pitchFamily="34" charset="-122"/>
                <a:cs typeface="Calibri" pitchFamily="34" charset="-120"/>
              </a:rPr>
              <a:t>Content workshop</a:t>
            </a:r>
            <a:endParaRPr lang="en-US" sz="1400" dirty="0"/>
          </a:p>
        </p:txBody>
      </p:sp>
      <p:sp>
        <p:nvSpPr>
          <p:cNvPr id="23" name="Text 21"/>
          <p:cNvSpPr/>
          <p:nvPr/>
        </p:nvSpPr>
        <p:spPr>
          <a:xfrm>
            <a:off x="1463040" y="4160520"/>
            <a:ext cx="3931920" cy="237744"/>
          </a:xfrm>
          <a:prstGeom prst="rect">
            <a:avLst/>
          </a:prstGeom>
          <a:noFill/>
          <a:ln/>
        </p:spPr>
        <p:txBody>
          <a:bodyPr wrap="square" lIns="0" tIns="0" rIns="0" bIns="0" rtlCol="0" anchor="ctr"/>
          <a:lstStyle/>
          <a:p>
            <a:pPr marL="0" indent="0">
              <a:buNone/>
            </a:pPr>
            <a:r>
              <a:rPr lang="en-US" sz="1100" b="1" dirty="0">
                <a:solidFill>
                  <a:srgbClr val="E08A3C"/>
                </a:solidFill>
                <a:latin typeface="Calibri" pitchFamily="34" charset="0"/>
                <a:ea typeface="Calibri" pitchFamily="34" charset="-122"/>
                <a:cs typeface="Calibri" pitchFamily="34" charset="-120"/>
              </a:rPr>
              <a:t>90 min, weeks 11-12</a:t>
            </a:r>
            <a:endParaRPr lang="en-US" sz="1100" dirty="0"/>
          </a:p>
        </p:txBody>
      </p:sp>
      <p:sp>
        <p:nvSpPr>
          <p:cNvPr id="24" name="Text 22"/>
          <p:cNvSpPr/>
          <p:nvPr/>
        </p:nvSpPr>
        <p:spPr>
          <a:xfrm>
            <a:off x="1463040" y="4416552"/>
            <a:ext cx="3931920" cy="237744"/>
          </a:xfrm>
          <a:prstGeom prst="rect">
            <a:avLst/>
          </a:prstGeom>
          <a:noFill/>
          <a:ln/>
        </p:spPr>
        <p:txBody>
          <a:bodyPr wrap="square" lIns="0" tIns="0" rIns="0" bIns="0" rtlCol="0" anchor="ctr"/>
          <a:lstStyle/>
          <a:p>
            <a:pPr marL="0" indent="0">
              <a:buNone/>
            </a:pPr>
            <a:r>
              <a:rPr lang="en-US" sz="1000" i="1" dirty="0">
                <a:solidFill>
                  <a:srgbClr val="5C6E71"/>
                </a:solidFill>
                <a:latin typeface="Calibri" pitchFamily="34" charset="0"/>
                <a:ea typeface="Calibri" pitchFamily="34" charset="-122"/>
                <a:cs typeface="Calibri" pitchFamily="34" charset="-120"/>
              </a:rPr>
              <a:t>1 session  ·  1.5 h</a:t>
            </a:r>
            <a:endParaRPr lang="en-US" sz="1000" dirty="0"/>
          </a:p>
        </p:txBody>
      </p:sp>
      <p:sp>
        <p:nvSpPr>
          <p:cNvPr id="25" name="Shape 23"/>
          <p:cNvSpPr/>
          <p:nvPr/>
        </p:nvSpPr>
        <p:spPr>
          <a:xfrm>
            <a:off x="5623560" y="3922776"/>
            <a:ext cx="0" cy="658368"/>
          </a:xfrm>
          <a:prstGeom prst="line">
            <a:avLst/>
          </a:prstGeom>
          <a:noFill/>
          <a:ln w="12700">
            <a:solidFill>
              <a:srgbClr val="D5E0E1"/>
            </a:solidFill>
            <a:prstDash val="solid"/>
          </a:ln>
        </p:spPr>
      </p:sp>
      <p:sp>
        <p:nvSpPr>
          <p:cNvPr id="26" name="Text 24"/>
          <p:cNvSpPr/>
          <p:nvPr/>
        </p:nvSpPr>
        <p:spPr>
          <a:xfrm>
            <a:off x="5897880" y="3867912"/>
            <a:ext cx="5577840" cy="777240"/>
          </a:xfrm>
          <a:prstGeom prst="rect">
            <a:avLst/>
          </a:prstGeom>
          <a:noFill/>
          <a:ln/>
        </p:spPr>
        <p:txBody>
          <a:bodyPr wrap="square" lIns="0" tIns="0" rIns="0" bIns="0" rtlCol="0" anchor="ctr"/>
          <a:lstStyle/>
          <a:p>
            <a:pPr marL="0" indent="0">
              <a:lnSpc>
                <a:spcPts val="1500"/>
              </a:lnSpc>
              <a:buNone/>
            </a:pPr>
            <a:r>
              <a:rPr lang="en-US" sz="1100" dirty="0">
                <a:solidFill>
                  <a:srgbClr val="31474B"/>
                </a:solidFill>
                <a:latin typeface="Calibri" pitchFamily="34" charset="0"/>
                <a:ea typeface="Calibri" pitchFamily="34" charset="-122"/>
                <a:cs typeface="Calibri" pitchFamily="34" charset="-120"/>
              </a:rPr>
              <a:t>With whoever authored the CSVs. I walk through the column mapping for all eleven task types before I write the parser.</a:t>
            </a:r>
            <a:endParaRPr lang="en-US" sz="1100" dirty="0"/>
          </a:p>
        </p:txBody>
      </p:sp>
      <p:sp>
        <p:nvSpPr>
          <p:cNvPr id="27" name="Shape 25"/>
          <p:cNvSpPr/>
          <p:nvPr/>
        </p:nvSpPr>
        <p:spPr>
          <a:xfrm>
            <a:off x="548640" y="4882896"/>
            <a:ext cx="11064240" cy="987552"/>
          </a:xfrm>
          <a:prstGeom prst="roundRect">
            <a:avLst>
              <a:gd name="adj" fmla="val 7407"/>
            </a:avLst>
          </a:prstGeom>
          <a:solidFill>
            <a:srgbClr val="EEF4F4"/>
          </a:solidFill>
          <a:ln w="9525">
            <a:solidFill>
              <a:srgbClr val="EEF4F4"/>
            </a:solidFill>
            <a:prstDash val="solid"/>
          </a:ln>
          <a:effectLst>
            <a:outerShdw blurRad="101600" dist="25400" dir="5400000" algn="bl" rotWithShape="0">
              <a:srgbClr val="0A2B31">
                <a:alpha val="10000"/>
              </a:srgbClr>
            </a:outerShdw>
          </a:effectLst>
        </p:spPr>
      </p:sp>
      <p:sp>
        <p:nvSpPr>
          <p:cNvPr id="28" name="Shape 26"/>
          <p:cNvSpPr/>
          <p:nvPr/>
        </p:nvSpPr>
        <p:spPr>
          <a:xfrm>
            <a:off x="804672" y="5157216"/>
            <a:ext cx="438912" cy="438912"/>
          </a:xfrm>
          <a:prstGeom prst="ellipse">
            <a:avLst/>
          </a:prstGeom>
          <a:solidFill>
            <a:srgbClr val="B4453C"/>
          </a:solidFill>
          <a:ln w="12700">
            <a:solidFill>
              <a:srgbClr val="B4453C"/>
            </a:solidFill>
            <a:prstDash val="solid"/>
          </a:ln>
        </p:spPr>
      </p:sp>
      <p:sp>
        <p:nvSpPr>
          <p:cNvPr id="29" name="Text 27"/>
          <p:cNvSpPr/>
          <p:nvPr/>
        </p:nvSpPr>
        <p:spPr>
          <a:xfrm>
            <a:off x="1463040" y="4992624"/>
            <a:ext cx="3931920" cy="292608"/>
          </a:xfrm>
          <a:prstGeom prst="rect">
            <a:avLst/>
          </a:prstGeom>
          <a:noFill/>
          <a:ln/>
        </p:spPr>
        <p:txBody>
          <a:bodyPr wrap="square" lIns="0" tIns="0" rIns="0" bIns="0" rtlCol="0" anchor="ctr"/>
          <a:lstStyle/>
          <a:p>
            <a:pPr marL="0" indent="0">
              <a:buNone/>
            </a:pPr>
            <a:r>
              <a:rPr lang="en-US" sz="1400" b="1" dirty="0">
                <a:solidFill>
                  <a:srgbClr val="06474F"/>
                </a:solidFill>
                <a:latin typeface="Calibri" pitchFamily="34" charset="0"/>
                <a:ea typeface="Calibri" pitchFamily="34" charset="-122"/>
                <a:cs typeface="Calibri" pitchFamily="34" charset="-120"/>
              </a:rPr>
              <a:t>Acceptance walkthrough</a:t>
            </a:r>
            <a:endParaRPr lang="en-US" sz="1400" dirty="0"/>
          </a:p>
        </p:txBody>
      </p:sp>
      <p:sp>
        <p:nvSpPr>
          <p:cNvPr id="30" name="Text 28"/>
          <p:cNvSpPr/>
          <p:nvPr/>
        </p:nvSpPr>
        <p:spPr>
          <a:xfrm>
            <a:off x="1463040" y="5285232"/>
            <a:ext cx="3931920" cy="237744"/>
          </a:xfrm>
          <a:prstGeom prst="rect">
            <a:avLst/>
          </a:prstGeom>
          <a:noFill/>
          <a:ln/>
        </p:spPr>
        <p:txBody>
          <a:bodyPr wrap="square" lIns="0" tIns="0" rIns="0" bIns="0" rtlCol="0" anchor="ctr"/>
          <a:lstStyle/>
          <a:p>
            <a:pPr marL="0" indent="0">
              <a:buNone/>
            </a:pPr>
            <a:r>
              <a:rPr lang="en-US" sz="1100" b="1" dirty="0">
                <a:solidFill>
                  <a:srgbClr val="B4453C"/>
                </a:solidFill>
                <a:latin typeface="Calibri" pitchFamily="34" charset="0"/>
                <a:ea typeface="Calibri" pitchFamily="34" charset="-122"/>
                <a:cs typeface="Calibri" pitchFamily="34" charset="-120"/>
              </a:rPr>
              <a:t>Half day, week 60</a:t>
            </a:r>
            <a:endParaRPr lang="en-US" sz="1100" dirty="0"/>
          </a:p>
        </p:txBody>
      </p:sp>
      <p:sp>
        <p:nvSpPr>
          <p:cNvPr id="31" name="Text 29"/>
          <p:cNvSpPr/>
          <p:nvPr/>
        </p:nvSpPr>
        <p:spPr>
          <a:xfrm>
            <a:off x="1463040" y="5541264"/>
            <a:ext cx="3931920" cy="237744"/>
          </a:xfrm>
          <a:prstGeom prst="rect">
            <a:avLst/>
          </a:prstGeom>
          <a:noFill/>
          <a:ln/>
        </p:spPr>
        <p:txBody>
          <a:bodyPr wrap="square" lIns="0" tIns="0" rIns="0" bIns="0" rtlCol="0" anchor="ctr"/>
          <a:lstStyle/>
          <a:p>
            <a:pPr marL="0" indent="0">
              <a:buNone/>
            </a:pPr>
            <a:r>
              <a:rPr lang="en-US" sz="1000" i="1" dirty="0">
                <a:solidFill>
                  <a:srgbClr val="5C6E71"/>
                </a:solidFill>
                <a:latin typeface="Calibri" pitchFamily="34" charset="0"/>
                <a:ea typeface="Calibri" pitchFamily="34" charset="-122"/>
                <a:cs typeface="Calibri" pitchFamily="34" charset="-120"/>
              </a:rPr>
              <a:t>1 session  ·  4 h (from buffer)</a:t>
            </a:r>
            <a:endParaRPr lang="en-US" sz="1000" dirty="0"/>
          </a:p>
        </p:txBody>
      </p:sp>
      <p:sp>
        <p:nvSpPr>
          <p:cNvPr id="32" name="Shape 30"/>
          <p:cNvSpPr/>
          <p:nvPr/>
        </p:nvSpPr>
        <p:spPr>
          <a:xfrm>
            <a:off x="5623560" y="5047488"/>
            <a:ext cx="0" cy="658368"/>
          </a:xfrm>
          <a:prstGeom prst="line">
            <a:avLst/>
          </a:prstGeom>
          <a:noFill/>
          <a:ln w="12700">
            <a:solidFill>
              <a:srgbClr val="D5E0E1"/>
            </a:solidFill>
            <a:prstDash val="solid"/>
          </a:ln>
        </p:spPr>
      </p:sp>
      <p:sp>
        <p:nvSpPr>
          <p:cNvPr id="33" name="Text 31"/>
          <p:cNvSpPr/>
          <p:nvPr/>
        </p:nvSpPr>
        <p:spPr>
          <a:xfrm>
            <a:off x="5897880" y="4992624"/>
            <a:ext cx="5577840" cy="777240"/>
          </a:xfrm>
          <a:prstGeom prst="rect">
            <a:avLst/>
          </a:prstGeom>
          <a:noFill/>
          <a:ln/>
        </p:spPr>
        <p:txBody>
          <a:bodyPr wrap="square" lIns="0" tIns="0" rIns="0" bIns="0" rtlCol="0" anchor="ctr"/>
          <a:lstStyle/>
          <a:p>
            <a:pPr marL="0" indent="0">
              <a:lnSpc>
                <a:spcPts val="1500"/>
              </a:lnSpc>
              <a:buNone/>
            </a:pPr>
            <a:r>
              <a:rPr lang="en-US" sz="1100" dirty="0">
                <a:solidFill>
                  <a:srgbClr val="31474B"/>
                </a:solidFill>
                <a:latin typeface="Calibri" pitchFamily="34" charset="0"/>
                <a:ea typeface="Calibri" pitchFamily="34" charset="-122"/>
                <a:cs typeface="Calibri" pitchFamily="34" charset="-120"/>
              </a:rPr>
              <a:t>R01 to R39 demonstrated one by one against the traceability matrix. Signed off, or not.</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6474F"/>
        </a:solidFill>
        <a:effectLst/>
      </p:bgPr>
    </p:bg>
    <p:spTree>
      <p:nvGrpSpPr>
        <p:cNvPr id="1" name=""/>
        <p:cNvGrpSpPr/>
        <p:nvPr/>
      </p:nvGrpSpPr>
      <p:grpSpPr>
        <a:xfrm>
          <a:off x="0" y="0"/>
          <a:ext cx="0" cy="0"/>
          <a:chOff x="0" y="0"/>
          <a:chExt cx="0" cy="0"/>
        </a:xfrm>
      </p:grpSpPr>
      <p:sp>
        <p:nvSpPr>
          <p:cNvPr id="2" name="Shape 0"/>
          <p:cNvSpPr/>
          <p:nvPr/>
        </p:nvSpPr>
        <p:spPr>
          <a:xfrm>
            <a:off x="9509760" y="3566160"/>
            <a:ext cx="5029200" cy="5029200"/>
          </a:xfrm>
          <a:prstGeom prst="ellipse">
            <a:avLst/>
          </a:prstGeom>
          <a:solidFill>
            <a:srgbClr val="0A5A63"/>
          </a:solidFill>
          <a:ln w="12700">
            <a:solidFill>
              <a:srgbClr val="0A5A63"/>
            </a:solidFill>
            <a:prstDash val="solid"/>
          </a:ln>
        </p:spPr>
      </p:sp>
      <p:sp>
        <p:nvSpPr>
          <p:cNvPr id="3" name="Text 1"/>
          <p:cNvSpPr/>
          <p:nvPr/>
        </p:nvSpPr>
        <p:spPr>
          <a:xfrm>
            <a:off x="548640" y="2011680"/>
            <a:ext cx="7315200" cy="365760"/>
          </a:xfrm>
          <a:prstGeom prst="rect">
            <a:avLst/>
          </a:prstGeom>
          <a:noFill/>
          <a:ln/>
        </p:spPr>
        <p:txBody>
          <a:bodyPr wrap="square" lIns="0" tIns="0" rIns="0" bIns="0" rtlCol="0" anchor="ctr"/>
          <a:lstStyle/>
          <a:p>
            <a:pPr marL="0" indent="0">
              <a:buNone/>
            </a:pPr>
            <a:r>
              <a:rPr lang="en-US" sz="1500" b="1" kern="0" spc="200" dirty="0">
                <a:solidFill>
                  <a:srgbClr val="E08A3C"/>
                </a:solidFill>
                <a:latin typeface="Calibri" pitchFamily="34" charset="0"/>
                <a:ea typeface="Calibri" pitchFamily="34" charset="-122"/>
                <a:cs typeface="Calibri" pitchFamily="34" charset="-120"/>
              </a:rPr>
              <a:t>Question 4</a:t>
            </a:r>
            <a:endParaRPr lang="en-US" sz="1500" dirty="0"/>
          </a:p>
        </p:txBody>
      </p:sp>
      <p:sp>
        <p:nvSpPr>
          <p:cNvPr id="4" name="Text 2"/>
          <p:cNvSpPr/>
          <p:nvPr/>
        </p:nvSpPr>
        <p:spPr>
          <a:xfrm>
            <a:off x="548640" y="2468880"/>
            <a:ext cx="8686800" cy="1463040"/>
          </a:xfrm>
          <a:prstGeom prst="rect">
            <a:avLst/>
          </a:prstGeom>
          <a:noFill/>
          <a:ln/>
        </p:spPr>
        <p:txBody>
          <a:bodyPr wrap="square" lIns="0" tIns="0" rIns="0" bIns="0" rtlCol="0" anchor="ctr"/>
          <a:lstStyle/>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Can we record</a:t>
            </a:r>
            <a:endParaRPr lang="en-US" sz="4000" dirty="0"/>
          </a:p>
          <a:p>
            <a:pPr marL="0" indent="0">
              <a:lnSpc>
                <a:spcPts val="4600"/>
              </a:lnSpc>
              <a:buNone/>
            </a:pPr>
            <a:r>
              <a:rPr lang="en-US" sz="4000" b="1" dirty="0">
                <a:solidFill>
                  <a:srgbClr val="FFFFFF"/>
                </a:solidFill>
                <a:latin typeface="Cambria" pitchFamily="34" charset="0"/>
                <a:ea typeface="Cambria" pitchFamily="34" charset="-122"/>
                <a:cs typeface="Cambria" pitchFamily="34" charset="-120"/>
              </a:rPr>
              <a:t>the children speaking?</a:t>
            </a:r>
            <a:endParaRPr lang="en-US" sz="4000" dirty="0"/>
          </a:p>
        </p:txBody>
      </p:sp>
      <p:sp>
        <p:nvSpPr>
          <p:cNvPr id="5" name="Text 3"/>
          <p:cNvSpPr/>
          <p:nvPr/>
        </p:nvSpPr>
        <p:spPr>
          <a:xfrm>
            <a:off x="548640" y="4160520"/>
            <a:ext cx="8686800" cy="731520"/>
          </a:xfrm>
          <a:prstGeom prst="rect">
            <a:avLst/>
          </a:prstGeom>
          <a:noFill/>
          <a:ln/>
        </p:spPr>
        <p:txBody>
          <a:bodyPr wrap="square" lIns="0" tIns="0" rIns="0" bIns="0" rtlCol="0" anchor="ctr"/>
          <a:lstStyle/>
          <a:p>
            <a:pPr marL="0" indent="0">
              <a:lnSpc>
                <a:spcPts val="2100"/>
              </a:lnSpc>
              <a:buNone/>
            </a:pPr>
            <a:r>
              <a:rPr lang="en-US" sz="1500" i="1" dirty="0">
                <a:solidFill>
                  <a:srgbClr val="9EC6C7"/>
                </a:solidFill>
                <a:latin typeface="Calibri" pitchFamily="34" charset="0"/>
                <a:ea typeface="Calibri" pitchFamily="34" charset="-122"/>
                <a:cs typeface="Calibri" pitchFamily="34" charset="-120"/>
              </a:rPr>
              <a:t>Short answer: the code is about 26 hours. The consent, the DPIA and the retention policy are the actual project - and they are yours, not mine.</a:t>
            </a:r>
            <a:endParaRPr lang="en-US" sz="1500" dirty="0"/>
          </a:p>
        </p:txBody>
      </p:sp>
      <p:sp>
        <p:nvSpPr>
          <p:cNvPr id="6" name="Text 4"/>
          <p:cNvSpPr/>
          <p:nvPr/>
        </p:nvSpPr>
        <p:spPr>
          <a:xfrm>
            <a:off x="548640" y="5029200"/>
            <a:ext cx="8686800" cy="274320"/>
          </a:xfrm>
          <a:prstGeom prst="rect">
            <a:avLst/>
          </a:prstGeom>
          <a:noFill/>
          <a:ln/>
        </p:spPr>
        <p:txBody>
          <a:bodyPr wrap="square" lIns="0" tIns="0" rIns="0" bIns="0" rtlCol="0" anchor="ctr"/>
          <a:lstStyle/>
          <a:p>
            <a:pPr marL="0" indent="0">
              <a:buNone/>
            </a:pPr>
            <a:r>
              <a:rPr lang="en-US" sz="1100" dirty="0">
                <a:solidFill>
                  <a:srgbClr val="6E9799"/>
                </a:solidFill>
                <a:latin typeface="Calibri" pitchFamily="34" charset="0"/>
                <a:ea typeface="Calibri" pitchFamily="34" charset="-122"/>
                <a:cs typeface="Calibri" pitchFamily="34" charset="-120"/>
              </a:rPr>
              <a:t>SRS R47 (Can)  ·  NFR07  ·  NFR02 (data minimisation)  ·  NFR03 (erasure)</a:t>
            </a:r>
            <a:endParaRPr lang="en-US" sz="1100" dirty="0"/>
          </a:p>
        </p:txBody>
      </p:sp>
      <p:sp>
        <p:nvSpPr>
          <p:cNvPr id="7" name="Text 5"/>
          <p:cNvSpPr/>
          <p:nvPr/>
        </p:nvSpPr>
        <p:spPr>
          <a:xfrm>
            <a:off x="548640" y="6473952"/>
            <a:ext cx="5486400" cy="237744"/>
          </a:xfrm>
          <a:prstGeom prst="rect">
            <a:avLst/>
          </a:prstGeom>
          <a:noFill/>
          <a:ln/>
        </p:spPr>
        <p:txBody>
          <a:bodyPr wrap="square" lIns="0" tIns="0" rIns="0" bIns="0" rtlCol="0" anchor="ctr"/>
          <a:lstStyle/>
          <a:p>
            <a:pPr marL="0" indent="0">
              <a:buNone/>
            </a:pPr>
            <a:r>
              <a:rPr lang="en-US" sz="900" dirty="0">
                <a:solidFill>
                  <a:srgbClr val="B9C4C6"/>
                </a:solidFill>
                <a:latin typeface="Calibri" pitchFamily="34" charset="0"/>
                <a:ea typeface="Calibri" pitchFamily="34" charset="-122"/>
                <a:cs typeface="Calibri" pitchFamily="34" charset="-120"/>
              </a:rPr>
              <a:t>SPEAK  |  Status &amp; Delivery Plan  |  12 July 2026</a:t>
            </a:r>
            <a:endParaRPr lang="en-US" sz="900" dirty="0"/>
          </a:p>
        </p:txBody>
      </p:sp>
      <p:sp>
        <p:nvSpPr>
          <p:cNvPr id="8" name="Text 6"/>
          <p:cNvSpPr/>
          <p:nvPr/>
        </p:nvSpPr>
        <p:spPr>
          <a:xfrm>
            <a:off x="11064240" y="6473952"/>
            <a:ext cx="548640" cy="237744"/>
          </a:xfrm>
          <a:prstGeom prst="rect">
            <a:avLst/>
          </a:prstGeom>
          <a:noFill/>
          <a:ln/>
        </p:spPr>
        <p:txBody>
          <a:bodyPr wrap="square" lIns="0" tIns="0" rIns="0" bIns="0" rtlCol="0" anchor="ctr"/>
          <a:lstStyle/>
          <a:p>
            <a:pPr marL="0" indent="0" algn="r">
              <a:buNone/>
            </a:pPr>
            <a:r>
              <a:rPr lang="en-US" sz="900" dirty="0">
                <a:solidFill>
                  <a:srgbClr val="B9C4C6"/>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200" b="1" dirty="0">
                <a:solidFill>
                  <a:srgbClr val="06474F"/>
                </a:solidFill>
                <a:latin typeface="Cambria" pitchFamily="34" charset="0"/>
                <a:ea typeface="Cambria" pitchFamily="34" charset="-122"/>
                <a:cs typeface="Cambria" pitchFamily="34" charset="-120"/>
              </a:rPr>
              <a:t>Recording: the technical side is the easy side</a:t>
            </a:r>
            <a:endParaRPr lang="en-US" sz="3200" dirty="0"/>
          </a:p>
        </p:txBody>
      </p:sp>
      <p:sp>
        <p:nvSpPr>
          <p:cNvPr id="3" name="Text 1"/>
          <p:cNvSpPr/>
          <p:nvPr/>
        </p:nvSpPr>
        <p:spPr>
          <a:xfrm>
            <a:off x="548640" y="941832"/>
            <a:ext cx="11064240" cy="310896"/>
          </a:xfrm>
          <a:prstGeom prst="rect">
            <a:avLst/>
          </a:prstGeom>
          <a:noFill/>
          <a:ln/>
        </p:spPr>
        <p:txBody>
          <a:bodyPr wrap="square" lIns="0" tIns="0" rIns="0" bIns="0" rtlCol="0" anchor="ctr"/>
          <a:lstStyle/>
          <a:p>
            <a:pPr marL="0" indent="0">
              <a:buNone/>
            </a:pPr>
            <a:r>
              <a:rPr lang="en-US" sz="1400" i="1" dirty="0">
                <a:solidFill>
                  <a:srgbClr val="5C6E71"/>
                </a:solidFill>
                <a:latin typeface="Calibri" pitchFamily="34" charset="0"/>
                <a:ea typeface="Calibri" pitchFamily="34" charset="-122"/>
                <a:cs typeface="Calibri" pitchFamily="34" charset="-120"/>
              </a:rPr>
              <a:t>Everything below is standard browser capability and is already provided for in the design</a:t>
            </a:r>
            <a:endParaRPr lang="en-US" sz="1400" dirty="0"/>
          </a:p>
        </p:txBody>
      </p:sp>
      <p:sp>
        <p:nvSpPr>
          <p:cNvPr id="4" name="Text 2"/>
          <p:cNvSpPr/>
          <p:nvPr/>
        </p:nvSpPr>
        <p:spPr>
          <a:xfrm>
            <a:off x="548640" y="6473952"/>
            <a:ext cx="5486400" cy="237744"/>
          </a:xfrm>
          <a:prstGeom prst="rect">
            <a:avLst/>
          </a:prstGeom>
          <a:noFill/>
          <a:ln/>
        </p:spPr>
        <p:txBody>
          <a:bodyPr wrap="square" lIns="0" tIns="0" rIns="0" bIns="0" rtlCol="0" anchor="ctr"/>
          <a:lstStyle/>
          <a:p>
            <a:pPr marL="0" indent="0">
              <a:buNone/>
            </a:pPr>
            <a:r>
              <a:rPr lang="en-US" sz="900" dirty="0">
                <a:solidFill>
                  <a:srgbClr val="B9C4C6"/>
                </a:solidFill>
                <a:latin typeface="Calibri" pitchFamily="34" charset="0"/>
                <a:ea typeface="Calibri" pitchFamily="34" charset="-122"/>
                <a:cs typeface="Calibri" pitchFamily="34" charset="-120"/>
              </a:rPr>
              <a:t>SPEAK  |  Status &amp; Delivery Plan  |  12 July 2026</a:t>
            </a:r>
            <a:endParaRPr lang="en-US" sz="900" dirty="0"/>
          </a:p>
        </p:txBody>
      </p:sp>
      <p:sp>
        <p:nvSpPr>
          <p:cNvPr id="5" name="Text 3"/>
          <p:cNvSpPr/>
          <p:nvPr/>
        </p:nvSpPr>
        <p:spPr>
          <a:xfrm>
            <a:off x="11064240" y="6473952"/>
            <a:ext cx="548640" cy="237744"/>
          </a:xfrm>
          <a:prstGeom prst="rect">
            <a:avLst/>
          </a:prstGeom>
          <a:noFill/>
          <a:ln/>
        </p:spPr>
        <p:txBody>
          <a:bodyPr wrap="square" lIns="0" tIns="0" rIns="0" bIns="0" rtlCol="0" anchor="ctr"/>
          <a:lstStyle/>
          <a:p>
            <a:pPr marL="0" indent="0" algn="r">
              <a:buNone/>
            </a:pPr>
            <a:r>
              <a:rPr lang="en-US" sz="900" dirty="0">
                <a:solidFill>
                  <a:srgbClr val="B9C4C6"/>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548640" y="1481328"/>
            <a:ext cx="11064240" cy="1024128"/>
          </a:xfrm>
          <a:prstGeom prst="roundRect">
            <a:avLst>
              <a:gd name="adj" fmla="val 7143"/>
            </a:avLst>
          </a:prstGeom>
          <a:solidFill>
            <a:srgbClr val="EEF4F4"/>
          </a:solidFill>
          <a:ln w="9525">
            <a:solidFill>
              <a:srgbClr val="EEF4F4"/>
            </a:solidFill>
            <a:prstDash val="solid"/>
          </a:ln>
          <a:effectLst>
            <a:outerShdw blurRad="101600" dist="25400" dir="5400000" algn="bl" rotWithShape="0">
              <a:srgbClr val="0A2B31">
                <a:alpha val="10000"/>
              </a:srgbClr>
            </a:outerShdw>
          </a:effectLst>
        </p:spPr>
      </p:sp>
      <p:sp>
        <p:nvSpPr>
          <p:cNvPr id="7" name="Text 5"/>
          <p:cNvSpPr/>
          <p:nvPr/>
        </p:nvSpPr>
        <p:spPr>
          <a:xfrm>
            <a:off x="804672" y="1627632"/>
            <a:ext cx="3017520" cy="310896"/>
          </a:xfrm>
          <a:prstGeom prst="rect">
            <a:avLst/>
          </a:prstGeom>
          <a:noFill/>
          <a:ln/>
        </p:spPr>
        <p:txBody>
          <a:bodyPr wrap="square" lIns="0" tIns="0" rIns="0" bIns="0" rtlCol="0" anchor="ctr"/>
          <a:lstStyle/>
          <a:p>
            <a:pPr marL="0" indent="0">
              <a:buNone/>
            </a:pPr>
            <a:r>
              <a:rPr lang="en-US" sz="1400" b="1" dirty="0">
                <a:solidFill>
                  <a:srgbClr val="06474F"/>
                </a:solidFill>
                <a:latin typeface="Calibri" pitchFamily="34" charset="0"/>
                <a:ea typeface="Calibri" pitchFamily="34" charset="-122"/>
                <a:cs typeface="Calibri" pitchFamily="34" charset="-120"/>
              </a:rPr>
              <a:t>Capture in the browser</a:t>
            </a:r>
            <a:endParaRPr lang="en-US" sz="1400" dirty="0"/>
          </a:p>
        </p:txBody>
      </p:sp>
      <p:sp>
        <p:nvSpPr>
          <p:cNvPr id="8" name="Shape 6"/>
          <p:cNvSpPr/>
          <p:nvPr/>
        </p:nvSpPr>
        <p:spPr>
          <a:xfrm>
            <a:off x="804672" y="2011680"/>
            <a:ext cx="1234440" cy="256032"/>
          </a:xfrm>
          <a:prstGeom prst="roundRect">
            <a:avLst>
              <a:gd name="adj" fmla="val 17857"/>
            </a:avLst>
          </a:prstGeom>
          <a:solidFill>
            <a:srgbClr val="3E8E5A"/>
          </a:solidFill>
          <a:ln w="12700">
            <a:solidFill>
              <a:srgbClr val="3E8E5A"/>
            </a:solidFill>
            <a:prstDash val="solid"/>
          </a:ln>
        </p:spPr>
      </p:sp>
      <p:sp>
        <p:nvSpPr>
          <p:cNvPr id="9" name="Text 7"/>
          <p:cNvSpPr/>
          <p:nvPr/>
        </p:nvSpPr>
        <p:spPr>
          <a:xfrm>
            <a:off x="804672" y="2011680"/>
            <a:ext cx="12344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FEASIBLE</a:t>
            </a:r>
            <a:endParaRPr lang="en-US" sz="900" dirty="0"/>
          </a:p>
        </p:txBody>
      </p:sp>
      <p:sp>
        <p:nvSpPr>
          <p:cNvPr id="10" name="Shape 8"/>
          <p:cNvSpPr/>
          <p:nvPr/>
        </p:nvSpPr>
        <p:spPr>
          <a:xfrm>
            <a:off x="4069080" y="1664208"/>
            <a:ext cx="0" cy="658368"/>
          </a:xfrm>
          <a:prstGeom prst="line">
            <a:avLst/>
          </a:prstGeom>
          <a:noFill/>
          <a:ln w="12700">
            <a:solidFill>
              <a:srgbClr val="D5E0E1"/>
            </a:solidFill>
            <a:prstDash val="solid"/>
          </a:ln>
        </p:spPr>
      </p:sp>
      <p:sp>
        <p:nvSpPr>
          <p:cNvPr id="11" name="Text 9"/>
          <p:cNvSpPr/>
          <p:nvPr/>
        </p:nvSpPr>
        <p:spPr>
          <a:xfrm>
            <a:off x="4343400" y="1609344"/>
            <a:ext cx="7178040" cy="804672"/>
          </a:xfrm>
          <a:prstGeom prst="rect">
            <a:avLst/>
          </a:prstGeom>
          <a:noFill/>
          <a:ln/>
        </p:spPr>
        <p:txBody>
          <a:bodyPr wrap="square" lIns="0" tIns="0" rIns="0" bIns="0" rtlCol="0" anchor="ctr"/>
          <a:lstStyle/>
          <a:p>
            <a:pPr marL="0" indent="0">
              <a:lnSpc>
                <a:spcPts val="1400"/>
              </a:lnSpc>
              <a:buNone/>
            </a:pPr>
            <a:r>
              <a:rPr lang="en-US" sz="1100" dirty="0">
                <a:solidFill>
                  <a:srgbClr val="31474B"/>
                </a:solidFill>
                <a:latin typeface="Calibri" pitchFamily="34" charset="0"/>
                <a:ea typeface="Calibri" pitchFamily="34" charset="-122"/>
                <a:cs typeface="Calibri" pitchFamily="34" charset="-120"/>
              </a:rPr>
              <a:t>The MediaRecorder and getUserMedia APIs work in Chrome, Edge, Firefox and Safari 14.1+, which covers the iPad. HTTPS is required - we have it (NFR06). The browser shows an explicit microphone prompt; a child cannot be recorded silently.</a:t>
            </a:r>
            <a:endParaRPr lang="en-US" sz="1100" dirty="0"/>
          </a:p>
        </p:txBody>
      </p:sp>
      <p:sp>
        <p:nvSpPr>
          <p:cNvPr id="12" name="Shape 10"/>
          <p:cNvSpPr/>
          <p:nvPr/>
        </p:nvSpPr>
        <p:spPr>
          <a:xfrm>
            <a:off x="548640" y="2651760"/>
            <a:ext cx="11064240" cy="1024128"/>
          </a:xfrm>
          <a:prstGeom prst="roundRect">
            <a:avLst>
              <a:gd name="adj" fmla="val 7143"/>
            </a:avLst>
          </a:prstGeom>
          <a:solidFill>
            <a:srgbClr val="EEF4F4"/>
          </a:solidFill>
          <a:ln w="9525">
            <a:solidFill>
              <a:srgbClr val="EEF4F4"/>
            </a:solidFill>
            <a:prstDash val="solid"/>
          </a:ln>
          <a:effectLst>
            <a:outerShdw blurRad="101600" dist="25400" dir="5400000" algn="bl" rotWithShape="0">
              <a:srgbClr val="0A2B31">
                <a:alpha val="10000"/>
              </a:srgbClr>
            </a:outerShdw>
          </a:effectLst>
        </p:spPr>
      </p:sp>
      <p:sp>
        <p:nvSpPr>
          <p:cNvPr id="13" name="Text 11"/>
          <p:cNvSpPr/>
          <p:nvPr/>
        </p:nvSpPr>
        <p:spPr>
          <a:xfrm>
            <a:off x="804672" y="2798064"/>
            <a:ext cx="3017520" cy="310896"/>
          </a:xfrm>
          <a:prstGeom prst="rect">
            <a:avLst/>
          </a:prstGeom>
          <a:noFill/>
          <a:ln/>
        </p:spPr>
        <p:txBody>
          <a:bodyPr wrap="square" lIns="0" tIns="0" rIns="0" bIns="0" rtlCol="0" anchor="ctr"/>
          <a:lstStyle/>
          <a:p>
            <a:pPr marL="0" indent="0">
              <a:buNone/>
            </a:pPr>
            <a:r>
              <a:rPr lang="en-US" sz="1400" b="1" dirty="0">
                <a:solidFill>
                  <a:srgbClr val="06474F"/>
                </a:solidFill>
                <a:latin typeface="Calibri" pitchFamily="34" charset="0"/>
                <a:ea typeface="Calibri" pitchFamily="34" charset="-122"/>
                <a:cs typeface="Calibri" pitchFamily="34" charset="-120"/>
              </a:rPr>
              <a:t>Storage, encryption, deletion</a:t>
            </a:r>
            <a:endParaRPr lang="en-US" sz="1400" dirty="0"/>
          </a:p>
        </p:txBody>
      </p:sp>
      <p:sp>
        <p:nvSpPr>
          <p:cNvPr id="14" name="Shape 12"/>
          <p:cNvSpPr/>
          <p:nvPr/>
        </p:nvSpPr>
        <p:spPr>
          <a:xfrm>
            <a:off x="804672" y="3182112"/>
            <a:ext cx="1234440" cy="256032"/>
          </a:xfrm>
          <a:prstGeom prst="roundRect">
            <a:avLst>
              <a:gd name="adj" fmla="val 17857"/>
            </a:avLst>
          </a:prstGeom>
          <a:solidFill>
            <a:srgbClr val="3E8E5A"/>
          </a:solidFill>
          <a:ln w="12700">
            <a:solidFill>
              <a:srgbClr val="3E8E5A"/>
            </a:solidFill>
            <a:prstDash val="solid"/>
          </a:ln>
        </p:spPr>
      </p:sp>
      <p:sp>
        <p:nvSpPr>
          <p:cNvPr id="15" name="Text 13"/>
          <p:cNvSpPr/>
          <p:nvPr/>
        </p:nvSpPr>
        <p:spPr>
          <a:xfrm>
            <a:off x="804672" y="3182112"/>
            <a:ext cx="12344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FEASIBLE</a:t>
            </a:r>
            <a:endParaRPr lang="en-US" sz="900" dirty="0"/>
          </a:p>
        </p:txBody>
      </p:sp>
      <p:sp>
        <p:nvSpPr>
          <p:cNvPr id="16" name="Shape 14"/>
          <p:cNvSpPr/>
          <p:nvPr/>
        </p:nvSpPr>
        <p:spPr>
          <a:xfrm>
            <a:off x="4069080" y="2834640"/>
            <a:ext cx="0" cy="658368"/>
          </a:xfrm>
          <a:prstGeom prst="line">
            <a:avLst/>
          </a:prstGeom>
          <a:noFill/>
          <a:ln w="12700">
            <a:solidFill>
              <a:srgbClr val="D5E0E1"/>
            </a:solidFill>
            <a:prstDash val="solid"/>
          </a:ln>
        </p:spPr>
      </p:sp>
      <p:sp>
        <p:nvSpPr>
          <p:cNvPr id="17" name="Text 15"/>
          <p:cNvSpPr/>
          <p:nvPr/>
        </p:nvSpPr>
        <p:spPr>
          <a:xfrm>
            <a:off x="4343400" y="2779776"/>
            <a:ext cx="7178040" cy="804672"/>
          </a:xfrm>
          <a:prstGeom prst="rect">
            <a:avLst/>
          </a:prstGeom>
          <a:noFill/>
          <a:ln/>
        </p:spPr>
        <p:txBody>
          <a:bodyPr wrap="square" lIns="0" tIns="0" rIns="0" bIns="0" rtlCol="0" anchor="ctr"/>
          <a:lstStyle/>
          <a:p>
            <a:pPr marL="0" indent="0">
              <a:lnSpc>
                <a:spcPts val="1400"/>
              </a:lnSpc>
              <a:buNone/>
            </a:pPr>
            <a:r>
              <a:rPr lang="en-US" sz="1100" dirty="0">
                <a:solidFill>
                  <a:srgbClr val="31474B"/>
                </a:solidFill>
                <a:latin typeface="Calibri" pitchFamily="34" charset="0"/>
                <a:ea typeface="Calibri" pitchFamily="34" charset="-122"/>
                <a:cs typeface="Calibri" pitchFamily="34" charset="-120"/>
              </a:rPr>
              <a:t>Upload via the existing Multer path, encrypt at rest in the object store, key held in the platform secret store. Playback only through the authorised media controller (NFR13). Deleted in the same transaction as the student account (NFR03, NFR07). All already designed.</a:t>
            </a:r>
            <a:endParaRPr lang="en-US" sz="1100" dirty="0"/>
          </a:p>
        </p:txBody>
      </p:sp>
      <p:sp>
        <p:nvSpPr>
          <p:cNvPr id="18" name="Shape 16"/>
          <p:cNvSpPr/>
          <p:nvPr/>
        </p:nvSpPr>
        <p:spPr>
          <a:xfrm>
            <a:off x="548640" y="3822192"/>
            <a:ext cx="11064240" cy="1024128"/>
          </a:xfrm>
          <a:prstGeom prst="roundRect">
            <a:avLst>
              <a:gd name="adj" fmla="val 7143"/>
            </a:avLst>
          </a:prstGeom>
          <a:solidFill>
            <a:srgbClr val="FBEEEC"/>
          </a:solidFill>
          <a:ln w="9525">
            <a:solidFill>
              <a:srgbClr val="FBEEEC"/>
            </a:solidFill>
            <a:prstDash val="solid"/>
          </a:ln>
          <a:effectLst>
            <a:outerShdw blurRad="101600" dist="25400" dir="5400000" algn="bl" rotWithShape="0">
              <a:srgbClr val="0A2B31">
                <a:alpha val="10000"/>
              </a:srgbClr>
            </a:outerShdw>
          </a:effectLst>
        </p:spPr>
      </p:sp>
      <p:sp>
        <p:nvSpPr>
          <p:cNvPr id="19" name="Text 17"/>
          <p:cNvSpPr/>
          <p:nvPr/>
        </p:nvSpPr>
        <p:spPr>
          <a:xfrm>
            <a:off x="804672" y="3968496"/>
            <a:ext cx="3017520" cy="310896"/>
          </a:xfrm>
          <a:prstGeom prst="rect">
            <a:avLst/>
          </a:prstGeom>
          <a:noFill/>
          <a:ln/>
        </p:spPr>
        <p:txBody>
          <a:bodyPr wrap="square" lIns="0" tIns="0" rIns="0" bIns="0" rtlCol="0" anchor="ctr"/>
          <a:lstStyle/>
          <a:p>
            <a:pPr marL="0" indent="0">
              <a:buNone/>
            </a:pPr>
            <a:r>
              <a:rPr lang="en-US" sz="1400" b="1" dirty="0">
                <a:solidFill>
                  <a:srgbClr val="06474F"/>
                </a:solidFill>
                <a:latin typeface="Calibri" pitchFamily="34" charset="0"/>
                <a:ea typeface="Calibri" pitchFamily="34" charset="-122"/>
                <a:cs typeface="Calibri" pitchFamily="34" charset="-120"/>
              </a:rPr>
              <a:t>Automatic scoring of pronunciation</a:t>
            </a:r>
            <a:endParaRPr lang="en-US" sz="1400" dirty="0"/>
          </a:p>
        </p:txBody>
      </p:sp>
      <p:sp>
        <p:nvSpPr>
          <p:cNvPr id="20" name="Shape 18"/>
          <p:cNvSpPr/>
          <p:nvPr/>
        </p:nvSpPr>
        <p:spPr>
          <a:xfrm>
            <a:off x="804672" y="4352544"/>
            <a:ext cx="1234440" cy="256032"/>
          </a:xfrm>
          <a:prstGeom prst="roundRect">
            <a:avLst>
              <a:gd name="adj" fmla="val 17857"/>
            </a:avLst>
          </a:prstGeom>
          <a:solidFill>
            <a:srgbClr val="B4453C"/>
          </a:solidFill>
          <a:ln w="12700">
            <a:solidFill>
              <a:srgbClr val="B4453C"/>
            </a:solidFill>
            <a:prstDash val="solid"/>
          </a:ln>
        </p:spPr>
      </p:sp>
      <p:sp>
        <p:nvSpPr>
          <p:cNvPr id="21" name="Text 19"/>
          <p:cNvSpPr/>
          <p:nvPr/>
        </p:nvSpPr>
        <p:spPr>
          <a:xfrm>
            <a:off x="804672" y="4352544"/>
            <a:ext cx="12344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NOT IN v1</a:t>
            </a:r>
            <a:endParaRPr lang="en-US" sz="900" dirty="0"/>
          </a:p>
        </p:txBody>
      </p:sp>
      <p:sp>
        <p:nvSpPr>
          <p:cNvPr id="22" name="Shape 20"/>
          <p:cNvSpPr/>
          <p:nvPr/>
        </p:nvSpPr>
        <p:spPr>
          <a:xfrm>
            <a:off x="4069080" y="4005072"/>
            <a:ext cx="0" cy="658368"/>
          </a:xfrm>
          <a:prstGeom prst="line">
            <a:avLst/>
          </a:prstGeom>
          <a:noFill/>
          <a:ln w="12700">
            <a:solidFill>
              <a:srgbClr val="D5E0E1"/>
            </a:solidFill>
            <a:prstDash val="solid"/>
          </a:ln>
        </p:spPr>
      </p:sp>
      <p:sp>
        <p:nvSpPr>
          <p:cNvPr id="23" name="Text 21"/>
          <p:cNvSpPr/>
          <p:nvPr/>
        </p:nvSpPr>
        <p:spPr>
          <a:xfrm>
            <a:off x="4343400" y="3950208"/>
            <a:ext cx="7178040" cy="804672"/>
          </a:xfrm>
          <a:prstGeom prst="rect">
            <a:avLst/>
          </a:prstGeom>
          <a:noFill/>
          <a:ln/>
        </p:spPr>
        <p:txBody>
          <a:bodyPr wrap="square" lIns="0" tIns="0" rIns="0" bIns="0" rtlCol="0" anchor="ctr"/>
          <a:lstStyle/>
          <a:p>
            <a:pPr marL="0" indent="0">
              <a:lnSpc>
                <a:spcPts val="1400"/>
              </a:lnSpc>
              <a:buNone/>
            </a:pPr>
            <a:r>
              <a:rPr lang="en-US" sz="1100" dirty="0">
                <a:solidFill>
                  <a:srgbClr val="31474B"/>
                </a:solidFill>
                <a:latin typeface="Calibri" pitchFamily="34" charset="0"/>
                <a:ea typeface="Calibri" pitchFamily="34" charset="-122"/>
                <a:cs typeface="Calibri" pitchFamily="34" charset="-120"/>
              </a:rPr>
              <a:t>This is the part people assume is included. It is not. Speech recognition on German child speech is unreliable, and every practical ASR service is hosted outside the EU - which breaks NFR01 on its own. Recording therefore means capture and human listening, not automatic marking.</a:t>
            </a:r>
            <a:endParaRPr lang="en-US" sz="1100" dirty="0"/>
          </a:p>
        </p:txBody>
      </p:sp>
      <p:sp>
        <p:nvSpPr>
          <p:cNvPr id="24" name="Shape 22"/>
          <p:cNvSpPr/>
          <p:nvPr/>
        </p:nvSpPr>
        <p:spPr>
          <a:xfrm>
            <a:off x="548640" y="4992624"/>
            <a:ext cx="11064240" cy="1024128"/>
          </a:xfrm>
          <a:prstGeom prst="roundRect">
            <a:avLst>
              <a:gd name="adj" fmla="val 7143"/>
            </a:avLst>
          </a:prstGeom>
          <a:solidFill>
            <a:srgbClr val="EEF4F4"/>
          </a:solidFill>
          <a:ln w="9525">
            <a:solidFill>
              <a:srgbClr val="EEF4F4"/>
            </a:solidFill>
            <a:prstDash val="solid"/>
          </a:ln>
          <a:effectLst>
            <a:outerShdw blurRad="101600" dist="25400" dir="5400000" algn="bl" rotWithShape="0">
              <a:srgbClr val="0A2B31">
                <a:alpha val="10000"/>
              </a:srgbClr>
            </a:outerShdw>
          </a:effectLst>
        </p:spPr>
      </p:sp>
      <p:sp>
        <p:nvSpPr>
          <p:cNvPr id="25" name="Text 23"/>
          <p:cNvSpPr/>
          <p:nvPr/>
        </p:nvSpPr>
        <p:spPr>
          <a:xfrm>
            <a:off x="804672" y="5138928"/>
            <a:ext cx="3017520" cy="310896"/>
          </a:xfrm>
          <a:prstGeom prst="rect">
            <a:avLst/>
          </a:prstGeom>
          <a:noFill/>
          <a:ln/>
        </p:spPr>
        <p:txBody>
          <a:bodyPr wrap="square" lIns="0" tIns="0" rIns="0" bIns="0" rtlCol="0" anchor="ctr"/>
          <a:lstStyle/>
          <a:p>
            <a:pPr marL="0" indent="0">
              <a:buNone/>
            </a:pPr>
            <a:r>
              <a:rPr lang="en-US" sz="1400" b="1" dirty="0">
                <a:solidFill>
                  <a:srgbClr val="06474F"/>
                </a:solidFill>
                <a:latin typeface="Calibri" pitchFamily="34" charset="0"/>
                <a:ea typeface="Calibri" pitchFamily="34" charset="-122"/>
                <a:cs typeface="Calibri" pitchFamily="34" charset="-120"/>
              </a:rPr>
              <a:t>Effort if approved</a:t>
            </a:r>
            <a:endParaRPr lang="en-US" sz="1400" dirty="0"/>
          </a:p>
        </p:txBody>
      </p:sp>
      <p:sp>
        <p:nvSpPr>
          <p:cNvPr id="26" name="Shape 24"/>
          <p:cNvSpPr/>
          <p:nvPr/>
        </p:nvSpPr>
        <p:spPr>
          <a:xfrm>
            <a:off x="804672" y="5522976"/>
            <a:ext cx="1234440" cy="256032"/>
          </a:xfrm>
          <a:prstGeom prst="roundRect">
            <a:avLst>
              <a:gd name="adj" fmla="val 17857"/>
            </a:avLst>
          </a:prstGeom>
          <a:solidFill>
            <a:srgbClr val="E08A3C"/>
          </a:solidFill>
          <a:ln w="12700">
            <a:solidFill>
              <a:srgbClr val="E08A3C"/>
            </a:solidFill>
            <a:prstDash val="solid"/>
          </a:ln>
        </p:spPr>
      </p:sp>
      <p:sp>
        <p:nvSpPr>
          <p:cNvPr id="27" name="Text 25"/>
          <p:cNvSpPr/>
          <p:nvPr/>
        </p:nvSpPr>
        <p:spPr>
          <a:xfrm>
            <a:off x="804672" y="5522976"/>
            <a:ext cx="123444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~26 h</a:t>
            </a:r>
            <a:endParaRPr lang="en-US" sz="900" dirty="0"/>
          </a:p>
        </p:txBody>
      </p:sp>
      <p:sp>
        <p:nvSpPr>
          <p:cNvPr id="28" name="Shape 26"/>
          <p:cNvSpPr/>
          <p:nvPr/>
        </p:nvSpPr>
        <p:spPr>
          <a:xfrm>
            <a:off x="4069080" y="5175504"/>
            <a:ext cx="0" cy="658368"/>
          </a:xfrm>
          <a:prstGeom prst="line">
            <a:avLst/>
          </a:prstGeom>
          <a:noFill/>
          <a:ln w="12700">
            <a:solidFill>
              <a:srgbClr val="D5E0E1"/>
            </a:solidFill>
            <a:prstDash val="solid"/>
          </a:ln>
        </p:spPr>
      </p:sp>
      <p:sp>
        <p:nvSpPr>
          <p:cNvPr id="29" name="Text 27"/>
          <p:cNvSpPr/>
          <p:nvPr/>
        </p:nvSpPr>
        <p:spPr>
          <a:xfrm>
            <a:off x="4343400" y="5120640"/>
            <a:ext cx="7178040" cy="804672"/>
          </a:xfrm>
          <a:prstGeom prst="rect">
            <a:avLst/>
          </a:prstGeom>
          <a:noFill/>
          <a:ln/>
        </p:spPr>
        <p:txBody>
          <a:bodyPr wrap="square" lIns="0" tIns="0" rIns="0" bIns="0" rtlCol="0" anchor="ctr"/>
          <a:lstStyle/>
          <a:p>
            <a:pPr marL="0" indent="0">
              <a:lnSpc>
                <a:spcPts val="1400"/>
              </a:lnSpc>
              <a:buNone/>
            </a:pPr>
            <a:r>
              <a:rPr lang="en-US" sz="1100" dirty="0">
                <a:solidFill>
                  <a:srgbClr val="31474B"/>
                </a:solidFill>
                <a:latin typeface="Calibri" pitchFamily="34" charset="0"/>
                <a:ea typeface="Calibri" pitchFamily="34" charset="-122"/>
                <a:cs typeface="Calibri" pitchFamily="34" charset="-120"/>
              </a:rPr>
              <a:t>Capture hook 8 h, upload and encryption endpoint 6 h, teacher playback UI 5 h, consent gating and admin switch 4 h, cascade deletion and tests 3 h. Additive - it does not sit on the critical path, and would follow Phase 7.</a:t>
            </a:r>
            <a:endParaRPr lang="en-US" sz="1100" dirty="0"/>
          </a:p>
        </p:txBody>
      </p:sp>
      <p:sp>
        <p:nvSpPr>
          <p:cNvPr id="30" name="Text 28"/>
          <p:cNvSpPr/>
          <p:nvPr/>
        </p:nvSpPr>
        <p:spPr>
          <a:xfrm>
            <a:off x="548640" y="6089904"/>
            <a:ext cx="11064240" cy="274320"/>
          </a:xfrm>
          <a:prstGeom prst="rect">
            <a:avLst/>
          </a:prstGeom>
          <a:noFill/>
          <a:ln/>
        </p:spPr>
        <p:txBody>
          <a:bodyPr wrap="square" lIns="0" tIns="0" rIns="0" bIns="0" rtlCol="0" anchor="ctr"/>
          <a:lstStyle/>
          <a:p>
            <a:pPr marL="0" indent="0">
              <a:buNone/>
            </a:pPr>
            <a:r>
              <a:rPr lang="en-US" sz="1150" b="1" i="1" dirty="0">
                <a:solidFill>
                  <a:srgbClr val="E08A3C"/>
                </a:solidFill>
                <a:latin typeface="Calibri" pitchFamily="34" charset="0"/>
                <a:ea typeface="Calibri" pitchFamily="34" charset="-122"/>
                <a:cs typeface="Calibri" pitchFamily="34" charset="-120"/>
              </a:rPr>
              <a:t>None of this is hard. That is exactly why it is dangerous - it is easy to build something you are not allowed to run.</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200" b="1" dirty="0">
                <a:solidFill>
                  <a:srgbClr val="06474F"/>
                </a:solidFill>
                <a:latin typeface="Cambria" pitchFamily="34" charset="0"/>
                <a:ea typeface="Cambria" pitchFamily="34" charset="-122"/>
                <a:cs typeface="Cambria" pitchFamily="34" charset="-120"/>
              </a:rPr>
              <a:t>Recording: the legal side is the hard side</a:t>
            </a:r>
            <a:endParaRPr lang="en-US" sz="3200" dirty="0"/>
          </a:p>
        </p:txBody>
      </p:sp>
      <p:sp>
        <p:nvSpPr>
          <p:cNvPr id="3" name="Text 1"/>
          <p:cNvSpPr/>
          <p:nvPr/>
        </p:nvSpPr>
        <p:spPr>
          <a:xfrm>
            <a:off x="548640" y="941832"/>
            <a:ext cx="11064240" cy="310896"/>
          </a:xfrm>
          <a:prstGeom prst="rect">
            <a:avLst/>
          </a:prstGeom>
          <a:noFill/>
          <a:ln/>
        </p:spPr>
        <p:txBody>
          <a:bodyPr wrap="square" lIns="0" tIns="0" rIns="0" bIns="0" rtlCol="0" anchor="ctr"/>
          <a:lstStyle/>
          <a:p>
            <a:pPr marL="0" indent="0">
              <a:buNone/>
            </a:pPr>
            <a:r>
              <a:rPr lang="en-US" sz="1400" i="1" dirty="0">
                <a:solidFill>
                  <a:srgbClr val="5C6E71"/>
                </a:solidFill>
                <a:latin typeface="Calibri" pitchFamily="34" charset="0"/>
                <a:ea typeface="Calibri" pitchFamily="34" charset="-122"/>
                <a:cs typeface="Calibri" pitchFamily="34" charset="-120"/>
              </a:rPr>
              <a:t>I am a developer, not a lawyer. This is what I know I cannot ignore - your DPO must confirm it.</a:t>
            </a:r>
            <a:endParaRPr lang="en-US" sz="1400" dirty="0"/>
          </a:p>
        </p:txBody>
      </p:sp>
      <p:sp>
        <p:nvSpPr>
          <p:cNvPr id="4" name="Text 2"/>
          <p:cNvSpPr/>
          <p:nvPr/>
        </p:nvSpPr>
        <p:spPr>
          <a:xfrm>
            <a:off x="548640" y="6473952"/>
            <a:ext cx="5486400" cy="237744"/>
          </a:xfrm>
          <a:prstGeom prst="rect">
            <a:avLst/>
          </a:prstGeom>
          <a:noFill/>
          <a:ln/>
        </p:spPr>
        <p:txBody>
          <a:bodyPr wrap="square" lIns="0" tIns="0" rIns="0" bIns="0" rtlCol="0" anchor="ctr"/>
          <a:lstStyle/>
          <a:p>
            <a:pPr marL="0" indent="0">
              <a:buNone/>
            </a:pPr>
            <a:r>
              <a:rPr lang="en-US" sz="900" dirty="0">
                <a:solidFill>
                  <a:srgbClr val="B9C4C6"/>
                </a:solidFill>
                <a:latin typeface="Calibri" pitchFamily="34" charset="0"/>
                <a:ea typeface="Calibri" pitchFamily="34" charset="-122"/>
                <a:cs typeface="Calibri" pitchFamily="34" charset="-120"/>
              </a:rPr>
              <a:t>SPEAK  |  Status &amp; Delivery Plan  |  12 July 2026</a:t>
            </a:r>
            <a:endParaRPr lang="en-US" sz="900" dirty="0"/>
          </a:p>
        </p:txBody>
      </p:sp>
      <p:sp>
        <p:nvSpPr>
          <p:cNvPr id="5" name="Text 3"/>
          <p:cNvSpPr/>
          <p:nvPr/>
        </p:nvSpPr>
        <p:spPr>
          <a:xfrm>
            <a:off x="11064240" y="6473952"/>
            <a:ext cx="548640" cy="237744"/>
          </a:xfrm>
          <a:prstGeom prst="rect">
            <a:avLst/>
          </a:prstGeom>
          <a:noFill/>
          <a:ln/>
        </p:spPr>
        <p:txBody>
          <a:bodyPr wrap="square" lIns="0" tIns="0" rIns="0" bIns="0" rtlCol="0" anchor="ctr"/>
          <a:lstStyle/>
          <a:p>
            <a:pPr marL="0" indent="0" algn="r">
              <a:buNone/>
            </a:pPr>
            <a:r>
              <a:rPr lang="en-US" sz="900" dirty="0">
                <a:solidFill>
                  <a:srgbClr val="B9C4C6"/>
                </a:solidFill>
                <a:latin typeface="Calibri" pitchFamily="34" charset="0"/>
                <a:ea typeface="Calibri" pitchFamily="34" charset="-122"/>
                <a:cs typeface="Calibri" pitchFamily="34" charset="-120"/>
              </a:rPr>
              <a:t>17</a:t>
            </a:r>
            <a:endParaRPr lang="en-US" sz="900" dirty="0"/>
          </a:p>
        </p:txBody>
      </p:sp>
      <p:sp>
        <p:nvSpPr>
          <p:cNvPr id="6" name="Shape 4"/>
          <p:cNvSpPr/>
          <p:nvPr/>
        </p:nvSpPr>
        <p:spPr>
          <a:xfrm>
            <a:off x="548640" y="1481328"/>
            <a:ext cx="11064240" cy="822960"/>
          </a:xfrm>
          <a:prstGeom prst="roundRect">
            <a:avLst>
              <a:gd name="adj" fmla="val 8889"/>
            </a:avLst>
          </a:prstGeom>
          <a:solidFill>
            <a:srgbClr val="FBEEEC"/>
          </a:solidFill>
          <a:ln w="9525">
            <a:solidFill>
              <a:srgbClr val="FBEEEC"/>
            </a:solidFill>
            <a:prstDash val="solid"/>
          </a:ln>
        </p:spPr>
      </p:sp>
      <p:sp>
        <p:nvSpPr>
          <p:cNvPr id="7" name="Shape 5"/>
          <p:cNvSpPr/>
          <p:nvPr/>
        </p:nvSpPr>
        <p:spPr>
          <a:xfrm>
            <a:off x="548640" y="1481328"/>
            <a:ext cx="11064240" cy="822960"/>
          </a:xfrm>
          <a:prstGeom prst="roundRect">
            <a:avLst>
              <a:gd name="adj" fmla="val 6667"/>
            </a:avLst>
          </a:prstGeom>
          <a:solidFill>
            <a:srgbClr val="FBEEEC"/>
          </a:solidFill>
          <a:ln w="9525">
            <a:solidFill>
              <a:srgbClr val="F0D9D6"/>
            </a:solidFill>
            <a:prstDash val="solid"/>
          </a:ln>
        </p:spPr>
      </p:sp>
      <p:sp>
        <p:nvSpPr>
          <p:cNvPr id="8" name="Shape 6"/>
          <p:cNvSpPr/>
          <p:nvPr/>
        </p:nvSpPr>
        <p:spPr>
          <a:xfrm>
            <a:off x="777240" y="1737360"/>
            <a:ext cx="329184" cy="329184"/>
          </a:xfrm>
          <a:prstGeom prst="ellipse">
            <a:avLst/>
          </a:prstGeom>
          <a:solidFill>
            <a:srgbClr val="B4453C"/>
          </a:solidFill>
          <a:ln w="12700">
            <a:solidFill>
              <a:srgbClr val="B4453C"/>
            </a:solidFill>
            <a:prstDash val="solid"/>
          </a:ln>
        </p:spPr>
      </p:sp>
      <p:sp>
        <p:nvSpPr>
          <p:cNvPr id="9" name="Text 7"/>
          <p:cNvSpPr/>
          <p:nvPr/>
        </p:nvSpPr>
        <p:spPr>
          <a:xfrm>
            <a:off x="777240" y="173736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p:nvPr/>
        </p:nvSpPr>
        <p:spPr>
          <a:xfrm>
            <a:off x="1207008" y="1563624"/>
            <a:ext cx="10332720" cy="274320"/>
          </a:xfrm>
          <a:prstGeom prst="rect">
            <a:avLst/>
          </a:prstGeom>
          <a:noFill/>
          <a:ln/>
        </p:spPr>
        <p:txBody>
          <a:bodyPr wrap="square" lIns="0" tIns="0" rIns="0" bIns="0" rtlCol="0" anchor="ctr"/>
          <a:lstStyle/>
          <a:p>
            <a:pPr marL="0" indent="0">
              <a:buNone/>
            </a:pPr>
            <a:r>
              <a:rPr lang="en-US" sz="1300" b="1" dirty="0">
                <a:solidFill>
                  <a:srgbClr val="7E2D26"/>
                </a:solidFill>
                <a:latin typeface="Calibri" pitchFamily="34" charset="0"/>
                <a:ea typeface="Calibri" pitchFamily="34" charset="-122"/>
                <a:cs typeface="Calibri" pitchFamily="34" charset="-120"/>
              </a:rPr>
              <a:t>It undoes the platform's best privacy property</a:t>
            </a:r>
            <a:endParaRPr lang="en-US" sz="1300" dirty="0"/>
          </a:p>
        </p:txBody>
      </p:sp>
      <p:sp>
        <p:nvSpPr>
          <p:cNvPr id="11" name="Text 9"/>
          <p:cNvSpPr/>
          <p:nvPr/>
        </p:nvSpPr>
        <p:spPr>
          <a:xfrm>
            <a:off x="1207008" y="1837944"/>
            <a:ext cx="10332720" cy="402336"/>
          </a:xfrm>
          <a:prstGeom prst="rect">
            <a:avLst/>
          </a:prstGeom>
          <a:noFill/>
          <a:ln/>
        </p:spPr>
        <p:txBody>
          <a:bodyPr wrap="square" lIns="0" tIns="0" rIns="0" bIns="0" rtlCol="0" anchor="ctr"/>
          <a:lstStyle/>
          <a:p>
            <a:pPr marL="0" indent="0">
              <a:lnSpc>
                <a:spcPts val="1300"/>
              </a:lnSpc>
              <a:buNone/>
            </a:pPr>
            <a:r>
              <a:rPr lang="en-US" sz="1050" dirty="0">
                <a:solidFill>
                  <a:srgbClr val="5C6E71"/>
                </a:solidFill>
                <a:latin typeface="Calibri" pitchFamily="34" charset="0"/>
                <a:ea typeface="Calibri" pitchFamily="34" charset="-122"/>
                <a:cs typeface="Calibri" pitchFamily="34" charset="-120"/>
              </a:rPr>
              <a:t>Today a child is a display name and a hashed access code, and nothing else (NFR02). A recording of that child's voice is directly identifying. Adding it is not a feature toggle; it changes what kind of system SPEAK is.</a:t>
            </a:r>
            <a:endParaRPr lang="en-US" sz="1050" dirty="0"/>
          </a:p>
        </p:txBody>
      </p:sp>
      <p:sp>
        <p:nvSpPr>
          <p:cNvPr id="12" name="Shape 10"/>
          <p:cNvSpPr/>
          <p:nvPr/>
        </p:nvSpPr>
        <p:spPr>
          <a:xfrm>
            <a:off x="548640" y="2414016"/>
            <a:ext cx="11064240" cy="822960"/>
          </a:xfrm>
          <a:prstGeom prst="roundRect">
            <a:avLst>
              <a:gd name="adj" fmla="val 8889"/>
            </a:avLst>
          </a:prstGeom>
          <a:solidFill>
            <a:srgbClr val="FDF6F5"/>
          </a:solidFill>
          <a:ln w="9525">
            <a:solidFill>
              <a:srgbClr val="FDF6F5"/>
            </a:solidFill>
            <a:prstDash val="solid"/>
          </a:ln>
        </p:spPr>
      </p:sp>
      <p:sp>
        <p:nvSpPr>
          <p:cNvPr id="13" name="Shape 11"/>
          <p:cNvSpPr/>
          <p:nvPr/>
        </p:nvSpPr>
        <p:spPr>
          <a:xfrm>
            <a:off x="548640" y="2414016"/>
            <a:ext cx="11064240" cy="822960"/>
          </a:xfrm>
          <a:prstGeom prst="roundRect">
            <a:avLst>
              <a:gd name="adj" fmla="val 6667"/>
            </a:avLst>
          </a:prstGeom>
          <a:solidFill>
            <a:srgbClr val="FDF6F5"/>
          </a:solidFill>
          <a:ln w="9525">
            <a:solidFill>
              <a:srgbClr val="F0D9D6"/>
            </a:solidFill>
            <a:prstDash val="solid"/>
          </a:ln>
        </p:spPr>
      </p:sp>
      <p:sp>
        <p:nvSpPr>
          <p:cNvPr id="14" name="Shape 12"/>
          <p:cNvSpPr/>
          <p:nvPr/>
        </p:nvSpPr>
        <p:spPr>
          <a:xfrm>
            <a:off x="777240" y="2670048"/>
            <a:ext cx="329184" cy="329184"/>
          </a:xfrm>
          <a:prstGeom prst="ellipse">
            <a:avLst/>
          </a:prstGeom>
          <a:solidFill>
            <a:srgbClr val="B4453C"/>
          </a:solidFill>
          <a:ln w="12700">
            <a:solidFill>
              <a:srgbClr val="B4453C"/>
            </a:solidFill>
            <a:prstDash val="solid"/>
          </a:ln>
        </p:spPr>
      </p:sp>
      <p:sp>
        <p:nvSpPr>
          <p:cNvPr id="15" name="Text 13"/>
          <p:cNvSpPr/>
          <p:nvPr/>
        </p:nvSpPr>
        <p:spPr>
          <a:xfrm>
            <a:off x="777240" y="2670048"/>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4"/>
          <p:cNvSpPr/>
          <p:nvPr/>
        </p:nvSpPr>
        <p:spPr>
          <a:xfrm>
            <a:off x="1207008" y="2496312"/>
            <a:ext cx="10332720" cy="274320"/>
          </a:xfrm>
          <a:prstGeom prst="rect">
            <a:avLst/>
          </a:prstGeom>
          <a:noFill/>
          <a:ln/>
        </p:spPr>
        <p:txBody>
          <a:bodyPr wrap="square" lIns="0" tIns="0" rIns="0" bIns="0" rtlCol="0" anchor="ctr"/>
          <a:lstStyle/>
          <a:p>
            <a:pPr marL="0" indent="0">
              <a:buNone/>
            </a:pPr>
            <a:r>
              <a:rPr lang="en-US" sz="1300" b="1" dirty="0">
                <a:solidFill>
                  <a:srgbClr val="7E2D26"/>
                </a:solidFill>
                <a:latin typeface="Calibri" pitchFamily="34" charset="0"/>
                <a:ea typeface="Calibri" pitchFamily="34" charset="-122"/>
                <a:cs typeface="Calibri" pitchFamily="34" charset="-120"/>
              </a:rPr>
              <a:t>Consent must come from the parent, in writing, per child</a:t>
            </a:r>
            <a:endParaRPr lang="en-US" sz="1300" dirty="0"/>
          </a:p>
        </p:txBody>
      </p:sp>
      <p:sp>
        <p:nvSpPr>
          <p:cNvPr id="17" name="Text 15"/>
          <p:cNvSpPr/>
          <p:nvPr/>
        </p:nvSpPr>
        <p:spPr>
          <a:xfrm>
            <a:off x="1207008" y="2770632"/>
            <a:ext cx="10332720" cy="402336"/>
          </a:xfrm>
          <a:prstGeom prst="rect">
            <a:avLst/>
          </a:prstGeom>
          <a:noFill/>
          <a:ln/>
        </p:spPr>
        <p:txBody>
          <a:bodyPr wrap="square" lIns="0" tIns="0" rIns="0" bIns="0" rtlCol="0" anchor="ctr"/>
          <a:lstStyle/>
          <a:p>
            <a:pPr marL="0" indent="0">
              <a:lnSpc>
                <a:spcPts val="1300"/>
              </a:lnSpc>
              <a:buNone/>
            </a:pPr>
            <a:r>
              <a:rPr lang="en-US" sz="1050" dirty="0">
                <a:solidFill>
                  <a:srgbClr val="5C6E71"/>
                </a:solidFill>
                <a:latin typeface="Calibri" pitchFamily="34" charset="0"/>
                <a:ea typeface="Calibri" pitchFamily="34" charset="-122"/>
                <a:cs typeface="Calibri" pitchFamily="34" charset="-120"/>
              </a:rPr>
              <a:t>Under Art. 8 GDPR a primary-school child cannot give valid consent. In Germany you need documented guardian consent, obtainable before the child ever sees a microphone prompt - and revocable at any time, with deletion.</a:t>
            </a:r>
            <a:endParaRPr lang="en-US" sz="1050" dirty="0"/>
          </a:p>
        </p:txBody>
      </p:sp>
      <p:sp>
        <p:nvSpPr>
          <p:cNvPr id="18" name="Shape 16"/>
          <p:cNvSpPr/>
          <p:nvPr/>
        </p:nvSpPr>
        <p:spPr>
          <a:xfrm>
            <a:off x="548640" y="3346704"/>
            <a:ext cx="11064240" cy="822960"/>
          </a:xfrm>
          <a:prstGeom prst="roundRect">
            <a:avLst>
              <a:gd name="adj" fmla="val 8889"/>
            </a:avLst>
          </a:prstGeom>
          <a:solidFill>
            <a:srgbClr val="FBEEEC"/>
          </a:solidFill>
          <a:ln w="9525">
            <a:solidFill>
              <a:srgbClr val="FBEEEC"/>
            </a:solidFill>
            <a:prstDash val="solid"/>
          </a:ln>
        </p:spPr>
      </p:sp>
      <p:sp>
        <p:nvSpPr>
          <p:cNvPr id="19" name="Shape 17"/>
          <p:cNvSpPr/>
          <p:nvPr/>
        </p:nvSpPr>
        <p:spPr>
          <a:xfrm>
            <a:off x="548640" y="3346704"/>
            <a:ext cx="11064240" cy="822960"/>
          </a:xfrm>
          <a:prstGeom prst="roundRect">
            <a:avLst>
              <a:gd name="adj" fmla="val 6667"/>
            </a:avLst>
          </a:prstGeom>
          <a:solidFill>
            <a:srgbClr val="FBEEEC"/>
          </a:solidFill>
          <a:ln w="9525">
            <a:solidFill>
              <a:srgbClr val="F0D9D6"/>
            </a:solidFill>
            <a:prstDash val="solid"/>
          </a:ln>
        </p:spPr>
      </p:sp>
      <p:sp>
        <p:nvSpPr>
          <p:cNvPr id="20" name="Shape 18"/>
          <p:cNvSpPr/>
          <p:nvPr/>
        </p:nvSpPr>
        <p:spPr>
          <a:xfrm>
            <a:off x="777240" y="3602736"/>
            <a:ext cx="329184" cy="329184"/>
          </a:xfrm>
          <a:prstGeom prst="ellipse">
            <a:avLst/>
          </a:prstGeom>
          <a:solidFill>
            <a:srgbClr val="B4453C"/>
          </a:solidFill>
          <a:ln w="12700">
            <a:solidFill>
              <a:srgbClr val="B4453C"/>
            </a:solidFill>
            <a:prstDash val="solid"/>
          </a:ln>
        </p:spPr>
      </p:sp>
      <p:sp>
        <p:nvSpPr>
          <p:cNvPr id="21" name="Text 19"/>
          <p:cNvSpPr/>
          <p:nvPr/>
        </p:nvSpPr>
        <p:spPr>
          <a:xfrm>
            <a:off x="777240" y="3602736"/>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2" name="Text 20"/>
          <p:cNvSpPr/>
          <p:nvPr/>
        </p:nvSpPr>
        <p:spPr>
          <a:xfrm>
            <a:off x="1207008" y="3429000"/>
            <a:ext cx="10332720" cy="274320"/>
          </a:xfrm>
          <a:prstGeom prst="rect">
            <a:avLst/>
          </a:prstGeom>
          <a:noFill/>
          <a:ln/>
        </p:spPr>
        <p:txBody>
          <a:bodyPr wrap="square" lIns="0" tIns="0" rIns="0" bIns="0" rtlCol="0" anchor="ctr"/>
          <a:lstStyle/>
          <a:p>
            <a:pPr marL="0" indent="0">
              <a:buNone/>
            </a:pPr>
            <a:r>
              <a:rPr lang="en-US" sz="1300" b="1" dirty="0">
                <a:solidFill>
                  <a:srgbClr val="7E2D26"/>
                </a:solidFill>
                <a:latin typeface="Calibri" pitchFamily="34" charset="0"/>
                <a:ea typeface="Calibri" pitchFamily="34" charset="-122"/>
                <a:cs typeface="Calibri" pitchFamily="34" charset="-120"/>
              </a:rPr>
              <a:t>A DPIA is very likely mandatory</a:t>
            </a:r>
            <a:endParaRPr lang="en-US" sz="1300" dirty="0"/>
          </a:p>
        </p:txBody>
      </p:sp>
      <p:sp>
        <p:nvSpPr>
          <p:cNvPr id="23" name="Text 21"/>
          <p:cNvSpPr/>
          <p:nvPr/>
        </p:nvSpPr>
        <p:spPr>
          <a:xfrm>
            <a:off x="1207008" y="3703320"/>
            <a:ext cx="10332720" cy="402336"/>
          </a:xfrm>
          <a:prstGeom prst="rect">
            <a:avLst/>
          </a:prstGeom>
          <a:noFill/>
          <a:ln/>
        </p:spPr>
        <p:txBody>
          <a:bodyPr wrap="square" lIns="0" tIns="0" rIns="0" bIns="0" rtlCol="0" anchor="ctr"/>
          <a:lstStyle/>
          <a:p>
            <a:pPr marL="0" indent="0">
              <a:lnSpc>
                <a:spcPts val="1300"/>
              </a:lnSpc>
              <a:buNone/>
            </a:pPr>
            <a:r>
              <a:rPr lang="en-US" sz="1050" dirty="0">
                <a:solidFill>
                  <a:srgbClr val="5C6E71"/>
                </a:solidFill>
                <a:latin typeface="Calibri" pitchFamily="34" charset="0"/>
                <a:ea typeface="Calibri" pitchFamily="34" charset="-122"/>
                <a:cs typeface="Calibri" pitchFamily="34" charset="-120"/>
              </a:rPr>
              <a:t>Art. 35: systematic processing of children's data, in a school, including audio. Assume the answer is yes. The school's or the Land's data-protection officer signs it, not me.</a:t>
            </a:r>
            <a:endParaRPr lang="en-US" sz="1050" dirty="0"/>
          </a:p>
        </p:txBody>
      </p:sp>
      <p:sp>
        <p:nvSpPr>
          <p:cNvPr id="24" name="Shape 22"/>
          <p:cNvSpPr/>
          <p:nvPr/>
        </p:nvSpPr>
        <p:spPr>
          <a:xfrm>
            <a:off x="548640" y="4279392"/>
            <a:ext cx="11064240" cy="822960"/>
          </a:xfrm>
          <a:prstGeom prst="roundRect">
            <a:avLst>
              <a:gd name="adj" fmla="val 8889"/>
            </a:avLst>
          </a:prstGeom>
          <a:solidFill>
            <a:srgbClr val="FDF6F5"/>
          </a:solidFill>
          <a:ln w="9525">
            <a:solidFill>
              <a:srgbClr val="FDF6F5"/>
            </a:solidFill>
            <a:prstDash val="solid"/>
          </a:ln>
        </p:spPr>
      </p:sp>
      <p:sp>
        <p:nvSpPr>
          <p:cNvPr id="25" name="Shape 23"/>
          <p:cNvSpPr/>
          <p:nvPr/>
        </p:nvSpPr>
        <p:spPr>
          <a:xfrm>
            <a:off x="548640" y="4279392"/>
            <a:ext cx="11064240" cy="822960"/>
          </a:xfrm>
          <a:prstGeom prst="roundRect">
            <a:avLst>
              <a:gd name="adj" fmla="val 6667"/>
            </a:avLst>
          </a:prstGeom>
          <a:solidFill>
            <a:srgbClr val="FDF6F5"/>
          </a:solidFill>
          <a:ln w="9525">
            <a:solidFill>
              <a:srgbClr val="F0D9D6"/>
            </a:solidFill>
            <a:prstDash val="solid"/>
          </a:ln>
        </p:spPr>
      </p:sp>
      <p:sp>
        <p:nvSpPr>
          <p:cNvPr id="26" name="Shape 24"/>
          <p:cNvSpPr/>
          <p:nvPr/>
        </p:nvSpPr>
        <p:spPr>
          <a:xfrm>
            <a:off x="777240" y="4535424"/>
            <a:ext cx="329184" cy="329184"/>
          </a:xfrm>
          <a:prstGeom prst="ellipse">
            <a:avLst/>
          </a:prstGeom>
          <a:solidFill>
            <a:srgbClr val="B4453C"/>
          </a:solidFill>
          <a:ln w="12700">
            <a:solidFill>
              <a:srgbClr val="B4453C"/>
            </a:solidFill>
            <a:prstDash val="solid"/>
          </a:ln>
        </p:spPr>
      </p:sp>
      <p:sp>
        <p:nvSpPr>
          <p:cNvPr id="27" name="Text 25"/>
          <p:cNvSpPr/>
          <p:nvPr/>
        </p:nvSpPr>
        <p:spPr>
          <a:xfrm>
            <a:off x="777240" y="4535424"/>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1207008" y="4361688"/>
            <a:ext cx="10332720" cy="274320"/>
          </a:xfrm>
          <a:prstGeom prst="rect">
            <a:avLst/>
          </a:prstGeom>
          <a:noFill/>
          <a:ln/>
        </p:spPr>
        <p:txBody>
          <a:bodyPr wrap="square" lIns="0" tIns="0" rIns="0" bIns="0" rtlCol="0" anchor="ctr"/>
          <a:lstStyle/>
          <a:p>
            <a:pPr marL="0" indent="0">
              <a:buNone/>
            </a:pPr>
            <a:r>
              <a:rPr lang="en-US" sz="1300" b="1" dirty="0">
                <a:solidFill>
                  <a:srgbClr val="7E2D26"/>
                </a:solidFill>
                <a:latin typeface="Calibri" pitchFamily="34" charset="0"/>
                <a:ea typeface="Calibri" pitchFamily="34" charset="-122"/>
                <a:cs typeface="Calibri" pitchFamily="34" charset="-120"/>
              </a:rPr>
              <a:t>Purpose limitation and retention must be written down before the code runs</a:t>
            </a:r>
            <a:endParaRPr lang="en-US" sz="1300" dirty="0"/>
          </a:p>
        </p:txBody>
      </p:sp>
      <p:sp>
        <p:nvSpPr>
          <p:cNvPr id="29" name="Text 27"/>
          <p:cNvSpPr/>
          <p:nvPr/>
        </p:nvSpPr>
        <p:spPr>
          <a:xfrm>
            <a:off x="1207008" y="4636008"/>
            <a:ext cx="10332720" cy="402336"/>
          </a:xfrm>
          <a:prstGeom prst="rect">
            <a:avLst/>
          </a:prstGeom>
          <a:noFill/>
          <a:ln/>
        </p:spPr>
        <p:txBody>
          <a:bodyPr wrap="square" lIns="0" tIns="0" rIns="0" bIns="0" rtlCol="0" anchor="ctr"/>
          <a:lstStyle/>
          <a:p>
            <a:pPr marL="0" indent="0">
              <a:lnSpc>
                <a:spcPts val="1300"/>
              </a:lnSpc>
              <a:buNone/>
            </a:pPr>
            <a:r>
              <a:rPr lang="en-US" sz="1050" dirty="0">
                <a:solidFill>
                  <a:srgbClr val="5C6E71"/>
                </a:solidFill>
                <a:latin typeface="Calibri" pitchFamily="34" charset="0"/>
                <a:ea typeface="Calibri" pitchFamily="34" charset="-122"/>
                <a:cs typeface="Calibri" pitchFamily="34" charset="-120"/>
              </a:rPr>
              <a:t>Why is the recording kept? For how long? Who may listen? What happens at the end of the school year? If we cannot answer these in one sentence each, we should not be storing anything.</a:t>
            </a:r>
            <a:endParaRPr lang="en-US" sz="1050" dirty="0"/>
          </a:p>
        </p:txBody>
      </p:sp>
      <p:sp>
        <p:nvSpPr>
          <p:cNvPr id="30" name="Shape 28"/>
          <p:cNvSpPr/>
          <p:nvPr/>
        </p:nvSpPr>
        <p:spPr>
          <a:xfrm>
            <a:off x="548640" y="5212080"/>
            <a:ext cx="11064240" cy="822960"/>
          </a:xfrm>
          <a:prstGeom prst="roundRect">
            <a:avLst>
              <a:gd name="adj" fmla="val 8889"/>
            </a:avLst>
          </a:prstGeom>
          <a:solidFill>
            <a:srgbClr val="FBEEEC"/>
          </a:solidFill>
          <a:ln w="9525">
            <a:solidFill>
              <a:srgbClr val="FBEEEC"/>
            </a:solidFill>
            <a:prstDash val="solid"/>
          </a:ln>
        </p:spPr>
      </p:sp>
      <p:sp>
        <p:nvSpPr>
          <p:cNvPr id="31" name="Shape 29"/>
          <p:cNvSpPr/>
          <p:nvPr/>
        </p:nvSpPr>
        <p:spPr>
          <a:xfrm>
            <a:off x="548640" y="5212080"/>
            <a:ext cx="11064240" cy="822960"/>
          </a:xfrm>
          <a:prstGeom prst="roundRect">
            <a:avLst>
              <a:gd name="adj" fmla="val 6667"/>
            </a:avLst>
          </a:prstGeom>
          <a:solidFill>
            <a:srgbClr val="FBEEEC"/>
          </a:solidFill>
          <a:ln w="9525">
            <a:solidFill>
              <a:srgbClr val="F0D9D6"/>
            </a:solidFill>
            <a:prstDash val="solid"/>
          </a:ln>
        </p:spPr>
      </p:sp>
      <p:sp>
        <p:nvSpPr>
          <p:cNvPr id="32" name="Shape 30"/>
          <p:cNvSpPr/>
          <p:nvPr/>
        </p:nvSpPr>
        <p:spPr>
          <a:xfrm>
            <a:off x="777240" y="5468112"/>
            <a:ext cx="329184" cy="329184"/>
          </a:xfrm>
          <a:prstGeom prst="ellipse">
            <a:avLst/>
          </a:prstGeom>
          <a:solidFill>
            <a:srgbClr val="B4453C"/>
          </a:solidFill>
          <a:ln w="12700">
            <a:solidFill>
              <a:srgbClr val="B4453C"/>
            </a:solidFill>
            <a:prstDash val="solid"/>
          </a:ln>
        </p:spPr>
      </p:sp>
      <p:sp>
        <p:nvSpPr>
          <p:cNvPr id="33" name="Text 31"/>
          <p:cNvSpPr/>
          <p:nvPr/>
        </p:nvSpPr>
        <p:spPr>
          <a:xfrm>
            <a:off x="777240" y="5468112"/>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4" name="Text 32"/>
          <p:cNvSpPr/>
          <p:nvPr/>
        </p:nvSpPr>
        <p:spPr>
          <a:xfrm>
            <a:off x="1207008" y="5294376"/>
            <a:ext cx="10332720" cy="274320"/>
          </a:xfrm>
          <a:prstGeom prst="rect">
            <a:avLst/>
          </a:prstGeom>
          <a:noFill/>
          <a:ln/>
        </p:spPr>
        <p:txBody>
          <a:bodyPr wrap="square" lIns="0" tIns="0" rIns="0" bIns="0" rtlCol="0" anchor="ctr"/>
          <a:lstStyle/>
          <a:p>
            <a:pPr marL="0" indent="0">
              <a:buNone/>
            </a:pPr>
            <a:r>
              <a:rPr lang="en-US" sz="1300" b="1" dirty="0">
                <a:solidFill>
                  <a:srgbClr val="7E2D26"/>
                </a:solidFill>
                <a:latin typeface="Calibri" pitchFamily="34" charset="0"/>
                <a:ea typeface="Calibri" pitchFamily="34" charset="-122"/>
                <a:cs typeface="Calibri" pitchFamily="34" charset="-120"/>
              </a:rPr>
              <a:t>A child who opts out must still be able to do the task</a:t>
            </a:r>
            <a:endParaRPr lang="en-US" sz="1300" dirty="0"/>
          </a:p>
        </p:txBody>
      </p:sp>
      <p:sp>
        <p:nvSpPr>
          <p:cNvPr id="35" name="Text 33"/>
          <p:cNvSpPr/>
          <p:nvPr/>
        </p:nvSpPr>
        <p:spPr>
          <a:xfrm>
            <a:off x="1207008" y="5568696"/>
            <a:ext cx="10332720" cy="402336"/>
          </a:xfrm>
          <a:prstGeom prst="rect">
            <a:avLst/>
          </a:prstGeom>
          <a:noFill/>
          <a:ln/>
        </p:spPr>
        <p:txBody>
          <a:bodyPr wrap="square" lIns="0" tIns="0" rIns="0" bIns="0" rtlCol="0" anchor="ctr"/>
          <a:lstStyle/>
          <a:p>
            <a:pPr marL="0" indent="0">
              <a:lnSpc>
                <a:spcPts val="1300"/>
              </a:lnSpc>
              <a:buNone/>
            </a:pPr>
            <a:r>
              <a:rPr lang="en-US" sz="1050" dirty="0">
                <a:solidFill>
                  <a:srgbClr val="5C6E71"/>
                </a:solidFill>
                <a:latin typeface="Calibri" pitchFamily="34" charset="0"/>
                <a:ea typeface="Calibri" pitchFamily="34" charset="-122"/>
                <a:cs typeface="Calibri" pitchFamily="34" charset="-120"/>
              </a:rPr>
              <a:t>Recording can never be a condition of learning. The speaking task must have a non-recording path, or it cannot be assigned to a class at all.</a:t>
            </a:r>
            <a:endParaRPr lang="en-US" sz="1050" dirty="0"/>
          </a:p>
        </p:txBody>
      </p:sp>
      <p:sp>
        <p:nvSpPr>
          <p:cNvPr id="36" name="Shape 34"/>
          <p:cNvSpPr/>
          <p:nvPr/>
        </p:nvSpPr>
        <p:spPr>
          <a:xfrm>
            <a:off x="548640" y="6035040"/>
            <a:ext cx="11064240" cy="384048"/>
          </a:xfrm>
          <a:prstGeom prst="roundRect">
            <a:avLst>
              <a:gd name="adj" fmla="val 19048"/>
            </a:avLst>
          </a:prstGeom>
          <a:solidFill>
            <a:srgbClr val="FBF2E7"/>
          </a:solidFill>
          <a:ln w="9525">
            <a:solidFill>
              <a:srgbClr val="FBF2E7"/>
            </a:solidFill>
            <a:prstDash val="solid"/>
          </a:ln>
        </p:spPr>
      </p:sp>
      <p:sp>
        <p:nvSpPr>
          <p:cNvPr id="37" name="Text 35"/>
          <p:cNvSpPr/>
          <p:nvPr/>
        </p:nvSpPr>
        <p:spPr>
          <a:xfrm>
            <a:off x="731520" y="6035040"/>
            <a:ext cx="10881360" cy="384048"/>
          </a:xfrm>
          <a:prstGeom prst="rect">
            <a:avLst/>
          </a:prstGeom>
          <a:noFill/>
          <a:ln/>
        </p:spPr>
        <p:txBody>
          <a:bodyPr wrap="square" lIns="0" tIns="0" rIns="0" bIns="0" rtlCol="0" anchor="ctr"/>
          <a:lstStyle/>
          <a:p>
            <a:pPr marL="0" indent="0">
              <a:buNone/>
            </a:pPr>
            <a:r>
              <a:rPr lang="en-US" sz="1100" i="1" dirty="0">
                <a:solidFill>
                  <a:srgbClr val="5C6E71"/>
                </a:solidFill>
                <a:latin typeface="Calibri" pitchFamily="34" charset="0"/>
                <a:ea typeface="Calibri" pitchFamily="34" charset="-122"/>
                <a:cs typeface="Calibri" pitchFamily="34" charset="-120"/>
              </a:rPr>
              <a:t>The legal work is measured in months of school and authority process, not in hours of mine. It cannot start after the code is written.</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11064240" cy="566928"/>
          </a:xfrm>
          <a:prstGeom prst="rect">
            <a:avLst/>
          </a:prstGeom>
          <a:noFill/>
          <a:ln/>
        </p:spPr>
        <p:txBody>
          <a:bodyPr wrap="square" lIns="0" tIns="0" rIns="0" bIns="0" rtlCol="0" anchor="ctr"/>
          <a:lstStyle/>
          <a:p>
            <a:pPr marL="0" indent="0">
              <a:buNone/>
            </a:pPr>
            <a:r>
              <a:rPr lang="en-US" sz="3200" b="1" dirty="0">
                <a:solidFill>
                  <a:srgbClr val="06474F"/>
                </a:solidFill>
                <a:latin typeface="Cambria" pitchFamily="34" charset="0"/>
                <a:ea typeface="Cambria" pitchFamily="34" charset="-122"/>
                <a:cs typeface="Cambria" pitchFamily="34" charset="-120"/>
              </a:rPr>
              <a:t>Recording: my recommendation</a:t>
            </a:r>
            <a:endParaRPr lang="en-US" sz="3200" dirty="0"/>
          </a:p>
        </p:txBody>
      </p:sp>
      <p:sp>
        <p:nvSpPr>
          <p:cNvPr id="3" name="Text 1"/>
          <p:cNvSpPr/>
          <p:nvPr/>
        </p:nvSpPr>
        <p:spPr>
          <a:xfrm>
            <a:off x="548640" y="941832"/>
            <a:ext cx="11064240" cy="310896"/>
          </a:xfrm>
          <a:prstGeom prst="rect">
            <a:avLst/>
          </a:prstGeom>
          <a:noFill/>
          <a:ln/>
        </p:spPr>
        <p:txBody>
          <a:bodyPr wrap="square" lIns="0" tIns="0" rIns="0" bIns="0" rtlCol="0" anchor="ctr"/>
          <a:lstStyle/>
          <a:p>
            <a:pPr marL="0" indent="0">
              <a:buNone/>
            </a:pPr>
            <a:r>
              <a:rPr lang="en-US" sz="1400" i="1" dirty="0">
                <a:solidFill>
                  <a:srgbClr val="5C6E71"/>
                </a:solidFill>
                <a:latin typeface="Calibri" pitchFamily="34" charset="0"/>
                <a:ea typeface="Calibri" pitchFamily="34" charset="-122"/>
                <a:cs typeface="Calibri" pitchFamily="34" charset="-120"/>
              </a:rPr>
              <a:t>The question you actually have to answer is not technical</a:t>
            </a:r>
            <a:endParaRPr lang="en-US" sz="1400" dirty="0"/>
          </a:p>
        </p:txBody>
      </p:sp>
      <p:sp>
        <p:nvSpPr>
          <p:cNvPr id="4" name="Text 2"/>
          <p:cNvSpPr/>
          <p:nvPr/>
        </p:nvSpPr>
        <p:spPr>
          <a:xfrm>
            <a:off x="548640" y="6473952"/>
            <a:ext cx="5486400" cy="237744"/>
          </a:xfrm>
          <a:prstGeom prst="rect">
            <a:avLst/>
          </a:prstGeom>
          <a:noFill/>
          <a:ln/>
        </p:spPr>
        <p:txBody>
          <a:bodyPr wrap="square" lIns="0" tIns="0" rIns="0" bIns="0" rtlCol="0" anchor="ctr"/>
          <a:lstStyle/>
          <a:p>
            <a:pPr marL="0" indent="0">
              <a:buNone/>
            </a:pPr>
            <a:r>
              <a:rPr lang="en-US" sz="900" dirty="0">
                <a:solidFill>
                  <a:srgbClr val="B9C4C6"/>
                </a:solidFill>
                <a:latin typeface="Calibri" pitchFamily="34" charset="0"/>
                <a:ea typeface="Calibri" pitchFamily="34" charset="-122"/>
                <a:cs typeface="Calibri" pitchFamily="34" charset="-120"/>
              </a:rPr>
              <a:t>SPEAK  |  Status &amp; Delivery Plan  |  12 July 2026</a:t>
            </a:r>
            <a:endParaRPr lang="en-US" sz="900" dirty="0"/>
          </a:p>
        </p:txBody>
      </p:sp>
      <p:sp>
        <p:nvSpPr>
          <p:cNvPr id="5" name="Text 3"/>
          <p:cNvSpPr/>
          <p:nvPr/>
        </p:nvSpPr>
        <p:spPr>
          <a:xfrm>
            <a:off x="11064240" y="6473952"/>
            <a:ext cx="548640" cy="237744"/>
          </a:xfrm>
          <a:prstGeom prst="rect">
            <a:avLst/>
          </a:prstGeom>
          <a:noFill/>
          <a:ln/>
        </p:spPr>
        <p:txBody>
          <a:bodyPr wrap="square" lIns="0" tIns="0" rIns="0" bIns="0" rtlCol="0" anchor="ctr"/>
          <a:lstStyle/>
          <a:p>
            <a:pPr marL="0" indent="0" algn="r">
              <a:buNone/>
            </a:pPr>
            <a:r>
              <a:rPr lang="en-US" sz="900" dirty="0">
                <a:solidFill>
                  <a:srgbClr val="B9C4C6"/>
                </a:solidFill>
                <a:latin typeface="Calibri" pitchFamily="34" charset="0"/>
                <a:ea typeface="Calibri" pitchFamily="34" charset="-122"/>
                <a:cs typeface="Calibri" pitchFamily="34" charset="-120"/>
              </a:rPr>
              <a:t>18</a:t>
            </a:r>
            <a:endParaRPr lang="en-US" sz="900" dirty="0"/>
          </a:p>
        </p:txBody>
      </p:sp>
      <p:sp>
        <p:nvSpPr>
          <p:cNvPr id="6" name="Shape 4"/>
          <p:cNvSpPr/>
          <p:nvPr/>
        </p:nvSpPr>
        <p:spPr>
          <a:xfrm>
            <a:off x="548640" y="1481328"/>
            <a:ext cx="5394960" cy="2286000"/>
          </a:xfrm>
          <a:prstGeom prst="roundRect">
            <a:avLst>
              <a:gd name="adj" fmla="val 3200"/>
            </a:avLst>
          </a:prstGeom>
          <a:solidFill>
            <a:srgbClr val="EEF4F4"/>
          </a:solidFill>
          <a:ln w="9525">
            <a:solidFill>
              <a:srgbClr val="EEF4F4"/>
            </a:solidFill>
            <a:prstDash val="solid"/>
          </a:ln>
          <a:effectLst>
            <a:outerShdw blurRad="101600" dist="25400" dir="5400000" algn="bl" rotWithShape="0">
              <a:srgbClr val="0A2B31">
                <a:alpha val="10000"/>
              </a:srgbClr>
            </a:outerShdw>
          </a:effectLst>
        </p:spPr>
      </p:sp>
      <p:sp>
        <p:nvSpPr>
          <p:cNvPr id="7" name="Text 5"/>
          <p:cNvSpPr/>
          <p:nvPr/>
        </p:nvSpPr>
        <p:spPr>
          <a:xfrm>
            <a:off x="804672" y="1645920"/>
            <a:ext cx="4846320" cy="329184"/>
          </a:xfrm>
          <a:prstGeom prst="rect">
            <a:avLst/>
          </a:prstGeom>
          <a:noFill/>
          <a:ln/>
        </p:spPr>
        <p:txBody>
          <a:bodyPr wrap="square" lIns="0" tIns="0" rIns="0" bIns="0" rtlCol="0" anchor="ctr"/>
          <a:lstStyle/>
          <a:p>
            <a:pPr marL="0" indent="0">
              <a:buNone/>
            </a:pPr>
            <a:r>
              <a:rPr lang="en-US" sz="1800" b="1" dirty="0">
                <a:solidFill>
                  <a:srgbClr val="00A896"/>
                </a:solidFill>
                <a:latin typeface="Cambria" pitchFamily="34" charset="0"/>
                <a:ea typeface="Cambria" pitchFamily="34" charset="-122"/>
                <a:cs typeface="Cambria" pitchFamily="34" charset="-120"/>
              </a:rPr>
              <a:t>Option A - Transient</a:t>
            </a:r>
            <a:endParaRPr lang="en-US" sz="1800" dirty="0"/>
          </a:p>
        </p:txBody>
      </p:sp>
      <p:sp>
        <p:nvSpPr>
          <p:cNvPr id="8" name="Text 6"/>
          <p:cNvSpPr/>
          <p:nvPr/>
        </p:nvSpPr>
        <p:spPr>
          <a:xfrm>
            <a:off x="804672" y="1993392"/>
            <a:ext cx="4846320" cy="274320"/>
          </a:xfrm>
          <a:prstGeom prst="rect">
            <a:avLst/>
          </a:prstGeom>
          <a:noFill/>
          <a:ln/>
        </p:spPr>
        <p:txBody>
          <a:bodyPr wrap="square" lIns="0" tIns="0" rIns="0" bIns="0" rtlCol="0" anchor="ctr"/>
          <a:lstStyle/>
          <a:p>
            <a:pPr marL="0" indent="0">
              <a:buNone/>
            </a:pPr>
            <a:r>
              <a:rPr lang="en-US" sz="1200" b="1" dirty="0">
                <a:solidFill>
                  <a:srgbClr val="06474F"/>
                </a:solidFill>
                <a:latin typeface="Calibri" pitchFamily="34" charset="0"/>
                <a:ea typeface="Calibri" pitchFamily="34" charset="-122"/>
                <a:cs typeface="Calibri" pitchFamily="34" charset="-120"/>
              </a:rPr>
              <a:t>Record, play back to the child, discard.</a:t>
            </a:r>
            <a:endParaRPr lang="en-US" sz="1200" dirty="0"/>
          </a:p>
        </p:txBody>
      </p:sp>
      <p:sp>
        <p:nvSpPr>
          <p:cNvPr id="9" name="Text 7"/>
          <p:cNvSpPr/>
          <p:nvPr/>
        </p:nvSpPr>
        <p:spPr>
          <a:xfrm>
            <a:off x="804672" y="2331720"/>
            <a:ext cx="4892040" cy="1325880"/>
          </a:xfrm>
          <a:prstGeom prst="rect">
            <a:avLst/>
          </a:prstGeom>
          <a:noFill/>
          <a:ln/>
        </p:spPr>
        <p:txBody>
          <a:bodyPr wrap="square" lIns="0" tIns="0" rIns="0" bIns="0" rtlCol="0" anchor="ctr"/>
          <a:lstStyle/>
          <a:p>
            <a:pPr marL="0" indent="0">
              <a:lnSpc>
                <a:spcPts val="1400"/>
              </a:lnSpc>
              <a:buNone/>
            </a:pPr>
            <a:r>
              <a:rPr lang="en-US" sz="1100" dirty="0">
                <a:solidFill>
                  <a:srgbClr val="5C6E71"/>
                </a:solidFill>
                <a:latin typeface="Calibri" pitchFamily="34" charset="0"/>
                <a:ea typeface="Calibri" pitchFamily="34" charset="-122"/>
                <a:cs typeface="Calibri" pitchFamily="34" charset="-120"/>
              </a:rPr>
              <a:t>The child hears themselves say the word and compares it with the model. Nothing leaves the browser. Nothing is stored. No DPIA, no parental consent form, no retention policy, no erasure obligation - because there is no personal data.</a:t>
            </a:r>
            <a:endParaRPr lang="en-US" sz="1100" dirty="0"/>
          </a:p>
          <a:p>
            <a:pPr marL="0" indent="0">
              <a:lnSpc>
                <a:spcPts val="1400"/>
              </a:lnSpc>
              <a:buNone/>
            </a:pPr>
            <a:endParaRPr lang="en-US" sz="1100" dirty="0"/>
          </a:p>
          <a:p>
            <a:pPr marL="0" indent="0">
              <a:lnSpc>
                <a:spcPts val="1400"/>
              </a:lnSpc>
              <a:buNone/>
            </a:pPr>
            <a:r>
              <a:rPr lang="en-US" sz="1100" dirty="0">
                <a:solidFill>
                  <a:srgbClr val="5C6E71"/>
                </a:solidFill>
                <a:latin typeface="Calibri" pitchFamily="34" charset="0"/>
                <a:ea typeface="Calibri" pitchFamily="34" charset="-122"/>
                <a:cs typeface="Calibri" pitchFamily="34" charset="-120"/>
              </a:rPr>
              <a:t>Effort: ~10 h. Could ship in the buffer.</a:t>
            </a:r>
            <a:endParaRPr lang="en-US" sz="1100" dirty="0"/>
          </a:p>
        </p:txBody>
      </p:sp>
      <p:sp>
        <p:nvSpPr>
          <p:cNvPr id="10" name="Shape 8"/>
          <p:cNvSpPr/>
          <p:nvPr/>
        </p:nvSpPr>
        <p:spPr>
          <a:xfrm>
            <a:off x="6172200" y="1481328"/>
            <a:ext cx="5394960" cy="2286000"/>
          </a:xfrm>
          <a:prstGeom prst="roundRect">
            <a:avLst>
              <a:gd name="adj" fmla="val 3200"/>
            </a:avLst>
          </a:prstGeom>
          <a:solidFill>
            <a:srgbClr val="FBEEEC"/>
          </a:solidFill>
          <a:ln w="9525">
            <a:solidFill>
              <a:srgbClr val="FBEEEC"/>
            </a:solidFill>
            <a:prstDash val="solid"/>
          </a:ln>
          <a:effectLst>
            <a:outerShdw blurRad="101600" dist="25400" dir="5400000" algn="bl" rotWithShape="0">
              <a:srgbClr val="0A2B31">
                <a:alpha val="10000"/>
              </a:srgbClr>
            </a:outerShdw>
          </a:effectLst>
        </p:spPr>
      </p:sp>
      <p:sp>
        <p:nvSpPr>
          <p:cNvPr id="11" name="Text 9"/>
          <p:cNvSpPr/>
          <p:nvPr/>
        </p:nvSpPr>
        <p:spPr>
          <a:xfrm>
            <a:off x="6428232" y="1645920"/>
            <a:ext cx="4846320" cy="329184"/>
          </a:xfrm>
          <a:prstGeom prst="rect">
            <a:avLst/>
          </a:prstGeom>
          <a:noFill/>
          <a:ln/>
        </p:spPr>
        <p:txBody>
          <a:bodyPr wrap="square" lIns="0" tIns="0" rIns="0" bIns="0" rtlCol="0" anchor="ctr"/>
          <a:lstStyle/>
          <a:p>
            <a:pPr marL="0" indent="0">
              <a:buNone/>
            </a:pPr>
            <a:r>
              <a:rPr lang="en-US" sz="1800" b="1" dirty="0">
                <a:solidFill>
                  <a:srgbClr val="B4453C"/>
                </a:solidFill>
                <a:latin typeface="Cambria" pitchFamily="34" charset="0"/>
                <a:ea typeface="Cambria" pitchFamily="34" charset="-122"/>
                <a:cs typeface="Cambria" pitchFamily="34" charset="-120"/>
              </a:rPr>
              <a:t>Option B - Retained</a:t>
            </a:r>
            <a:endParaRPr lang="en-US" sz="1800" dirty="0"/>
          </a:p>
        </p:txBody>
      </p:sp>
      <p:sp>
        <p:nvSpPr>
          <p:cNvPr id="12" name="Text 10"/>
          <p:cNvSpPr/>
          <p:nvPr/>
        </p:nvSpPr>
        <p:spPr>
          <a:xfrm>
            <a:off x="6428232" y="1993392"/>
            <a:ext cx="4846320" cy="274320"/>
          </a:xfrm>
          <a:prstGeom prst="rect">
            <a:avLst/>
          </a:prstGeom>
          <a:noFill/>
          <a:ln/>
        </p:spPr>
        <p:txBody>
          <a:bodyPr wrap="square" lIns="0" tIns="0" rIns="0" bIns="0" rtlCol="0" anchor="ctr"/>
          <a:lstStyle/>
          <a:p>
            <a:pPr marL="0" indent="0">
              <a:buNone/>
            </a:pPr>
            <a:r>
              <a:rPr lang="en-US" sz="1200" b="1" dirty="0">
                <a:solidFill>
                  <a:srgbClr val="06474F"/>
                </a:solidFill>
                <a:latin typeface="Calibri" pitchFamily="34" charset="0"/>
                <a:ea typeface="Calibri" pitchFamily="34" charset="-122"/>
                <a:cs typeface="Calibri" pitchFamily="34" charset="-120"/>
              </a:rPr>
              <a:t>Store the recording for the teacher to listen to.</a:t>
            </a:r>
            <a:endParaRPr lang="en-US" sz="1200" dirty="0"/>
          </a:p>
        </p:txBody>
      </p:sp>
      <p:sp>
        <p:nvSpPr>
          <p:cNvPr id="13" name="Text 11"/>
          <p:cNvSpPr/>
          <p:nvPr/>
        </p:nvSpPr>
        <p:spPr>
          <a:xfrm>
            <a:off x="6428232" y="2331720"/>
            <a:ext cx="4892040" cy="1325880"/>
          </a:xfrm>
          <a:prstGeom prst="rect">
            <a:avLst/>
          </a:prstGeom>
          <a:noFill/>
          <a:ln/>
        </p:spPr>
        <p:txBody>
          <a:bodyPr wrap="square" lIns="0" tIns="0" rIns="0" bIns="0" rtlCol="0" anchor="ctr"/>
          <a:lstStyle/>
          <a:p>
            <a:pPr marL="0" indent="0">
              <a:lnSpc>
                <a:spcPts val="1400"/>
              </a:lnSpc>
              <a:buNone/>
            </a:pPr>
            <a:r>
              <a:rPr lang="en-US" sz="1100" dirty="0">
                <a:solidFill>
                  <a:srgbClr val="5C6E71"/>
                </a:solidFill>
                <a:latin typeface="Calibri" pitchFamily="34" charset="0"/>
                <a:ea typeface="Calibri" pitchFamily="34" charset="-122"/>
                <a:cs typeface="Calibri" pitchFamily="34" charset="-120"/>
              </a:rPr>
              <a:t>The teacher can review a child's pronunciation later, and the recordings can be used for research or assessment. Everything on the previous slide now applies: guardian consent, a DPIA, a retention period, an opt-out path, and a deletion route.</a:t>
            </a:r>
            <a:endParaRPr lang="en-US" sz="1100" dirty="0"/>
          </a:p>
          <a:p>
            <a:pPr marL="0" indent="0">
              <a:lnSpc>
                <a:spcPts val="1400"/>
              </a:lnSpc>
              <a:buNone/>
            </a:pPr>
            <a:endParaRPr lang="en-US" sz="1100" dirty="0"/>
          </a:p>
          <a:p>
            <a:pPr marL="0" indent="0">
              <a:lnSpc>
                <a:spcPts val="1400"/>
              </a:lnSpc>
              <a:buNone/>
            </a:pPr>
            <a:r>
              <a:rPr lang="en-US" sz="1100" dirty="0">
                <a:solidFill>
                  <a:srgbClr val="5C6E71"/>
                </a:solidFill>
                <a:latin typeface="Calibri" pitchFamily="34" charset="0"/>
                <a:ea typeface="Calibri" pitchFamily="34" charset="-122"/>
                <a:cs typeface="Calibri" pitchFamily="34" charset="-120"/>
              </a:rPr>
              <a:t>Effort: ~26 h of code, plus your legal process.</a:t>
            </a:r>
            <a:endParaRPr lang="en-US" sz="1100" dirty="0"/>
          </a:p>
        </p:txBody>
      </p:sp>
      <p:sp>
        <p:nvSpPr>
          <p:cNvPr id="14" name="Shape 12"/>
          <p:cNvSpPr/>
          <p:nvPr/>
        </p:nvSpPr>
        <p:spPr>
          <a:xfrm>
            <a:off x="548640" y="3931920"/>
            <a:ext cx="11064240" cy="1417320"/>
          </a:xfrm>
          <a:prstGeom prst="roundRect">
            <a:avLst>
              <a:gd name="adj" fmla="val 5161"/>
            </a:avLst>
          </a:prstGeom>
          <a:solidFill>
            <a:srgbClr val="FBF2E7"/>
          </a:solidFill>
          <a:ln w="9525">
            <a:solidFill>
              <a:srgbClr val="FBF2E7"/>
            </a:solidFill>
            <a:prstDash val="solid"/>
          </a:ln>
          <a:effectLst>
            <a:outerShdw blurRad="101600" dist="25400" dir="5400000" algn="bl" rotWithShape="0">
              <a:srgbClr val="0A2B31">
                <a:alpha val="10000"/>
              </a:srgbClr>
            </a:outerShdw>
          </a:effectLst>
        </p:spPr>
      </p:sp>
      <p:sp>
        <p:nvSpPr>
          <p:cNvPr id="15" name="Text 13"/>
          <p:cNvSpPr/>
          <p:nvPr/>
        </p:nvSpPr>
        <p:spPr>
          <a:xfrm>
            <a:off x="804672" y="4069080"/>
            <a:ext cx="4572000" cy="292608"/>
          </a:xfrm>
          <a:prstGeom prst="rect">
            <a:avLst/>
          </a:prstGeom>
          <a:noFill/>
          <a:ln/>
        </p:spPr>
        <p:txBody>
          <a:bodyPr wrap="square" lIns="0" tIns="0" rIns="0" bIns="0" rtlCol="0" anchor="ctr"/>
          <a:lstStyle/>
          <a:p>
            <a:pPr marL="0" indent="0">
              <a:buNone/>
            </a:pPr>
            <a:r>
              <a:rPr lang="en-US" sz="1400" b="1" dirty="0">
                <a:solidFill>
                  <a:srgbClr val="06474F"/>
                </a:solidFill>
                <a:latin typeface="Calibri" pitchFamily="34" charset="0"/>
                <a:ea typeface="Calibri" pitchFamily="34" charset="-122"/>
                <a:cs typeface="Calibri" pitchFamily="34" charset="-120"/>
              </a:rPr>
              <a:t>What I recommend</a:t>
            </a:r>
            <a:endParaRPr lang="en-US" sz="1400" dirty="0"/>
          </a:p>
        </p:txBody>
      </p:sp>
      <p:sp>
        <p:nvSpPr>
          <p:cNvPr id="16" name="Text 14"/>
          <p:cNvSpPr/>
          <p:nvPr/>
        </p:nvSpPr>
        <p:spPr>
          <a:xfrm>
            <a:off x="804672" y="4389120"/>
            <a:ext cx="10698480" cy="914400"/>
          </a:xfrm>
          <a:prstGeom prst="rect">
            <a:avLst/>
          </a:prstGeom>
          <a:noFill/>
          <a:ln/>
        </p:spPr>
        <p:txBody>
          <a:bodyPr wrap="square" lIns="0" tIns="0" rIns="0" bIns="0" rtlCol="0" anchor="ctr"/>
          <a:lstStyle/>
          <a:p>
            <a:pPr marL="342900" indent="-342900">
              <a:lnSpc>
                <a:spcPts val="1500"/>
              </a:lnSpc>
              <a:spcAft>
                <a:spcPts val="500"/>
              </a:spcAft>
              <a:buSzPct val="100000"/>
              <a:buChar char="•"/>
            </a:pPr>
            <a:r>
              <a:rPr lang="en-US" sz="1150" dirty="0">
                <a:solidFill>
                  <a:srgbClr val="31474B"/>
                </a:solidFill>
                <a:latin typeface="Calibri" pitchFamily="34" charset="0"/>
                <a:ea typeface="Calibri" pitchFamily="34" charset="-122"/>
                <a:cs typeface="Calibri" pitchFamily="34" charset="-120"/>
              </a:rPr>
              <a:t>Keep R47 as a Can requirement and leave it off the critical path.</a:t>
            </a:r>
            <a:endParaRPr lang="en-US" sz="1150" dirty="0"/>
          </a:p>
          <a:p>
            <a:pPr marL="342900" indent="-342900">
              <a:lnSpc>
                <a:spcPts val="1500"/>
              </a:lnSpc>
              <a:spcAft>
                <a:spcPts val="500"/>
              </a:spcAft>
              <a:buSzPct val="100000"/>
              <a:buChar char="•"/>
            </a:pPr>
            <a:r>
              <a:rPr lang="en-US" sz="1150" dirty="0">
                <a:solidFill>
                  <a:srgbClr val="31474B"/>
                </a:solidFill>
                <a:latin typeface="Calibri" pitchFamily="34" charset="0"/>
                <a:ea typeface="Calibri" pitchFamily="34" charset="-122"/>
                <a:cs typeface="Calibri" pitchFamily="34" charset="-120"/>
              </a:rPr>
              <a:t>Build Option A first. It delivers most of the pedagogical value - a child hearing themselves - at a tenth of the governance cost.</a:t>
            </a:r>
            <a:endParaRPr lang="en-US" sz="1150" dirty="0"/>
          </a:p>
          <a:p>
            <a:pPr marL="342900" indent="-342900">
              <a:lnSpc>
                <a:spcPts val="1500"/>
              </a:lnSpc>
              <a:spcAft>
                <a:spcPts val="500"/>
              </a:spcAft>
              <a:buSzPct val="100000"/>
              <a:buChar char="•"/>
            </a:pPr>
            <a:r>
              <a:rPr lang="en-US" sz="1150" dirty="0">
                <a:solidFill>
                  <a:srgbClr val="31474B"/>
                </a:solidFill>
                <a:latin typeface="Calibri" pitchFamily="34" charset="0"/>
                <a:ea typeface="Calibri" pitchFamily="34" charset="-122"/>
                <a:cs typeface="Calibri" pitchFamily="34" charset="-120"/>
              </a:rPr>
              <a:t>Build Option B behind a feature flag that is OFF by default, and enable it per class only once the DPIA is signed and the consent forms are in. The switch belongs to the administrator, not to the code.</a:t>
            </a:r>
            <a:endParaRPr lang="en-US" sz="1150" dirty="0"/>
          </a:p>
        </p:txBody>
      </p:sp>
      <p:sp>
        <p:nvSpPr>
          <p:cNvPr id="17" name="Shape 15"/>
          <p:cNvSpPr/>
          <p:nvPr/>
        </p:nvSpPr>
        <p:spPr>
          <a:xfrm>
            <a:off x="548640" y="5532120"/>
            <a:ext cx="11064240" cy="777240"/>
          </a:xfrm>
          <a:prstGeom prst="roundRect">
            <a:avLst>
              <a:gd name="adj" fmla="val 9412"/>
            </a:avLst>
          </a:prstGeom>
          <a:solidFill>
            <a:srgbClr val="06474F"/>
          </a:solidFill>
          <a:ln w="9525">
            <a:solidFill>
              <a:srgbClr val="06474F"/>
            </a:solidFill>
            <a:prstDash val="solid"/>
          </a:ln>
        </p:spPr>
      </p:sp>
      <p:sp>
        <p:nvSpPr>
          <p:cNvPr id="18" name="Shape 16"/>
          <p:cNvSpPr/>
          <p:nvPr/>
        </p:nvSpPr>
        <p:spPr>
          <a:xfrm>
            <a:off x="548640" y="5532120"/>
            <a:ext cx="11064240" cy="777240"/>
          </a:xfrm>
          <a:prstGeom prst="roundRect">
            <a:avLst>
              <a:gd name="adj" fmla="val 9412"/>
            </a:avLst>
          </a:prstGeom>
          <a:solidFill>
            <a:srgbClr val="06474F"/>
          </a:solidFill>
          <a:ln w="12700">
            <a:solidFill>
              <a:srgbClr val="06474F"/>
            </a:solidFill>
            <a:prstDash val="solid"/>
          </a:ln>
        </p:spPr>
      </p:sp>
      <p:sp>
        <p:nvSpPr>
          <p:cNvPr id="19" name="Text 17"/>
          <p:cNvSpPr/>
          <p:nvPr/>
        </p:nvSpPr>
        <p:spPr>
          <a:xfrm>
            <a:off x="822960" y="5532120"/>
            <a:ext cx="10789920" cy="777240"/>
          </a:xfrm>
          <a:prstGeom prst="rect">
            <a:avLst/>
          </a:prstGeom>
          <a:noFill/>
          <a:ln/>
        </p:spPr>
        <p:txBody>
          <a:bodyPr wrap="square" lIns="0" tIns="0" rIns="0" bIns="0" rtlCol="0" anchor="ctr"/>
          <a:lstStyle/>
          <a:p>
            <a:pPr marL="0" indent="0">
              <a:buNone/>
            </a:pPr>
            <a:r>
              <a:rPr lang="en-US" sz="1300" b="1" dirty="0">
                <a:solidFill>
                  <a:srgbClr val="E08A3C"/>
                </a:solidFill>
                <a:latin typeface="Calibri" pitchFamily="34" charset="0"/>
                <a:ea typeface="Calibri" pitchFamily="34" charset="-122"/>
                <a:cs typeface="Calibri" pitchFamily="34" charset="-120"/>
              </a:rPr>
              <a:t>Decision 2 today:  </a:t>
            </a:r>
            <a:r>
              <a:rPr lang="en-US" sz="1300" dirty="0">
                <a:solidFill>
                  <a:srgbClr val="DCE9E9"/>
                </a:solidFill>
                <a:latin typeface="Calibri" pitchFamily="34" charset="0"/>
                <a:ea typeface="Calibri" pitchFamily="34" charset="-122"/>
                <a:cs typeface="Calibri" pitchFamily="34" charset="-120"/>
              </a:rPr>
              <a:t>is the recording for the child (transient) or for the adults (retained)? Every other question about R47 follows from that one, and I cannot answer it for you.</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06474F"/>
        </a:solidFill>
        <a:effectLst/>
      </p:bgPr>
    </p:bg>
    <p:spTree>
      <p:nvGrpSpPr>
        <p:cNvPr id="1" name=""/>
        <p:cNvGrpSpPr/>
        <p:nvPr/>
      </p:nvGrpSpPr>
      <p:grpSpPr>
        <a:xfrm>
          <a:off x="0" y="0"/>
          <a:ext cx="0" cy="0"/>
          <a:chOff x="0" y="0"/>
          <a:chExt cx="0" cy="0"/>
        </a:xfrm>
      </p:grpSpPr>
      <p:sp>
        <p:nvSpPr>
          <p:cNvPr id="2" name="Shape 0"/>
          <p:cNvSpPr/>
          <p:nvPr/>
        </p:nvSpPr>
        <p:spPr>
          <a:xfrm>
            <a:off x="-1828800" y="4206240"/>
            <a:ext cx="5029200" cy="5029200"/>
          </a:xfrm>
          <a:prstGeom prst="ellipse">
            <a:avLst/>
          </a:prstGeom>
          <a:solidFill>
            <a:srgbClr val="0A5A63"/>
          </a:solidFill>
          <a:ln w="12700">
            <a:solidFill>
              <a:srgbClr val="0A5A63"/>
            </a:solidFill>
            <a:prstDash val="solid"/>
          </a:ln>
        </p:spPr>
      </p:sp>
      <p:sp>
        <p:nvSpPr>
          <p:cNvPr id="3" name="Text 1"/>
          <p:cNvSpPr/>
          <p:nvPr/>
        </p:nvSpPr>
        <p:spPr>
          <a:xfrm>
            <a:off x="548640" y="1168707"/>
            <a:ext cx="8229600" cy="640080"/>
          </a:xfrm>
          <a:prstGeom prst="rect">
            <a:avLst/>
          </a:prstGeom>
          <a:noFill/>
          <a:ln/>
        </p:spPr>
        <p:txBody>
          <a:bodyPr wrap="square" lIns="0" tIns="0" rIns="0" bIns="0" rtlCol="0" anchor="ctr"/>
          <a:lstStyle/>
          <a:p>
            <a:pPr marL="0" indent="0">
              <a:buNone/>
            </a:pPr>
            <a:r>
              <a:rPr lang="en-US" sz="3400" b="1" dirty="0">
                <a:solidFill>
                  <a:srgbClr val="FFFFFF"/>
                </a:solidFill>
                <a:latin typeface="Cambria" pitchFamily="34" charset="0"/>
                <a:ea typeface="Cambria" pitchFamily="34" charset="-122"/>
                <a:cs typeface="Cambria" pitchFamily="34" charset="-120"/>
              </a:rPr>
              <a:t>Four decisions, today</a:t>
            </a:r>
            <a:endParaRPr lang="en-US" sz="3400" dirty="0"/>
          </a:p>
        </p:txBody>
      </p:sp>
      <p:sp>
        <p:nvSpPr>
          <p:cNvPr id="4" name="Text 2"/>
          <p:cNvSpPr/>
          <p:nvPr/>
        </p:nvSpPr>
        <p:spPr>
          <a:xfrm>
            <a:off x="548640" y="1808787"/>
            <a:ext cx="9144000" cy="310896"/>
          </a:xfrm>
          <a:prstGeom prst="rect">
            <a:avLst/>
          </a:prstGeom>
          <a:noFill/>
          <a:ln/>
        </p:spPr>
        <p:txBody>
          <a:bodyPr wrap="square" lIns="0" tIns="0" rIns="0" bIns="0" rtlCol="0" anchor="ctr"/>
          <a:lstStyle/>
          <a:p>
            <a:pPr marL="0" indent="0">
              <a:buNone/>
            </a:pPr>
            <a:r>
              <a:rPr lang="en-US" sz="1400" i="1" dirty="0">
                <a:solidFill>
                  <a:srgbClr val="9EC6C7"/>
                </a:solidFill>
                <a:latin typeface="Calibri" pitchFamily="34" charset="0"/>
                <a:ea typeface="Calibri" pitchFamily="34" charset="-122"/>
                <a:cs typeface="Calibri" pitchFamily="34" charset="-120"/>
              </a:rPr>
              <a:t>Every one of them is on the critical path.</a:t>
            </a:r>
            <a:endParaRPr lang="en-US" sz="1400" dirty="0"/>
          </a:p>
        </p:txBody>
      </p:sp>
      <p:sp>
        <p:nvSpPr>
          <p:cNvPr id="5" name="Shape 3"/>
          <p:cNvSpPr/>
          <p:nvPr/>
        </p:nvSpPr>
        <p:spPr>
          <a:xfrm>
            <a:off x="548640" y="2357427"/>
            <a:ext cx="11064240" cy="603504"/>
          </a:xfrm>
          <a:prstGeom prst="roundRect">
            <a:avLst>
              <a:gd name="adj" fmla="val 12121"/>
            </a:avLst>
          </a:prstGeom>
          <a:solidFill>
            <a:srgbClr val="0A5A63"/>
          </a:solidFill>
          <a:ln w="9525">
            <a:solidFill>
              <a:srgbClr val="1A727B"/>
            </a:solidFill>
            <a:prstDash val="solid"/>
          </a:ln>
        </p:spPr>
      </p:sp>
      <p:sp>
        <p:nvSpPr>
          <p:cNvPr id="6" name="Shape 4"/>
          <p:cNvSpPr/>
          <p:nvPr/>
        </p:nvSpPr>
        <p:spPr>
          <a:xfrm>
            <a:off x="768096" y="2503731"/>
            <a:ext cx="310896" cy="310896"/>
          </a:xfrm>
          <a:prstGeom prst="ellipse">
            <a:avLst/>
          </a:prstGeom>
          <a:solidFill>
            <a:srgbClr val="E08A3C"/>
          </a:solidFill>
          <a:ln w="12700">
            <a:solidFill>
              <a:srgbClr val="E08A3C"/>
            </a:solidFill>
            <a:prstDash val="solid"/>
          </a:ln>
        </p:spPr>
      </p:sp>
      <p:sp>
        <p:nvSpPr>
          <p:cNvPr id="7" name="Text 5"/>
          <p:cNvSpPr/>
          <p:nvPr/>
        </p:nvSpPr>
        <p:spPr>
          <a:xfrm>
            <a:off x="768096" y="2503731"/>
            <a:ext cx="310896" cy="310896"/>
          </a:xfrm>
          <a:prstGeom prst="rect">
            <a:avLst/>
          </a:prstGeom>
          <a:noFill/>
          <a:ln/>
        </p:spPr>
        <p:txBody>
          <a:bodyPr wrap="square" lIns="0" tIns="0" rIns="0" bIns="0" rtlCol="0" anchor="ctr"/>
          <a:lstStyle/>
          <a:p>
            <a:pPr marL="0" indent="0" algn="ctr">
              <a:buNone/>
            </a:pPr>
            <a:r>
              <a:rPr lang="en-US" sz="1200" b="1" dirty="0">
                <a:solidFill>
                  <a:srgbClr val="1A2B2B"/>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207008" y="2357427"/>
            <a:ext cx="10332720" cy="603504"/>
          </a:xfrm>
          <a:prstGeom prst="rect">
            <a:avLst/>
          </a:prstGeom>
          <a:noFill/>
          <a:ln/>
        </p:spPr>
        <p:txBody>
          <a:bodyPr wrap="square" lIns="0" tIns="0" rIns="0" bIns="0" rtlCol="0" anchor="ctr"/>
          <a:lstStyle/>
          <a:p>
            <a:pPr marL="0" indent="0">
              <a:buNone/>
            </a:pPr>
            <a:r>
              <a:rPr lang="en-US" sz="1250" dirty="0">
                <a:solidFill>
                  <a:srgbClr val="EAF3F3"/>
                </a:solidFill>
                <a:latin typeface="Calibri" pitchFamily="34" charset="0"/>
                <a:ea typeface="Calibri" pitchFamily="34" charset="-122"/>
                <a:cs typeface="Calibri" pitchFamily="34" charset="-120"/>
              </a:rPr>
              <a:t>Approve the SRS and the design document as the frozen baseline.</a:t>
            </a:r>
            <a:endParaRPr lang="en-US" sz="1250" dirty="0"/>
          </a:p>
        </p:txBody>
      </p:sp>
      <p:sp>
        <p:nvSpPr>
          <p:cNvPr id="17" name="Shape 15"/>
          <p:cNvSpPr/>
          <p:nvPr/>
        </p:nvSpPr>
        <p:spPr>
          <a:xfrm>
            <a:off x="548640" y="3108960"/>
            <a:ext cx="11064240" cy="603504"/>
          </a:xfrm>
          <a:prstGeom prst="roundRect">
            <a:avLst>
              <a:gd name="adj" fmla="val 12121"/>
            </a:avLst>
          </a:prstGeom>
          <a:solidFill>
            <a:srgbClr val="0A5A63"/>
          </a:solidFill>
          <a:ln w="9525">
            <a:solidFill>
              <a:srgbClr val="1A727B"/>
            </a:solidFill>
            <a:prstDash val="solid"/>
          </a:ln>
        </p:spPr>
      </p:sp>
      <p:sp>
        <p:nvSpPr>
          <p:cNvPr id="18" name="Shape 16"/>
          <p:cNvSpPr/>
          <p:nvPr/>
        </p:nvSpPr>
        <p:spPr>
          <a:xfrm>
            <a:off x="768096" y="3255264"/>
            <a:ext cx="310896" cy="310896"/>
          </a:xfrm>
          <a:prstGeom prst="ellipse">
            <a:avLst/>
          </a:prstGeom>
          <a:solidFill>
            <a:srgbClr val="E08A3C"/>
          </a:solidFill>
          <a:ln w="12700">
            <a:solidFill>
              <a:srgbClr val="E08A3C"/>
            </a:solidFill>
            <a:prstDash val="solid"/>
          </a:ln>
        </p:spPr>
      </p:sp>
      <p:sp>
        <p:nvSpPr>
          <p:cNvPr id="19" name="Text 17"/>
          <p:cNvSpPr/>
          <p:nvPr/>
        </p:nvSpPr>
        <p:spPr>
          <a:xfrm>
            <a:off x="768096" y="3255264"/>
            <a:ext cx="310896" cy="310896"/>
          </a:xfrm>
          <a:prstGeom prst="rect">
            <a:avLst/>
          </a:prstGeom>
          <a:noFill/>
          <a:ln/>
        </p:spPr>
        <p:txBody>
          <a:bodyPr wrap="square" lIns="0" tIns="0" rIns="0" bIns="0" rtlCol="0" anchor="ctr"/>
          <a:lstStyle/>
          <a:p>
            <a:pPr marL="0" indent="0" algn="ctr">
              <a:buNone/>
            </a:pPr>
            <a:r>
              <a:rPr lang="en-US" sz="1200" b="1" dirty="0">
                <a:solidFill>
                  <a:srgbClr val="1A2B2B"/>
                </a:solidFill>
                <a:latin typeface="Calibri" pitchFamily="34" charset="0"/>
                <a:ea typeface="Calibri" pitchFamily="34" charset="-122"/>
                <a:cs typeface="Calibri" pitchFamily="34" charset="-120"/>
              </a:rPr>
              <a:t>2</a:t>
            </a:r>
            <a:endParaRPr lang="en-US" sz="1200" dirty="0"/>
          </a:p>
        </p:txBody>
      </p:sp>
      <p:sp>
        <p:nvSpPr>
          <p:cNvPr id="20" name="Text 18"/>
          <p:cNvSpPr/>
          <p:nvPr/>
        </p:nvSpPr>
        <p:spPr>
          <a:xfrm>
            <a:off x="1207008" y="3108960"/>
            <a:ext cx="10332720" cy="603504"/>
          </a:xfrm>
          <a:prstGeom prst="rect">
            <a:avLst/>
          </a:prstGeom>
          <a:noFill/>
          <a:ln/>
        </p:spPr>
        <p:txBody>
          <a:bodyPr wrap="square" lIns="0" tIns="0" rIns="0" bIns="0" rtlCol="0" anchor="ctr"/>
          <a:lstStyle/>
          <a:p>
            <a:pPr marL="0" indent="0">
              <a:buNone/>
            </a:pPr>
            <a:r>
              <a:rPr lang="en-US" sz="1250" dirty="0">
                <a:solidFill>
                  <a:srgbClr val="EAF3F3"/>
                </a:solidFill>
                <a:latin typeface="Calibri" pitchFamily="34" charset="0"/>
                <a:ea typeface="Calibri" pitchFamily="34" charset="-122"/>
                <a:cs typeface="Calibri" pitchFamily="34" charset="-120"/>
              </a:rPr>
              <a:t>Decide the purpose of voice recording: transient (Option A) or retained (Option B).</a:t>
            </a:r>
            <a:endParaRPr lang="en-US" sz="1250" dirty="0"/>
          </a:p>
        </p:txBody>
      </p:sp>
      <p:sp>
        <p:nvSpPr>
          <p:cNvPr id="21" name="Shape 19"/>
          <p:cNvSpPr/>
          <p:nvPr/>
        </p:nvSpPr>
        <p:spPr>
          <a:xfrm>
            <a:off x="548640" y="3822192"/>
            <a:ext cx="11064240" cy="603504"/>
          </a:xfrm>
          <a:prstGeom prst="roundRect">
            <a:avLst>
              <a:gd name="adj" fmla="val 12121"/>
            </a:avLst>
          </a:prstGeom>
          <a:solidFill>
            <a:srgbClr val="0A5A63"/>
          </a:solidFill>
          <a:ln w="9525">
            <a:solidFill>
              <a:srgbClr val="1A727B"/>
            </a:solidFill>
            <a:prstDash val="solid"/>
          </a:ln>
        </p:spPr>
      </p:sp>
      <p:sp>
        <p:nvSpPr>
          <p:cNvPr id="22" name="Shape 20"/>
          <p:cNvSpPr/>
          <p:nvPr/>
        </p:nvSpPr>
        <p:spPr>
          <a:xfrm>
            <a:off x="768096" y="3968496"/>
            <a:ext cx="310896" cy="310896"/>
          </a:xfrm>
          <a:prstGeom prst="ellipse">
            <a:avLst/>
          </a:prstGeom>
          <a:solidFill>
            <a:srgbClr val="E08A3C"/>
          </a:solidFill>
          <a:ln w="12700">
            <a:solidFill>
              <a:srgbClr val="E08A3C"/>
            </a:solidFill>
            <a:prstDash val="solid"/>
          </a:ln>
        </p:spPr>
      </p:sp>
      <p:sp>
        <p:nvSpPr>
          <p:cNvPr id="23" name="Text 21"/>
          <p:cNvSpPr/>
          <p:nvPr/>
        </p:nvSpPr>
        <p:spPr>
          <a:xfrm>
            <a:off x="768096" y="3968496"/>
            <a:ext cx="310896" cy="310896"/>
          </a:xfrm>
          <a:prstGeom prst="rect">
            <a:avLst/>
          </a:prstGeom>
          <a:noFill/>
          <a:ln/>
        </p:spPr>
        <p:txBody>
          <a:bodyPr wrap="square" lIns="0" tIns="0" rIns="0" bIns="0" rtlCol="0" anchor="ctr"/>
          <a:lstStyle/>
          <a:p>
            <a:pPr marL="0" indent="0" algn="ctr">
              <a:buNone/>
            </a:pPr>
            <a:r>
              <a:rPr lang="en-US" sz="1200" b="1" dirty="0">
                <a:solidFill>
                  <a:srgbClr val="1A2B2B"/>
                </a:solidFill>
                <a:latin typeface="Calibri" pitchFamily="34" charset="0"/>
                <a:ea typeface="Calibri" pitchFamily="34" charset="-122"/>
                <a:cs typeface="Calibri" pitchFamily="34" charset="-120"/>
              </a:rPr>
              <a:t>3</a:t>
            </a:r>
            <a:endParaRPr lang="en-US" sz="1200" dirty="0"/>
          </a:p>
        </p:txBody>
      </p:sp>
      <p:sp>
        <p:nvSpPr>
          <p:cNvPr id="24" name="Text 22"/>
          <p:cNvSpPr/>
          <p:nvPr/>
        </p:nvSpPr>
        <p:spPr>
          <a:xfrm>
            <a:off x="1207008" y="3822192"/>
            <a:ext cx="10332720" cy="603504"/>
          </a:xfrm>
          <a:prstGeom prst="rect">
            <a:avLst/>
          </a:prstGeom>
          <a:noFill/>
          <a:ln/>
        </p:spPr>
        <p:txBody>
          <a:bodyPr wrap="square" lIns="0" tIns="0" rIns="0" bIns="0" rtlCol="0" anchor="ctr"/>
          <a:lstStyle/>
          <a:p>
            <a:pPr marL="0" indent="0">
              <a:buNone/>
            </a:pPr>
            <a:r>
              <a:rPr lang="en-US" sz="1250" dirty="0">
                <a:solidFill>
                  <a:srgbClr val="EAF3F3"/>
                </a:solidFill>
                <a:latin typeface="Calibri" pitchFamily="34" charset="0"/>
                <a:ea typeface="Calibri" pitchFamily="34" charset="-122"/>
                <a:cs typeface="Calibri" pitchFamily="34" charset="-120"/>
              </a:rPr>
              <a:t>Commit a date for handing over the complete CSV and media set, and confirmation of reuse rights. Needed by week 11 (late September).</a:t>
            </a:r>
            <a:endParaRPr lang="en-US" sz="1250" dirty="0"/>
          </a:p>
        </p:txBody>
      </p:sp>
      <p:sp>
        <p:nvSpPr>
          <p:cNvPr id="25" name="Shape 23"/>
          <p:cNvSpPr/>
          <p:nvPr/>
        </p:nvSpPr>
        <p:spPr>
          <a:xfrm>
            <a:off x="548640" y="4535424"/>
            <a:ext cx="11064240" cy="603504"/>
          </a:xfrm>
          <a:prstGeom prst="roundRect">
            <a:avLst>
              <a:gd name="adj" fmla="val 12121"/>
            </a:avLst>
          </a:prstGeom>
          <a:solidFill>
            <a:srgbClr val="0A5A63"/>
          </a:solidFill>
          <a:ln w="9525">
            <a:solidFill>
              <a:srgbClr val="1A727B"/>
            </a:solidFill>
            <a:prstDash val="solid"/>
          </a:ln>
        </p:spPr>
      </p:sp>
      <p:sp>
        <p:nvSpPr>
          <p:cNvPr id="26" name="Shape 24"/>
          <p:cNvSpPr/>
          <p:nvPr/>
        </p:nvSpPr>
        <p:spPr>
          <a:xfrm>
            <a:off x="768096" y="4681728"/>
            <a:ext cx="310896" cy="310896"/>
          </a:xfrm>
          <a:prstGeom prst="ellipse">
            <a:avLst/>
          </a:prstGeom>
          <a:solidFill>
            <a:srgbClr val="E08A3C"/>
          </a:solidFill>
          <a:ln w="12700">
            <a:solidFill>
              <a:srgbClr val="E08A3C"/>
            </a:solidFill>
            <a:prstDash val="solid"/>
          </a:ln>
        </p:spPr>
      </p:sp>
      <p:sp>
        <p:nvSpPr>
          <p:cNvPr id="27" name="Text 25"/>
          <p:cNvSpPr/>
          <p:nvPr/>
        </p:nvSpPr>
        <p:spPr>
          <a:xfrm>
            <a:off x="768096" y="4681728"/>
            <a:ext cx="310896" cy="310896"/>
          </a:xfrm>
          <a:prstGeom prst="rect">
            <a:avLst/>
          </a:prstGeom>
          <a:noFill/>
          <a:ln/>
        </p:spPr>
        <p:txBody>
          <a:bodyPr wrap="square" lIns="0" tIns="0" rIns="0" bIns="0" rtlCol="0" anchor="ctr"/>
          <a:lstStyle/>
          <a:p>
            <a:pPr marL="0" indent="0" algn="ctr">
              <a:buNone/>
            </a:pPr>
            <a:r>
              <a:rPr lang="en-US" sz="1200" b="1" dirty="0">
                <a:solidFill>
                  <a:srgbClr val="1A2B2B"/>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1207008" y="4535424"/>
            <a:ext cx="10332720" cy="603504"/>
          </a:xfrm>
          <a:prstGeom prst="rect">
            <a:avLst/>
          </a:prstGeom>
          <a:noFill/>
          <a:ln/>
        </p:spPr>
        <p:txBody>
          <a:bodyPr wrap="square" lIns="0" tIns="0" rIns="0" bIns="0" rtlCol="0" anchor="ctr"/>
          <a:lstStyle/>
          <a:p>
            <a:pPr marL="0" indent="0">
              <a:buNone/>
            </a:pPr>
            <a:r>
              <a:rPr lang="en-US" sz="1250" dirty="0">
                <a:solidFill>
                  <a:srgbClr val="EAF3F3"/>
                </a:solidFill>
                <a:latin typeface="Calibri" pitchFamily="34" charset="0"/>
                <a:ea typeface="Calibri" pitchFamily="34" charset="-122"/>
                <a:cs typeface="Calibri" pitchFamily="34" charset="-120"/>
              </a:rPr>
              <a:t>Name one person on your side who can make a decision inside a fortnight, and fix the fortnightly slot.</a:t>
            </a:r>
            <a:endParaRPr lang="en-US" sz="1250" dirty="0"/>
          </a:p>
        </p:txBody>
      </p:sp>
      <p:sp>
        <p:nvSpPr>
          <p:cNvPr id="29" name="Text 27"/>
          <p:cNvSpPr/>
          <p:nvPr/>
        </p:nvSpPr>
        <p:spPr>
          <a:xfrm>
            <a:off x="548640" y="6126480"/>
            <a:ext cx="7315200" cy="274320"/>
          </a:xfrm>
          <a:prstGeom prst="rect">
            <a:avLst/>
          </a:prstGeom>
          <a:noFill/>
          <a:ln/>
        </p:spPr>
        <p:txBody>
          <a:bodyPr wrap="square" lIns="0" tIns="0" rIns="0" bIns="0" rtlCol="0" anchor="ctr"/>
          <a:lstStyle/>
          <a:p>
            <a:pPr marL="0" indent="0">
              <a:buNone/>
            </a:pPr>
            <a:r>
              <a:rPr lang="en-US" sz="1000" dirty="0">
                <a:solidFill>
                  <a:srgbClr val="6E9799"/>
                </a:solidFill>
                <a:latin typeface="Calibri" pitchFamily="34" charset="0"/>
                <a:ea typeface="Calibri" pitchFamily="34" charset="-122"/>
                <a:cs typeface="Calibri" pitchFamily="34" charset="-120"/>
              </a:rPr>
              <a:t>Janaki Badu  ·  Full-Stack Web Developer  ·  SPEAK  ·  12 July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175</TotalTime>
  <Words>4490</Words>
  <Application>Microsoft Office PowerPoint</Application>
  <PresentationFormat>Widescreen</PresentationFormat>
  <Paragraphs>575</Paragraphs>
  <Slides>19</Slides>
  <Notes>19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SPEAK - Status and Delivery Plan</dc:title>
  <dc:subject>PptxGenJS Presentation</dc:subject>
  <dc:creator>Janaki Badu</dc:creator>
  <cp:lastModifiedBy>Pawan Lamsal</cp:lastModifiedBy>
  <cp:revision>2</cp:revision>
  <dcterms:created xsi:type="dcterms:W3CDTF">2026-07-12T00:10:15Z</dcterms:created>
  <dcterms:modified xsi:type="dcterms:W3CDTF">2026-07-12T11:29:55Z</dcterms:modified>
</cp:coreProperties>
</file>